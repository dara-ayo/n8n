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I'm Ayodele Oluwafimidaraayo and today I'll be walking you through the Content Generation and Publishing Automation system I built. This project turns a single content idea into fully formatted, SEO-optimized posts across LinkedIn, X/Twitter, and email newsletters — with human oversight, role-based team collaboration, and one-click multi-platform publishing.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content creation is manual and time-consuming. A single blog topic takes 2-4 hours when you include LinkedIn formatting, Twitter's character limits, and newsletter layout. That's effectively 3x the work for every content idea. There's no centralized collaboration system, publishing is disconnected across platforms, and SEO is inconsistent. Creative teams spend more time reformatting than on actual creative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solution is an end-to-end AI-powered content system. Submit an idea or URL, and the system generates 3 distinct SEO-optimized drafts — Contrarian, How-To, and Data &amp; Trends angles. A human reviews and selects the best draft. The system then adapts it automatically for LinkedIn, X/Twitter, and Newsletter formats. One click publishes to all connected platforms. The entire process is governed by role-based access control with four tiers.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has four layers: React Frontend, two n8n workflows, Supabase as the database and auth layer, and the platform APIs. The Content Pipeline workflow (107 nodes) handles everything from submission to publishing in one unified flow. The Operations workflow handles OAuth token exchange and stale submission cleanup. Supabase manages state, enforces RBAC through Row Level Security, stores encrypted platform credentials, and handles authentication via magic links and invite tokens. LinkedIn and Newsletter are live. Twitter is built but blocked by depleted API credits.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Workflow 1 handles content intake and draft generation. Input is validated for payload size, format, and injection attacks. A deduplication check uses content hashing with a 10-minute window to prevent duplicates. If a URL was provided, content is extracted. Then three AI drafts are generated sequentially — Contrarian, How-To, and Data &amp; Trends — using GPT-4o-mini. Sequential generation ensures each draft is genuinely different. The whole process takes about 15-20 seconds and stores results in Supabase.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adaptation section of the Content Pipeline handles this step. After a human selects the best draft, the submission is locked to prevent concurrent modifications. The system then adapts the draft for LinkedIn using Problem-Agitation-Solution format for maximum engagement, X/Twitter within the 280-character limit with relevant hashtags, and a newsletter format with a compelling subject line and HTML body. The whole process takes about 10-15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Operations workflow handles OAuth token exchange for both LinkedIn (OAuth 2.0) and Twitter (OAuth 2.0 + PKCE). It receives authorization codes from the frontend, exchanges them for access tokens, stores them in Supabase, and handles token refresh on expiry. The Content Pipeline's publishing section fetches adapted content and platform tokens, then publishes to all three platforms. LinkedIn and Newsletter are live. Twitter publishing is built and would work but the developer account's API credits are depleted — this is a billing issue, not a code issue. Idempotency keys prevent duplicate posts, and partial failure handling means one platform failing doesn't block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frontend provides a streamlined user experience. Authentication uses magic links — no passwords needed. The UI adapts based on the user's role, showing or hiding features accordingly. The dashboard shows real-time submission status. Users can review all three generated drafts with expand/collapse functionality. Before publishing, they can preview the adapted content for each platform. An approval gate ensures only Admin or Owner roles can trigger publishing.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Team page lets you invite members by email using a token-based invite link, assign roles, and manage access. Role changes take effect immediately because they're enforced at the database level through Supabase RLS. The Settings page handles platform connections: LinkedIn uses OAuth 2.0, Twitter uses OAuth 2.0 with PKCE, and Newsletter uses a Resend API key. Only the Owner role can manage platform connections. Users can view connection status and disconnect or reconnect platforms at any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RBAC system has four roles in a strict hierarchy: Owner, Admin, Editor, and Viewer. Everyone can view content. Editors and above can submit ideas and select drafts. Only Admins and Owners can approve and publish content or manage team members. Only the Owner can connect platform credentials. This is enforced at the database level through Supabase Row Level Security policies, with the frontend providing a secondary UI-level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handles eight categories of edge cases. Input validation covers payload size, unicode, and injection attacks. Duplicate detection uses content hashing with a 10-minute window. AI API failures trigger three retries with exponential backoff. Partial publishing failures are handled per-platform so one failure doesn't block others. Mid-execution recovery cleans up stale abandoned workflows. Token expiry triggers automatic OAuth refresh. Twitter overflow uses smart sentence-boundary truncation. And optimistic locking prevents race conditions on concurrent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Pressure testing covered five scenarios. Burst load with 20 concurrent submissions achieved 90% success. Sustained load of 100 submissions over 60 seconds hit 93% success. All 15 adversarial poison payloads were handled correctly with 100% success. During cascading failures when a platform API went down, partial success was preserved — the other platforms continued. Most importantly, no data corruption occurred in any scenario. All 27 test cases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tech stack: React 18 with Tailwind CSS and Vite for the frontend. n8n handles automation with 4 workflows and over 80 nodes. Supabase provides PostgreSQL database, authentication, and Row Level Security. AI is powered by GPT-4o-mini for cost optimization. Publishing connects to Twitter API v2, LinkedIn API, and Resend for newsletters. Authentication uses Supabase Magic Links with a custom RBAC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learnings from this project. First, n8n expression syntax for JSON body construction requires careful escaping — moving complex construction to Code nodes solves this entirely. Second, OAuth 2.0 with PKCE for Twitter adds real complexity vs LinkedIn's simpler authorization code flow. Third, Supabase Row Level Security is powerful for enforcing role-based access at the database level without backend middleware. Fourth, sequential AI generation with context passing ensures diverse draft angles. And fifth, consolidating four workflows into two improved debugging by giving one execution log per user action instead of four separate logs to correlate.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enhancements I'd prioritize. Content scheduling with a calendar view. An analytics dashboard for engagement metrics per platform. AI prompt optimization based on historical performance. Webhook security with HMAC signatures. Multi-organization support to isolate teams and content. A second approval gate after platform adaptation. And token cost tracking per submission for budget visibility.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through the complete flow live. Step 1: Submit the idea 'Remote work reshaping real estate.' Step 2: View the 3 generated drafts — Contrarian, How-To, and Data &amp; Trends. Step 3: Select the strongest draft. Step 4: The system automatically adapts the content for LinkedIn, X/Twitter, and Newsletter. Step 5: An Admin or Owner approves and triggers one-click publishing. Step 6: We verify the content is live on each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This Content Generation and Publishing Automation system was built with React, n8n, Supabase, and OpenAI. It features 4 workflows with over 80 nodes, publishes to 3 platforms, implements a 4-tier RBAC system, achieves a 93% success rate under sustained load, and passes all 27 test cases. I'm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E3A5F"/>
          </a:solidFill>
          <a:ln/>
        </p:spPr>
      </p:sp>
      <p:sp>
        <p:nvSpPr>
          <p:cNvPr id="3" name="Shape 1"/>
          <p:cNvSpPr/>
          <p:nvPr/>
        </p:nvSpPr>
        <p:spPr>
          <a:xfrm>
            <a:off x="0" y="2926080"/>
            <a:ext cx="12192000" cy="54864"/>
          </a:xfrm>
          <a:prstGeom prst="rect">
            <a:avLst/>
          </a:prstGeom>
          <a:solidFill>
            <a:srgbClr val="2563EB"/>
          </a:solidFill>
          <a:ln/>
        </p:spPr>
      </p:sp>
      <p:sp>
        <p:nvSpPr>
          <p:cNvPr id="4" name="Text 2"/>
          <p:cNvSpPr/>
          <p:nvPr/>
        </p:nvSpPr>
        <p:spPr>
          <a:xfrm>
            <a:off x="731520" y="731520"/>
            <a:ext cx="10515600" cy="2011680"/>
          </a:xfrm>
          <a:prstGeom prst="rect">
            <a:avLst/>
          </a:prstGeom>
          <a:noFill/>
          <a:ln/>
        </p:spPr>
        <p:txBody>
          <a:bodyPr wrap="square" rtlCol="0" anchor="ctr"/>
          <a:lstStyle/>
          <a:p>
            <a:pPr indent="0" marL="0">
              <a:lnSpc>
                <a:spcPct val="115000"/>
              </a:lnSpc>
              <a:buNone/>
            </a:pPr>
            <a:r>
              <a:rPr lang="en-US" sz="4000" b="1" dirty="0">
                <a:solidFill>
                  <a:srgbClr val="FFFFFF"/>
                </a:solidFill>
                <a:latin typeface="Calibri" pitchFamily="34" charset="0"/>
                <a:ea typeface="Calibri" pitchFamily="34" charset="-122"/>
                <a:cs typeface="Calibri" pitchFamily="34" charset="-120"/>
              </a:rPr>
              <a:t>Content Generation &amp;</a:t>
            </a:r>
            <a:endParaRPr lang="en-US" sz="4000" dirty="0"/>
          </a:p>
          <a:p>
            <a:pPr indent="0" marL="0">
              <a:lnSpc>
                <a:spcPct val="115000"/>
              </a:lnSpc>
              <a:buNone/>
            </a:pPr>
            <a:r>
              <a:rPr lang="en-US" sz="4000" b="1" dirty="0">
                <a:solidFill>
                  <a:srgbClr val="FFFFFF"/>
                </a:solidFill>
                <a:latin typeface="Calibri" pitchFamily="34" charset="0"/>
                <a:ea typeface="Calibri" pitchFamily="34" charset="-122"/>
                <a:cs typeface="Calibri" pitchFamily="34" charset="-120"/>
              </a:rPr>
              <a:t>Publishing Automation</a:t>
            </a:r>
            <a:endParaRPr lang="en-US" sz="4000" dirty="0"/>
          </a:p>
        </p:txBody>
      </p:sp>
      <p:sp>
        <p:nvSpPr>
          <p:cNvPr id="5" name="Text 3"/>
          <p:cNvSpPr/>
          <p:nvPr/>
        </p:nvSpPr>
        <p:spPr>
          <a:xfrm>
            <a:off x="731520" y="3200400"/>
            <a:ext cx="10515600" cy="640080"/>
          </a:xfrm>
          <a:prstGeom prst="rect">
            <a:avLst/>
          </a:prstGeom>
          <a:noFill/>
          <a:ln/>
        </p:spPr>
        <p:txBody>
          <a:bodyPr wrap="square" rtlCol="0" anchor="ctr"/>
          <a:lstStyle/>
          <a:p>
            <a:pPr indent="0" marL="0">
              <a:buNone/>
            </a:pPr>
            <a:r>
              <a:rPr lang="en-US" sz="2200" dirty="0">
                <a:solidFill>
                  <a:srgbClr val="2563EB"/>
                </a:solidFill>
                <a:latin typeface="Calibri" pitchFamily="34" charset="0"/>
                <a:ea typeface="Calibri" pitchFamily="34" charset="-122"/>
                <a:cs typeface="Calibri" pitchFamily="34" charset="-120"/>
              </a:rPr>
              <a:t>AI-Powered Multi-Platform Content System</a:t>
            </a:r>
            <a:endParaRPr lang="en-US" sz="2200" dirty="0"/>
          </a:p>
        </p:txBody>
      </p:sp>
      <p:sp>
        <p:nvSpPr>
          <p:cNvPr id="6" name="Text 4"/>
          <p:cNvSpPr/>
          <p:nvPr/>
        </p:nvSpPr>
        <p:spPr>
          <a:xfrm>
            <a:off x="731520" y="4114800"/>
            <a:ext cx="5486400" cy="45720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Built by Ayodele Oluwafimidaraayo</a:t>
            </a:r>
            <a:endParaRPr lang="en-US" sz="1800" dirty="0"/>
          </a:p>
        </p:txBody>
      </p:sp>
      <p:sp>
        <p:nvSpPr>
          <p:cNvPr id="7" name="Text 5"/>
          <p:cNvSpPr/>
          <p:nvPr/>
        </p:nvSpPr>
        <p:spPr>
          <a:xfrm>
            <a:off x="731520" y="4663440"/>
            <a:ext cx="5486400" cy="457200"/>
          </a:xfrm>
          <a:prstGeom prst="rect">
            <a:avLst/>
          </a:prstGeom>
          <a:noFill/>
          <a:ln/>
        </p:spPr>
        <p:txBody>
          <a:bodyPr wrap="square" rtlCol="0" anchor="ctr"/>
          <a:lstStyle/>
          <a:p>
            <a:pPr indent="0" marL="0">
              <a:buNone/>
            </a:pPr>
            <a:r>
              <a:rPr lang="en-US" sz="1600" dirty="0">
                <a:solidFill>
                  <a:srgbClr val="64748B"/>
                </a:solidFill>
                <a:latin typeface="Calibri" pitchFamily="34" charset="0"/>
                <a:ea typeface="Calibri" pitchFamily="34" charset="-122"/>
                <a:cs typeface="Calibri" pitchFamily="34" charset="-120"/>
              </a:rPr>
              <a:t>March 2026</a:t>
            </a:r>
            <a:endParaRPr lang="en-US" sz="1600" dirty="0"/>
          </a:p>
        </p:txBody>
      </p:sp>
      <p:sp>
        <p:nvSpPr>
          <p:cNvPr id="8" name="Shape 6"/>
          <p:cNvSpPr/>
          <p:nvPr/>
        </p:nvSpPr>
        <p:spPr>
          <a:xfrm>
            <a:off x="731520" y="6035040"/>
            <a:ext cx="2743200" cy="36576"/>
          </a:xfrm>
          <a:prstGeom prst="rect">
            <a:avLst/>
          </a:prstGeom>
          <a:solidFill>
            <a:srgbClr val="2563EB"/>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1E3A5F"/>
          </a:solidFill>
          <a:ln/>
        </p:spPr>
      </p:sp>
      <p:sp>
        <p:nvSpPr>
          <p:cNvPr id="3" name="Text 1"/>
          <p:cNvSpPr/>
          <p:nvPr/>
        </p:nvSpPr>
        <p:spPr>
          <a:xfrm>
            <a:off x="548640" y="182880"/>
            <a:ext cx="10972800" cy="6400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Problem Statement</a:t>
            </a:r>
            <a:endParaRPr lang="en-US" sz="2800" dirty="0"/>
          </a:p>
        </p:txBody>
      </p:sp>
      <p:sp>
        <p:nvSpPr>
          <p:cNvPr id="4" name="Shape 2"/>
          <p:cNvSpPr/>
          <p:nvPr/>
        </p:nvSpPr>
        <p:spPr>
          <a:xfrm>
            <a:off x="0" y="1005840"/>
            <a:ext cx="12192000" cy="54864"/>
          </a:xfrm>
          <a:prstGeom prst="rect">
            <a:avLst/>
          </a:prstGeom>
          <a:solidFill>
            <a:srgbClr val="2563EB"/>
          </a:solidFill>
          <a:ln/>
        </p:spPr>
      </p:sp>
      <p:sp>
        <p:nvSpPr>
          <p:cNvPr id="5" name="Text 3"/>
          <p:cNvSpPr/>
          <p:nvPr/>
        </p:nvSpPr>
        <p:spPr>
          <a:xfrm>
            <a:off x="548640" y="6309360"/>
            <a:ext cx="10972800" cy="36576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Ayodele Oluwafimidaraayo</a:t>
            </a:r>
            <a:pPr indent="0" marL="0">
              <a:buNone/>
            </a:pPr>
            <a:r>
              <a:rPr lang="en-US" sz="1000" dirty="0">
                <a:solidFill>
                  <a:srgbClr val="64748B"/>
                </a:solidFill>
                <a:latin typeface="Calibri" pitchFamily="34" charset="0"/>
                <a:ea typeface="Calibri" pitchFamily="34" charset="-122"/>
                <a:cs typeface="Calibri" pitchFamily="34" charset="-120"/>
              </a:rPr>
              <a:t>   |   Slide 2 of 17</a:t>
            </a:r>
            <a:endParaRPr lang="en-US" sz="1000" dirty="0"/>
          </a:p>
        </p:txBody>
      </p:sp>
      <p:sp>
        <p:nvSpPr>
          <p:cNvPr id="6" name="Shape 4"/>
          <p:cNvSpPr/>
          <p:nvPr/>
        </p:nvSpPr>
        <p:spPr>
          <a:xfrm>
            <a:off x="731520" y="1463040"/>
            <a:ext cx="347472" cy="347472"/>
          </a:xfrm>
          <a:prstGeom prst="ellipse">
            <a:avLst/>
          </a:prstGeom>
          <a:solidFill>
            <a:srgbClr val="2563EB"/>
          </a:solidFill>
          <a:ln/>
        </p:spPr>
      </p:sp>
      <p:sp>
        <p:nvSpPr>
          <p:cNvPr id="7" name="Text 5"/>
          <p:cNvSpPr/>
          <p:nvPr/>
        </p:nvSpPr>
        <p:spPr>
          <a:xfrm>
            <a:off x="731520" y="1463040"/>
            <a:ext cx="347472" cy="34747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280160" y="1417320"/>
            <a:ext cx="10058400" cy="457200"/>
          </a:xfrm>
          <a:prstGeom prst="rect">
            <a:avLst/>
          </a:prstGeom>
          <a:noFill/>
          <a:ln/>
        </p:spPr>
        <p:txBody>
          <a:bodyPr wrap="square" rtlCol="0" anchor="ctr"/>
          <a:lstStyle/>
          <a:p>
            <a:pPr indent="0" marL="0">
              <a:buNone/>
            </a:pPr>
            <a:r>
              <a:rPr lang="en-US" sz="1800" dirty="0">
                <a:solidFill>
                  <a:srgbClr val="1E293B"/>
                </a:solidFill>
                <a:latin typeface="Calibri" pitchFamily="34" charset="0"/>
                <a:ea typeface="Calibri" pitchFamily="34" charset="-122"/>
                <a:cs typeface="Calibri" pitchFamily="34" charset="-120"/>
              </a:rPr>
              <a:t>Content creation is manual and time-consuming (2-4 hours per topic)</a:t>
            </a:r>
            <a:endParaRPr lang="en-US" sz="1800" dirty="0"/>
          </a:p>
        </p:txBody>
      </p:sp>
      <p:sp>
        <p:nvSpPr>
          <p:cNvPr id="9" name="Shape 7"/>
          <p:cNvSpPr/>
          <p:nvPr/>
        </p:nvSpPr>
        <p:spPr>
          <a:xfrm>
            <a:off x="731520" y="2240280"/>
            <a:ext cx="347472" cy="347472"/>
          </a:xfrm>
          <a:prstGeom prst="ellipse">
            <a:avLst/>
          </a:prstGeom>
          <a:solidFill>
            <a:srgbClr val="2563EB"/>
          </a:solidFill>
          <a:ln/>
        </p:spPr>
      </p:sp>
      <p:sp>
        <p:nvSpPr>
          <p:cNvPr id="10" name="Text 8"/>
          <p:cNvSpPr/>
          <p:nvPr/>
        </p:nvSpPr>
        <p:spPr>
          <a:xfrm>
            <a:off x="731520" y="2240280"/>
            <a:ext cx="347472" cy="34747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280160" y="2194560"/>
            <a:ext cx="10058400" cy="457200"/>
          </a:xfrm>
          <a:prstGeom prst="rect">
            <a:avLst/>
          </a:prstGeom>
          <a:noFill/>
          <a:ln/>
        </p:spPr>
        <p:txBody>
          <a:bodyPr wrap="square" rtlCol="0" anchor="ctr"/>
          <a:lstStyle/>
          <a:p>
            <a:pPr indent="0" marL="0">
              <a:buNone/>
            </a:pPr>
            <a:r>
              <a:rPr lang="en-US" sz="1800" dirty="0">
                <a:solidFill>
                  <a:srgbClr val="1E293B"/>
                </a:solidFill>
                <a:latin typeface="Calibri" pitchFamily="34" charset="0"/>
                <a:ea typeface="Calibri" pitchFamily="34" charset="-122"/>
                <a:cs typeface="Calibri" pitchFamily="34" charset="-120"/>
              </a:rPr>
              <a:t>Adapting for 3 platforms means 3x the repetitive effort</a:t>
            </a:r>
            <a:endParaRPr lang="en-US" sz="1800" dirty="0"/>
          </a:p>
        </p:txBody>
      </p:sp>
      <p:sp>
        <p:nvSpPr>
          <p:cNvPr id="12" name="Shape 10"/>
          <p:cNvSpPr/>
          <p:nvPr/>
        </p:nvSpPr>
        <p:spPr>
          <a:xfrm>
            <a:off x="731520" y="3017520"/>
            <a:ext cx="347472" cy="347472"/>
          </a:xfrm>
          <a:prstGeom prst="ellipse">
            <a:avLst/>
          </a:prstGeom>
          <a:solidFill>
            <a:srgbClr val="2563EB"/>
          </a:solidFill>
          <a:ln/>
        </p:spPr>
      </p:sp>
      <p:sp>
        <p:nvSpPr>
          <p:cNvPr id="13" name="Text 11"/>
          <p:cNvSpPr/>
          <p:nvPr/>
        </p:nvSpPr>
        <p:spPr>
          <a:xfrm>
            <a:off x="731520" y="3017520"/>
            <a:ext cx="347472" cy="34747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280160" y="2971800"/>
            <a:ext cx="10058400" cy="457200"/>
          </a:xfrm>
          <a:prstGeom prst="rect">
            <a:avLst/>
          </a:prstGeom>
          <a:noFill/>
          <a:ln/>
        </p:spPr>
        <p:txBody>
          <a:bodyPr wrap="square" rtlCol="0" anchor="ctr"/>
          <a:lstStyle/>
          <a:p>
            <a:pPr indent="0" marL="0">
              <a:buNone/>
            </a:pPr>
            <a:r>
              <a:rPr lang="en-US" sz="1800" dirty="0">
                <a:solidFill>
                  <a:srgbClr val="1E293B"/>
                </a:solidFill>
                <a:latin typeface="Calibri" pitchFamily="34" charset="0"/>
                <a:ea typeface="Calibri" pitchFamily="34" charset="-122"/>
                <a:cs typeface="Calibri" pitchFamily="34" charset="-120"/>
              </a:rPr>
              <a:t>No centralized system for team collaboration on content</a:t>
            </a:r>
            <a:endParaRPr lang="en-US" sz="1800" dirty="0"/>
          </a:p>
        </p:txBody>
      </p:sp>
      <p:sp>
        <p:nvSpPr>
          <p:cNvPr id="15" name="Shape 13"/>
          <p:cNvSpPr/>
          <p:nvPr/>
        </p:nvSpPr>
        <p:spPr>
          <a:xfrm>
            <a:off x="731520" y="3794760"/>
            <a:ext cx="347472" cy="347472"/>
          </a:xfrm>
          <a:prstGeom prst="ellipse">
            <a:avLst/>
          </a:prstGeom>
          <a:solidFill>
            <a:srgbClr val="2563EB"/>
          </a:solidFill>
          <a:ln/>
        </p:spPr>
      </p:sp>
      <p:sp>
        <p:nvSpPr>
          <p:cNvPr id="16" name="Text 14"/>
          <p:cNvSpPr/>
          <p:nvPr/>
        </p:nvSpPr>
        <p:spPr>
          <a:xfrm>
            <a:off x="731520" y="3794760"/>
            <a:ext cx="347472" cy="34747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p:nvPr/>
        </p:nvSpPr>
        <p:spPr>
          <a:xfrm>
            <a:off x="1280160" y="3749040"/>
            <a:ext cx="10058400" cy="457200"/>
          </a:xfrm>
          <a:prstGeom prst="rect">
            <a:avLst/>
          </a:prstGeom>
          <a:noFill/>
          <a:ln/>
        </p:spPr>
        <p:txBody>
          <a:bodyPr wrap="square" rtlCol="0" anchor="ctr"/>
          <a:lstStyle/>
          <a:p>
            <a:pPr indent="0" marL="0">
              <a:buNone/>
            </a:pPr>
            <a:r>
              <a:rPr lang="en-US" sz="1800" dirty="0">
                <a:solidFill>
                  <a:srgbClr val="1E293B"/>
                </a:solidFill>
                <a:latin typeface="Calibri" pitchFamily="34" charset="0"/>
                <a:ea typeface="Calibri" pitchFamily="34" charset="-122"/>
                <a:cs typeface="Calibri" pitchFamily="34" charset="-120"/>
              </a:rPr>
              <a:t>Publishing to multiple platforms is disconnected</a:t>
            </a:r>
            <a:endParaRPr lang="en-US" sz="1800" dirty="0"/>
          </a:p>
        </p:txBody>
      </p:sp>
      <p:sp>
        <p:nvSpPr>
          <p:cNvPr id="18" name="Shape 16"/>
          <p:cNvSpPr/>
          <p:nvPr/>
        </p:nvSpPr>
        <p:spPr>
          <a:xfrm>
            <a:off x="731520" y="4572000"/>
            <a:ext cx="347472" cy="347472"/>
          </a:xfrm>
          <a:prstGeom prst="ellipse">
            <a:avLst/>
          </a:prstGeom>
          <a:solidFill>
            <a:srgbClr val="2563EB"/>
          </a:solidFill>
          <a:ln/>
        </p:spPr>
      </p:sp>
      <p:sp>
        <p:nvSpPr>
          <p:cNvPr id="19" name="Text 17"/>
          <p:cNvSpPr/>
          <p:nvPr/>
        </p:nvSpPr>
        <p:spPr>
          <a:xfrm>
            <a:off x="731520" y="4572000"/>
            <a:ext cx="347472" cy="34747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8"/>
          <p:cNvSpPr/>
          <p:nvPr/>
        </p:nvSpPr>
        <p:spPr>
          <a:xfrm>
            <a:off x="1280160" y="4526280"/>
            <a:ext cx="10058400" cy="457200"/>
          </a:xfrm>
          <a:prstGeom prst="rect">
            <a:avLst/>
          </a:prstGeom>
          <a:noFill/>
          <a:ln/>
        </p:spPr>
        <p:txBody>
          <a:bodyPr wrap="square" rtlCol="0" anchor="ctr"/>
          <a:lstStyle/>
          <a:p>
            <a:pPr indent="0" marL="0">
              <a:buNone/>
            </a:pPr>
            <a:r>
              <a:rPr lang="en-US" sz="1800" dirty="0">
                <a:solidFill>
                  <a:srgbClr val="1E293B"/>
                </a:solidFill>
                <a:latin typeface="Calibri" pitchFamily="34" charset="0"/>
                <a:ea typeface="Calibri" pitchFamily="34" charset="-122"/>
                <a:cs typeface="Calibri" pitchFamily="34" charset="-120"/>
              </a:rPr>
              <a:t>Inconsistent SEO optimization — rankings left to chance</a:t>
            </a:r>
            <a:endParaRPr lang="en-US" sz="1800" dirty="0"/>
          </a:p>
        </p:txBody>
      </p:sp>
      <p:sp>
        <p:nvSpPr>
          <p:cNvPr id="21" name="Shape 19"/>
          <p:cNvSpPr/>
          <p:nvPr/>
        </p:nvSpPr>
        <p:spPr>
          <a:xfrm>
            <a:off x="731520" y="5349240"/>
            <a:ext cx="347472" cy="347472"/>
          </a:xfrm>
          <a:prstGeom prst="ellipse">
            <a:avLst/>
          </a:prstGeom>
          <a:solidFill>
            <a:srgbClr val="2563EB"/>
          </a:solidFill>
          <a:ln/>
        </p:spPr>
      </p:sp>
      <p:sp>
        <p:nvSpPr>
          <p:cNvPr id="22" name="Text 20"/>
          <p:cNvSpPr/>
          <p:nvPr/>
        </p:nvSpPr>
        <p:spPr>
          <a:xfrm>
            <a:off x="731520" y="5349240"/>
            <a:ext cx="347472" cy="34747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3" name="Text 21"/>
          <p:cNvSpPr/>
          <p:nvPr/>
        </p:nvSpPr>
        <p:spPr>
          <a:xfrm>
            <a:off x="1280160" y="5303520"/>
            <a:ext cx="10058400" cy="457200"/>
          </a:xfrm>
          <a:prstGeom prst="rect">
            <a:avLst/>
          </a:prstGeom>
          <a:noFill/>
          <a:ln/>
        </p:spPr>
        <p:txBody>
          <a:bodyPr wrap="square" rtlCol="0" anchor="ctr"/>
          <a:lstStyle/>
          <a:p>
            <a:pPr indent="0" marL="0">
              <a:buNone/>
            </a:pPr>
            <a:r>
              <a:rPr lang="en-US" sz="1800" dirty="0">
                <a:solidFill>
                  <a:srgbClr val="1E293B"/>
                </a:solidFill>
                <a:latin typeface="Calibri" pitchFamily="34" charset="0"/>
                <a:ea typeface="Calibri" pitchFamily="34" charset="-122"/>
                <a:cs typeface="Calibri" pitchFamily="34" charset="-120"/>
              </a:rPr>
              <a:t>Creative energy wasted on reformatting instead of strategy</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1E3A5F"/>
          </a:solidFill>
          <a:ln/>
        </p:spPr>
      </p:sp>
      <p:sp>
        <p:nvSpPr>
          <p:cNvPr id="3" name="Text 1"/>
          <p:cNvSpPr/>
          <p:nvPr/>
        </p:nvSpPr>
        <p:spPr>
          <a:xfrm>
            <a:off x="548640" y="182880"/>
            <a:ext cx="10972800" cy="6400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Solution Overview</a:t>
            </a:r>
            <a:endParaRPr lang="en-US" sz="2800" dirty="0"/>
          </a:p>
        </p:txBody>
      </p:sp>
      <p:sp>
        <p:nvSpPr>
          <p:cNvPr id="4" name="Shape 2"/>
          <p:cNvSpPr/>
          <p:nvPr/>
        </p:nvSpPr>
        <p:spPr>
          <a:xfrm>
            <a:off x="0" y="1005840"/>
            <a:ext cx="12192000" cy="54864"/>
          </a:xfrm>
          <a:prstGeom prst="rect">
            <a:avLst/>
          </a:prstGeom>
          <a:solidFill>
            <a:srgbClr val="2563EB"/>
          </a:solidFill>
          <a:ln/>
        </p:spPr>
      </p:sp>
      <p:sp>
        <p:nvSpPr>
          <p:cNvPr id="5" name="Text 3"/>
          <p:cNvSpPr/>
          <p:nvPr/>
        </p:nvSpPr>
        <p:spPr>
          <a:xfrm>
            <a:off x="548640" y="6309360"/>
            <a:ext cx="10972800" cy="36576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Ayodele Oluwafimidaraayo</a:t>
            </a:r>
            <a:pPr indent="0" marL="0">
              <a:buNone/>
            </a:pPr>
            <a:r>
              <a:rPr lang="en-US" sz="1000" dirty="0">
                <a:solidFill>
                  <a:srgbClr val="64748B"/>
                </a:solidFill>
                <a:latin typeface="Calibri" pitchFamily="34" charset="0"/>
                <a:ea typeface="Calibri" pitchFamily="34" charset="-122"/>
                <a:cs typeface="Calibri" pitchFamily="34" charset="-120"/>
              </a:rPr>
              <a:t>   |   Slide 3 of 17</a:t>
            </a:r>
            <a:endParaRPr lang="en-US" sz="1000" dirty="0"/>
          </a:p>
        </p:txBody>
      </p:sp>
      <p:sp>
        <p:nvSpPr>
          <p:cNvPr id="6" name="Text 4"/>
          <p:cNvSpPr/>
          <p:nvPr/>
        </p:nvSpPr>
        <p:spPr>
          <a:xfrm>
            <a:off x="640080" y="1325880"/>
            <a:ext cx="365760" cy="438912"/>
          </a:xfrm>
          <a:prstGeom prst="rect">
            <a:avLst/>
          </a:prstGeom>
          <a:noFill/>
          <a:ln/>
        </p:spPr>
        <p:txBody>
          <a:bodyPr wrap="square" rtlCol="0" anchor="ctr"/>
          <a:lstStyle/>
          <a:p>
            <a:pPr indent="0" marL="0">
              <a:buNone/>
            </a:pPr>
            <a:r>
              <a:rPr lang="en-US" sz="1800" b="1" dirty="0">
                <a:solidFill>
                  <a:srgbClr val="2563EB"/>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1325880"/>
            <a:ext cx="10515600" cy="438912"/>
          </a:xfrm>
          <a:prstGeom prst="rect">
            <a:avLst/>
          </a:prstGeom>
          <a:noFill/>
          <a:ln/>
        </p:spPr>
        <p:txBody>
          <a:bodyPr wrap="square" rtlCol="0" anchor="ctr"/>
          <a:lstStyle/>
          <a:p>
            <a:pPr indent="0" marL="0">
              <a:buNone/>
            </a:pPr>
            <a:r>
              <a:rPr lang="en-US" sz="1700" dirty="0">
                <a:solidFill>
                  <a:srgbClr val="1E293B"/>
                </a:solidFill>
                <a:latin typeface="Calibri" pitchFamily="34" charset="0"/>
                <a:ea typeface="Calibri" pitchFamily="34" charset="-122"/>
                <a:cs typeface="Calibri" pitchFamily="34" charset="-120"/>
              </a:rPr>
              <a:t>AI-powered content generation from ideas or URLs</a:t>
            </a:r>
            <a:endParaRPr lang="en-US" sz="1700" dirty="0"/>
          </a:p>
        </p:txBody>
      </p:sp>
      <p:sp>
        <p:nvSpPr>
          <p:cNvPr id="8" name="Text 6"/>
          <p:cNvSpPr/>
          <p:nvPr/>
        </p:nvSpPr>
        <p:spPr>
          <a:xfrm>
            <a:off x="640080" y="1856232"/>
            <a:ext cx="365760" cy="438912"/>
          </a:xfrm>
          <a:prstGeom prst="rect">
            <a:avLst/>
          </a:prstGeom>
          <a:noFill/>
          <a:ln/>
        </p:spPr>
        <p:txBody>
          <a:bodyPr wrap="square" rtlCol="0" anchor="ctr"/>
          <a:lstStyle/>
          <a:p>
            <a:pPr indent="0" marL="0">
              <a:buNone/>
            </a:pPr>
            <a:r>
              <a:rPr lang="en-US" sz="1800" b="1" dirty="0">
                <a:solidFill>
                  <a:srgbClr val="2563EB"/>
                </a:solidFill>
                <a:latin typeface="Calibri" pitchFamily="34" charset="0"/>
                <a:ea typeface="Calibri" pitchFamily="34" charset="-122"/>
                <a:cs typeface="Calibri" pitchFamily="34" charset="-120"/>
              </a:rPr>
              <a:t>▸</a:t>
            </a:r>
            <a:endParaRPr lang="en-US" sz="1800" dirty="0"/>
          </a:p>
        </p:txBody>
      </p:sp>
      <p:sp>
        <p:nvSpPr>
          <p:cNvPr id="9" name="Text 7"/>
          <p:cNvSpPr/>
          <p:nvPr/>
        </p:nvSpPr>
        <p:spPr>
          <a:xfrm>
            <a:off x="1005840" y="1856232"/>
            <a:ext cx="10515600" cy="438912"/>
          </a:xfrm>
          <a:prstGeom prst="rect">
            <a:avLst/>
          </a:prstGeom>
          <a:noFill/>
          <a:ln/>
        </p:spPr>
        <p:txBody>
          <a:bodyPr wrap="square" rtlCol="0" anchor="ctr"/>
          <a:lstStyle/>
          <a:p>
            <a:pPr indent="0" marL="0">
              <a:buNone/>
            </a:pPr>
            <a:r>
              <a:rPr lang="en-US" sz="1700" dirty="0">
                <a:solidFill>
                  <a:srgbClr val="1E293B"/>
                </a:solidFill>
                <a:latin typeface="Calibri" pitchFamily="34" charset="0"/>
                <a:ea typeface="Calibri" pitchFamily="34" charset="-122"/>
                <a:cs typeface="Calibri" pitchFamily="34" charset="-120"/>
              </a:rPr>
              <a:t>3 distinct draft angles: Contrarian, How-To, Data &amp; Trends</a:t>
            </a:r>
            <a:endParaRPr lang="en-US" sz="1700" dirty="0"/>
          </a:p>
        </p:txBody>
      </p:sp>
      <p:sp>
        <p:nvSpPr>
          <p:cNvPr id="10" name="Text 8"/>
          <p:cNvSpPr/>
          <p:nvPr/>
        </p:nvSpPr>
        <p:spPr>
          <a:xfrm>
            <a:off x="640080" y="2386584"/>
            <a:ext cx="365760" cy="438912"/>
          </a:xfrm>
          <a:prstGeom prst="rect">
            <a:avLst/>
          </a:prstGeom>
          <a:noFill/>
          <a:ln/>
        </p:spPr>
        <p:txBody>
          <a:bodyPr wrap="square" rtlCol="0" anchor="ctr"/>
          <a:lstStyle/>
          <a:p>
            <a:pPr indent="0" marL="0">
              <a:buNone/>
            </a:pPr>
            <a:r>
              <a:rPr lang="en-US" sz="1800" b="1" dirty="0">
                <a:solidFill>
                  <a:srgbClr val="2563EB"/>
                </a:solidFill>
                <a:latin typeface="Calibri" pitchFamily="34" charset="0"/>
                <a:ea typeface="Calibri" pitchFamily="34" charset="-122"/>
                <a:cs typeface="Calibri" pitchFamily="34" charset="-120"/>
              </a:rPr>
              <a:t>▸</a:t>
            </a:r>
            <a:endParaRPr lang="en-US" sz="1800" dirty="0"/>
          </a:p>
        </p:txBody>
      </p:sp>
      <p:sp>
        <p:nvSpPr>
          <p:cNvPr id="11" name="Text 9"/>
          <p:cNvSpPr/>
          <p:nvPr/>
        </p:nvSpPr>
        <p:spPr>
          <a:xfrm>
            <a:off x="1005840" y="2386584"/>
            <a:ext cx="10515600" cy="438912"/>
          </a:xfrm>
          <a:prstGeom prst="rect">
            <a:avLst/>
          </a:prstGeom>
          <a:noFill/>
          <a:ln/>
        </p:spPr>
        <p:txBody>
          <a:bodyPr wrap="square" rtlCol="0" anchor="ctr"/>
          <a:lstStyle/>
          <a:p>
            <a:pPr indent="0" marL="0">
              <a:buNone/>
            </a:pPr>
            <a:r>
              <a:rPr lang="en-US" sz="1700" dirty="0">
                <a:solidFill>
                  <a:srgbClr val="1E293B"/>
                </a:solidFill>
                <a:latin typeface="Calibri" pitchFamily="34" charset="0"/>
                <a:ea typeface="Calibri" pitchFamily="34" charset="-122"/>
                <a:cs typeface="Calibri" pitchFamily="34" charset="-120"/>
              </a:rPr>
              <a:t>Automatic adaptation for LinkedIn, X/Twitter, and Newsletter</a:t>
            </a:r>
            <a:endParaRPr lang="en-US" sz="1700" dirty="0"/>
          </a:p>
        </p:txBody>
      </p:sp>
      <p:sp>
        <p:nvSpPr>
          <p:cNvPr id="12" name="Text 10"/>
          <p:cNvSpPr/>
          <p:nvPr/>
        </p:nvSpPr>
        <p:spPr>
          <a:xfrm>
            <a:off x="640080" y="2916936"/>
            <a:ext cx="365760" cy="438912"/>
          </a:xfrm>
          <a:prstGeom prst="rect">
            <a:avLst/>
          </a:prstGeom>
          <a:noFill/>
          <a:ln/>
        </p:spPr>
        <p:txBody>
          <a:bodyPr wrap="square" rtlCol="0" anchor="ctr"/>
          <a:lstStyle/>
          <a:p>
            <a:pPr indent="0" marL="0">
              <a:buNone/>
            </a:pPr>
            <a:r>
              <a:rPr lang="en-US" sz="1800" b="1" dirty="0">
                <a:solidFill>
                  <a:srgbClr val="2563EB"/>
                </a:solidFill>
                <a:latin typeface="Calibri" pitchFamily="34" charset="0"/>
                <a:ea typeface="Calibri" pitchFamily="34" charset="-122"/>
                <a:cs typeface="Calibri" pitchFamily="34" charset="-120"/>
              </a:rPr>
              <a:t>▸</a:t>
            </a:r>
            <a:endParaRPr lang="en-US" sz="1800" dirty="0"/>
          </a:p>
        </p:txBody>
      </p:sp>
      <p:sp>
        <p:nvSpPr>
          <p:cNvPr id="13" name="Text 11"/>
          <p:cNvSpPr/>
          <p:nvPr/>
        </p:nvSpPr>
        <p:spPr>
          <a:xfrm>
            <a:off x="1005840" y="2916936"/>
            <a:ext cx="10515600" cy="438912"/>
          </a:xfrm>
          <a:prstGeom prst="rect">
            <a:avLst/>
          </a:prstGeom>
          <a:noFill/>
          <a:ln/>
        </p:spPr>
        <p:txBody>
          <a:bodyPr wrap="square" rtlCol="0" anchor="ctr"/>
          <a:lstStyle/>
          <a:p>
            <a:pPr indent="0" marL="0">
              <a:buNone/>
            </a:pPr>
            <a:r>
              <a:rPr lang="en-US" sz="1700" dirty="0">
                <a:solidFill>
                  <a:srgbClr val="1E293B"/>
                </a:solidFill>
                <a:latin typeface="Calibri" pitchFamily="34" charset="0"/>
                <a:ea typeface="Calibri" pitchFamily="34" charset="-122"/>
                <a:cs typeface="Calibri" pitchFamily="34" charset="-120"/>
              </a:rPr>
              <a:t>One-click publishing to all connected platforms</a:t>
            </a:r>
            <a:endParaRPr lang="en-US" sz="1700" dirty="0"/>
          </a:p>
        </p:txBody>
      </p:sp>
      <p:sp>
        <p:nvSpPr>
          <p:cNvPr id="14" name="Text 12"/>
          <p:cNvSpPr/>
          <p:nvPr/>
        </p:nvSpPr>
        <p:spPr>
          <a:xfrm>
            <a:off x="640080" y="3447288"/>
            <a:ext cx="365760" cy="438912"/>
          </a:xfrm>
          <a:prstGeom prst="rect">
            <a:avLst/>
          </a:prstGeom>
          <a:noFill/>
          <a:ln/>
        </p:spPr>
        <p:txBody>
          <a:bodyPr wrap="square" rtlCol="0" anchor="ctr"/>
          <a:lstStyle/>
          <a:p>
            <a:pPr indent="0" marL="0">
              <a:buNone/>
            </a:pPr>
            <a:r>
              <a:rPr lang="en-US" sz="1800" b="1" dirty="0">
                <a:solidFill>
                  <a:srgbClr val="2563EB"/>
                </a:solidFill>
                <a:latin typeface="Calibri" pitchFamily="34" charset="0"/>
                <a:ea typeface="Calibri" pitchFamily="34" charset="-122"/>
                <a:cs typeface="Calibri" pitchFamily="34" charset="-120"/>
              </a:rPr>
              <a:t>▸</a:t>
            </a:r>
            <a:endParaRPr lang="en-US" sz="1800" dirty="0"/>
          </a:p>
        </p:txBody>
      </p:sp>
      <p:sp>
        <p:nvSpPr>
          <p:cNvPr id="15" name="Text 13"/>
          <p:cNvSpPr/>
          <p:nvPr/>
        </p:nvSpPr>
        <p:spPr>
          <a:xfrm>
            <a:off x="1005840" y="3447288"/>
            <a:ext cx="10515600" cy="438912"/>
          </a:xfrm>
          <a:prstGeom prst="rect">
            <a:avLst/>
          </a:prstGeom>
          <a:noFill/>
          <a:ln/>
        </p:spPr>
        <p:txBody>
          <a:bodyPr wrap="square" rtlCol="0" anchor="ctr"/>
          <a:lstStyle/>
          <a:p>
            <a:pPr indent="0" marL="0">
              <a:buNone/>
            </a:pPr>
            <a:r>
              <a:rPr lang="en-US" sz="1700" dirty="0">
                <a:solidFill>
                  <a:srgbClr val="1E293B"/>
                </a:solidFill>
                <a:latin typeface="Calibri" pitchFamily="34" charset="0"/>
                <a:ea typeface="Calibri" pitchFamily="34" charset="-122"/>
                <a:cs typeface="Calibri" pitchFamily="34" charset="-120"/>
              </a:rPr>
              <a:t>Role-based team collaboration (Owner &gt; Admin &gt; Editor &gt; Viewer)</a:t>
            </a:r>
            <a:endParaRPr lang="en-US" sz="1700" dirty="0"/>
          </a:p>
        </p:txBody>
      </p:sp>
      <p:sp>
        <p:nvSpPr>
          <p:cNvPr id="16" name="Text 14"/>
          <p:cNvSpPr/>
          <p:nvPr/>
        </p:nvSpPr>
        <p:spPr>
          <a:xfrm>
            <a:off x="640080" y="3977640"/>
            <a:ext cx="365760" cy="438912"/>
          </a:xfrm>
          <a:prstGeom prst="rect">
            <a:avLst/>
          </a:prstGeom>
          <a:noFill/>
          <a:ln/>
        </p:spPr>
        <p:txBody>
          <a:bodyPr wrap="square" rtlCol="0" anchor="ctr"/>
          <a:lstStyle/>
          <a:p>
            <a:pPr indent="0" marL="0">
              <a:buNone/>
            </a:pPr>
            <a:r>
              <a:rPr lang="en-US" sz="1800" b="1" dirty="0">
                <a:solidFill>
                  <a:srgbClr val="2563EB"/>
                </a:solidFill>
                <a:latin typeface="Calibri" pitchFamily="34" charset="0"/>
                <a:ea typeface="Calibri" pitchFamily="34" charset="-122"/>
                <a:cs typeface="Calibri" pitchFamily="34" charset="-120"/>
              </a:rPr>
              <a:t>▸</a:t>
            </a:r>
            <a:endParaRPr lang="en-US" sz="1800" dirty="0"/>
          </a:p>
        </p:txBody>
      </p:sp>
      <p:sp>
        <p:nvSpPr>
          <p:cNvPr id="17" name="Text 15"/>
          <p:cNvSpPr/>
          <p:nvPr/>
        </p:nvSpPr>
        <p:spPr>
          <a:xfrm>
            <a:off x="1005840" y="3977640"/>
            <a:ext cx="10515600" cy="438912"/>
          </a:xfrm>
          <a:prstGeom prst="rect">
            <a:avLst/>
          </a:prstGeom>
          <a:noFill/>
          <a:ln/>
        </p:spPr>
        <p:txBody>
          <a:bodyPr wrap="square" rtlCol="0" anchor="ctr"/>
          <a:lstStyle/>
          <a:p>
            <a:pPr indent="0" marL="0">
              <a:buNone/>
            </a:pPr>
            <a:r>
              <a:rPr lang="en-US" sz="1700" dirty="0">
                <a:solidFill>
                  <a:srgbClr val="1E293B"/>
                </a:solidFill>
                <a:latin typeface="Calibri" pitchFamily="34" charset="0"/>
                <a:ea typeface="Calibri" pitchFamily="34" charset="-122"/>
                <a:cs typeface="Calibri" pitchFamily="34" charset="-120"/>
              </a:rPr>
              <a:t>Human-in-the-loop: AI generates options, humans decide</a:t>
            </a:r>
            <a:endParaRPr lang="en-US" sz="1700" dirty="0"/>
          </a:p>
        </p:txBody>
      </p:sp>
      <p:sp>
        <p:nvSpPr>
          <p:cNvPr id="18" name="Shape 16"/>
          <p:cNvSpPr/>
          <p:nvPr/>
        </p:nvSpPr>
        <p:spPr>
          <a:xfrm>
            <a:off x="731520" y="4754880"/>
            <a:ext cx="1645920" cy="640080"/>
          </a:xfrm>
          <a:prstGeom prst="roundRect">
            <a:avLst>
              <a:gd name="adj" fmla="val 14286"/>
            </a:avLst>
          </a:prstGeom>
          <a:solidFill>
            <a:srgbClr val="2563EB"/>
          </a:solidFill>
          <a:ln/>
        </p:spPr>
      </p:sp>
      <p:sp>
        <p:nvSpPr>
          <p:cNvPr id="19" name="Text 17"/>
          <p:cNvSpPr/>
          <p:nvPr/>
        </p:nvSpPr>
        <p:spPr>
          <a:xfrm>
            <a:off x="731520" y="4754880"/>
            <a:ext cx="1645920" cy="640080"/>
          </a:xfrm>
          <a:prstGeom prst="rect">
            <a:avLst/>
          </a:prstGeom>
          <a:noFill/>
          <a:ln/>
        </p:spPr>
        <p:txBody>
          <a:bodyPr wrap="square" rtlCol="0" anchor="ctr"/>
          <a:lstStyle/>
          <a:p>
            <a:pPr algn="ctr" indent="0" marL="0">
              <a:lnSpc>
                <a:spcPct val="95000"/>
              </a:lnSpc>
              <a:buNone/>
            </a:pPr>
            <a:r>
              <a:rPr lang="en-US" sz="1200" b="1" dirty="0">
                <a:solidFill>
                  <a:srgbClr val="FFFFFF"/>
                </a:solidFill>
                <a:latin typeface="Calibri" pitchFamily="34" charset="0"/>
                <a:ea typeface="Calibri" pitchFamily="34" charset="-122"/>
                <a:cs typeface="Calibri" pitchFamily="34" charset="-120"/>
              </a:rPr>
              <a:t>Idea / URL</a:t>
            </a:r>
            <a:endParaRPr lang="en-US" sz="1200" dirty="0"/>
          </a:p>
        </p:txBody>
      </p:sp>
      <p:sp>
        <p:nvSpPr>
          <p:cNvPr id="20" name="Text 18"/>
          <p:cNvSpPr/>
          <p:nvPr/>
        </p:nvSpPr>
        <p:spPr>
          <a:xfrm>
            <a:off x="2423160" y="4754880"/>
            <a:ext cx="457200" cy="640080"/>
          </a:xfrm>
          <a:prstGeom prst="rect">
            <a:avLst/>
          </a:prstGeom>
          <a:noFill/>
          <a:ln/>
        </p:spPr>
        <p:txBody>
          <a:bodyPr wrap="square" rtlCol="0" anchor="ctr"/>
          <a:lstStyle/>
          <a:p>
            <a:pPr algn="ctr" indent="0" marL="0">
              <a:buNone/>
            </a:pPr>
            <a:r>
              <a:rPr lang="en-US" sz="2200" dirty="0">
                <a:solidFill>
                  <a:srgbClr val="2563EB"/>
                </a:solidFill>
                <a:latin typeface="Calibri" pitchFamily="34" charset="0"/>
                <a:ea typeface="Calibri" pitchFamily="34" charset="-122"/>
                <a:cs typeface="Calibri" pitchFamily="34" charset="-120"/>
              </a:rPr>
              <a:t>➜</a:t>
            </a:r>
            <a:endParaRPr lang="en-US" sz="2200" dirty="0"/>
          </a:p>
        </p:txBody>
      </p:sp>
      <p:sp>
        <p:nvSpPr>
          <p:cNvPr id="21" name="Shape 19"/>
          <p:cNvSpPr/>
          <p:nvPr/>
        </p:nvSpPr>
        <p:spPr>
          <a:xfrm>
            <a:off x="2926080" y="4754880"/>
            <a:ext cx="1645920" cy="640080"/>
          </a:xfrm>
          <a:prstGeom prst="roundRect">
            <a:avLst>
              <a:gd name="adj" fmla="val 14286"/>
            </a:avLst>
          </a:prstGeom>
          <a:solidFill>
            <a:srgbClr val="1E3A5F"/>
          </a:solidFill>
          <a:ln/>
        </p:spPr>
      </p:sp>
      <p:sp>
        <p:nvSpPr>
          <p:cNvPr id="22" name="Text 20"/>
          <p:cNvSpPr/>
          <p:nvPr/>
        </p:nvSpPr>
        <p:spPr>
          <a:xfrm>
            <a:off x="2926080" y="4754880"/>
            <a:ext cx="1645920" cy="640080"/>
          </a:xfrm>
          <a:prstGeom prst="rect">
            <a:avLst/>
          </a:prstGeom>
          <a:noFill/>
          <a:ln/>
        </p:spPr>
        <p:txBody>
          <a:bodyPr wrap="square" rtlCol="0" anchor="ctr"/>
          <a:lstStyle/>
          <a:p>
            <a:pPr algn="ctr" indent="0" marL="0">
              <a:lnSpc>
                <a:spcPct val="95000"/>
              </a:lnSpc>
              <a:buNone/>
            </a:pPr>
            <a:r>
              <a:rPr lang="en-US" sz="1200" b="1" dirty="0">
                <a:solidFill>
                  <a:srgbClr val="FFFFFF"/>
                </a:solidFill>
                <a:latin typeface="Calibri" pitchFamily="34" charset="0"/>
                <a:ea typeface="Calibri" pitchFamily="34" charset="-122"/>
                <a:cs typeface="Calibri" pitchFamily="34" charset="-120"/>
              </a:rPr>
              <a:t>3 AI Drafts</a:t>
            </a:r>
            <a:endParaRPr lang="en-US" sz="1200" dirty="0"/>
          </a:p>
        </p:txBody>
      </p:sp>
      <p:sp>
        <p:nvSpPr>
          <p:cNvPr id="23" name="Text 21"/>
          <p:cNvSpPr/>
          <p:nvPr/>
        </p:nvSpPr>
        <p:spPr>
          <a:xfrm>
            <a:off x="4617720" y="4754880"/>
            <a:ext cx="457200" cy="640080"/>
          </a:xfrm>
          <a:prstGeom prst="rect">
            <a:avLst/>
          </a:prstGeom>
          <a:noFill/>
          <a:ln/>
        </p:spPr>
        <p:txBody>
          <a:bodyPr wrap="square" rtlCol="0" anchor="ctr"/>
          <a:lstStyle/>
          <a:p>
            <a:pPr algn="ctr" indent="0" marL="0">
              <a:buNone/>
            </a:pPr>
            <a:r>
              <a:rPr lang="en-US" sz="2200" dirty="0">
                <a:solidFill>
                  <a:srgbClr val="2563EB"/>
                </a:solidFill>
                <a:latin typeface="Calibri" pitchFamily="34" charset="0"/>
                <a:ea typeface="Calibri" pitchFamily="34" charset="-122"/>
                <a:cs typeface="Calibri" pitchFamily="34" charset="-120"/>
              </a:rPr>
              <a:t>➜</a:t>
            </a:r>
            <a:endParaRPr lang="en-US" sz="2200" dirty="0"/>
          </a:p>
        </p:txBody>
      </p:sp>
      <p:sp>
        <p:nvSpPr>
          <p:cNvPr id="24" name="Shape 22"/>
          <p:cNvSpPr/>
          <p:nvPr/>
        </p:nvSpPr>
        <p:spPr>
          <a:xfrm>
            <a:off x="5120640" y="4754880"/>
            <a:ext cx="1645920" cy="640080"/>
          </a:xfrm>
          <a:prstGeom prst="roundRect">
            <a:avLst>
              <a:gd name="adj" fmla="val 14286"/>
            </a:avLst>
          </a:prstGeom>
          <a:solidFill>
            <a:srgbClr val="2563EB"/>
          </a:solidFill>
          <a:ln/>
        </p:spPr>
      </p:sp>
      <p:sp>
        <p:nvSpPr>
          <p:cNvPr id="25" name="Text 23"/>
          <p:cNvSpPr/>
          <p:nvPr/>
        </p:nvSpPr>
        <p:spPr>
          <a:xfrm>
            <a:off x="5120640" y="4754880"/>
            <a:ext cx="1645920" cy="640080"/>
          </a:xfrm>
          <a:prstGeom prst="rect">
            <a:avLst/>
          </a:prstGeom>
          <a:noFill/>
          <a:ln/>
        </p:spPr>
        <p:txBody>
          <a:bodyPr wrap="square" rtlCol="0" anchor="ctr"/>
          <a:lstStyle/>
          <a:p>
            <a:pPr algn="ctr" indent="0" marL="0">
              <a:lnSpc>
                <a:spcPct val="95000"/>
              </a:lnSpc>
              <a:buNone/>
            </a:pPr>
            <a:r>
              <a:rPr lang="en-US" sz="1200" b="1" dirty="0">
                <a:solidFill>
                  <a:srgbClr val="FFFFFF"/>
                </a:solidFill>
                <a:latin typeface="Calibri" pitchFamily="34" charset="0"/>
                <a:ea typeface="Calibri" pitchFamily="34" charset="-122"/>
                <a:cs typeface="Calibri" pitchFamily="34" charset="-120"/>
              </a:rPr>
              <a:t>Human</a:t>
            </a:r>
            <a:endParaRPr lang="en-US" sz="1200" dirty="0"/>
          </a:p>
          <a:p>
            <a:pPr algn="ctr" indent="0" marL="0">
              <a:lnSpc>
                <a:spcPct val="95000"/>
              </a:lnSpc>
              <a:buNone/>
            </a:pPr>
            <a:r>
              <a:rPr lang="en-US" sz="1200" b="1" dirty="0">
                <a:solidFill>
                  <a:srgbClr val="FFFFFF"/>
                </a:solidFill>
                <a:latin typeface="Calibri" pitchFamily="34" charset="0"/>
                <a:ea typeface="Calibri" pitchFamily="34" charset="-122"/>
                <a:cs typeface="Calibri" pitchFamily="34" charset="-120"/>
              </a:rPr>
              <a:t>Selects</a:t>
            </a:r>
            <a:endParaRPr lang="en-US" sz="1200" dirty="0"/>
          </a:p>
        </p:txBody>
      </p:sp>
      <p:sp>
        <p:nvSpPr>
          <p:cNvPr id="26" name="Text 24"/>
          <p:cNvSpPr/>
          <p:nvPr/>
        </p:nvSpPr>
        <p:spPr>
          <a:xfrm>
            <a:off x="6812280" y="4754880"/>
            <a:ext cx="457200" cy="640080"/>
          </a:xfrm>
          <a:prstGeom prst="rect">
            <a:avLst/>
          </a:prstGeom>
          <a:noFill/>
          <a:ln/>
        </p:spPr>
        <p:txBody>
          <a:bodyPr wrap="square" rtlCol="0" anchor="ctr"/>
          <a:lstStyle/>
          <a:p>
            <a:pPr algn="ctr" indent="0" marL="0">
              <a:buNone/>
            </a:pPr>
            <a:r>
              <a:rPr lang="en-US" sz="2200" dirty="0">
                <a:solidFill>
                  <a:srgbClr val="2563EB"/>
                </a:solidFill>
                <a:latin typeface="Calibri" pitchFamily="34" charset="0"/>
                <a:ea typeface="Calibri" pitchFamily="34" charset="-122"/>
                <a:cs typeface="Calibri" pitchFamily="34" charset="-120"/>
              </a:rPr>
              <a:t>➜</a:t>
            </a:r>
            <a:endParaRPr lang="en-US" sz="2200" dirty="0"/>
          </a:p>
        </p:txBody>
      </p:sp>
      <p:sp>
        <p:nvSpPr>
          <p:cNvPr id="27" name="Shape 25"/>
          <p:cNvSpPr/>
          <p:nvPr/>
        </p:nvSpPr>
        <p:spPr>
          <a:xfrm>
            <a:off x="7315200" y="4754880"/>
            <a:ext cx="1645920" cy="640080"/>
          </a:xfrm>
          <a:prstGeom prst="roundRect">
            <a:avLst>
              <a:gd name="adj" fmla="val 14286"/>
            </a:avLst>
          </a:prstGeom>
          <a:solidFill>
            <a:srgbClr val="1E3A5F"/>
          </a:solidFill>
          <a:ln/>
        </p:spPr>
      </p:sp>
      <p:sp>
        <p:nvSpPr>
          <p:cNvPr id="28" name="Text 26"/>
          <p:cNvSpPr/>
          <p:nvPr/>
        </p:nvSpPr>
        <p:spPr>
          <a:xfrm>
            <a:off x="7315200" y="4754880"/>
            <a:ext cx="1645920" cy="640080"/>
          </a:xfrm>
          <a:prstGeom prst="rect">
            <a:avLst/>
          </a:prstGeom>
          <a:noFill/>
          <a:ln/>
        </p:spPr>
        <p:txBody>
          <a:bodyPr wrap="square" rtlCol="0" anchor="ctr"/>
          <a:lstStyle/>
          <a:p>
            <a:pPr algn="ctr" indent="0" marL="0">
              <a:lnSpc>
                <a:spcPct val="95000"/>
              </a:lnSpc>
              <a:buNone/>
            </a:pPr>
            <a:r>
              <a:rPr lang="en-US" sz="1200" b="1" dirty="0">
                <a:solidFill>
                  <a:srgbClr val="FFFFFF"/>
                </a:solidFill>
                <a:latin typeface="Calibri" pitchFamily="34" charset="0"/>
                <a:ea typeface="Calibri" pitchFamily="34" charset="-122"/>
                <a:cs typeface="Calibri" pitchFamily="34" charset="-120"/>
              </a:rPr>
              <a:t>3 Platform</a:t>
            </a:r>
            <a:endParaRPr lang="en-US" sz="1200" dirty="0"/>
          </a:p>
          <a:p>
            <a:pPr algn="ctr" indent="0" marL="0">
              <a:lnSpc>
                <a:spcPct val="95000"/>
              </a:lnSpc>
              <a:buNone/>
            </a:pPr>
            <a:r>
              <a:rPr lang="en-US" sz="1200" b="1" dirty="0">
                <a:solidFill>
                  <a:srgbClr val="FFFFFF"/>
                </a:solidFill>
                <a:latin typeface="Calibri" pitchFamily="34" charset="0"/>
                <a:ea typeface="Calibri" pitchFamily="34" charset="-122"/>
                <a:cs typeface="Calibri" pitchFamily="34" charset="-120"/>
              </a:rPr>
              <a:t>Adaptations</a:t>
            </a:r>
            <a:endParaRPr lang="en-US" sz="1200" dirty="0"/>
          </a:p>
        </p:txBody>
      </p:sp>
      <p:sp>
        <p:nvSpPr>
          <p:cNvPr id="29" name="Text 27"/>
          <p:cNvSpPr/>
          <p:nvPr/>
        </p:nvSpPr>
        <p:spPr>
          <a:xfrm>
            <a:off x="9006840" y="4754880"/>
            <a:ext cx="457200" cy="640080"/>
          </a:xfrm>
          <a:prstGeom prst="rect">
            <a:avLst/>
          </a:prstGeom>
          <a:noFill/>
          <a:ln/>
        </p:spPr>
        <p:txBody>
          <a:bodyPr wrap="square" rtlCol="0" anchor="ctr"/>
          <a:lstStyle/>
          <a:p>
            <a:pPr algn="ctr" indent="0" marL="0">
              <a:buNone/>
            </a:pPr>
            <a:r>
              <a:rPr lang="en-US" sz="2200" dirty="0">
                <a:solidFill>
                  <a:srgbClr val="2563EB"/>
                </a:solidFill>
                <a:latin typeface="Calibri" pitchFamily="34" charset="0"/>
                <a:ea typeface="Calibri" pitchFamily="34" charset="-122"/>
                <a:cs typeface="Calibri" pitchFamily="34" charset="-120"/>
              </a:rPr>
              <a:t>➜</a:t>
            </a:r>
            <a:endParaRPr lang="en-US" sz="2200" dirty="0"/>
          </a:p>
        </p:txBody>
      </p:sp>
      <p:sp>
        <p:nvSpPr>
          <p:cNvPr id="30" name="Shape 28"/>
          <p:cNvSpPr/>
          <p:nvPr/>
        </p:nvSpPr>
        <p:spPr>
          <a:xfrm>
            <a:off x="9509760" y="4754880"/>
            <a:ext cx="1645920" cy="640080"/>
          </a:xfrm>
          <a:prstGeom prst="roundRect">
            <a:avLst>
              <a:gd name="adj" fmla="val 14286"/>
            </a:avLst>
          </a:prstGeom>
          <a:solidFill>
            <a:srgbClr val="2563EB"/>
          </a:solidFill>
          <a:ln/>
        </p:spPr>
      </p:sp>
      <p:sp>
        <p:nvSpPr>
          <p:cNvPr id="31" name="Text 29"/>
          <p:cNvSpPr/>
          <p:nvPr/>
        </p:nvSpPr>
        <p:spPr>
          <a:xfrm>
            <a:off x="9509760" y="4754880"/>
            <a:ext cx="1645920" cy="640080"/>
          </a:xfrm>
          <a:prstGeom prst="rect">
            <a:avLst/>
          </a:prstGeom>
          <a:noFill/>
          <a:ln/>
        </p:spPr>
        <p:txBody>
          <a:bodyPr wrap="square" rtlCol="0" anchor="ctr"/>
          <a:lstStyle/>
          <a:p>
            <a:pPr algn="ctr" indent="0" marL="0">
              <a:lnSpc>
                <a:spcPct val="95000"/>
              </a:lnSpc>
              <a:buNone/>
            </a:pPr>
            <a:r>
              <a:rPr lang="en-US" sz="1200" b="1" dirty="0">
                <a:solidFill>
                  <a:srgbClr val="FFFFFF"/>
                </a:solidFill>
                <a:latin typeface="Calibri" pitchFamily="34" charset="0"/>
                <a:ea typeface="Calibri" pitchFamily="34" charset="-122"/>
                <a:cs typeface="Calibri" pitchFamily="34" charset="-120"/>
              </a:rPr>
              <a:t>One-Click</a:t>
            </a:r>
            <a:endParaRPr lang="en-US" sz="1200" dirty="0"/>
          </a:p>
          <a:p>
            <a:pPr algn="ctr" indent="0" marL="0">
              <a:lnSpc>
                <a:spcPct val="95000"/>
              </a:lnSpc>
              <a:buNone/>
            </a:pPr>
            <a:r>
              <a:rPr lang="en-US" sz="1200" b="1" dirty="0">
                <a:solidFill>
                  <a:srgbClr val="FFFFFF"/>
                </a:solidFill>
                <a:latin typeface="Calibri" pitchFamily="34" charset="0"/>
                <a:ea typeface="Calibri" pitchFamily="34" charset="-122"/>
                <a:cs typeface="Calibri" pitchFamily="34" charset="-120"/>
              </a:rPr>
              <a:t>Publish</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1E3A5F"/>
          </a:solidFill>
          <a:ln/>
        </p:spPr>
      </p:sp>
      <p:sp>
        <p:nvSpPr>
          <p:cNvPr id="3" name="Text 1"/>
          <p:cNvSpPr/>
          <p:nvPr/>
        </p:nvSpPr>
        <p:spPr>
          <a:xfrm>
            <a:off x="548640" y="182880"/>
            <a:ext cx="10972800" cy="6400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System Architecture</a:t>
            </a:r>
            <a:endParaRPr lang="en-US" sz="2800" dirty="0"/>
          </a:p>
        </p:txBody>
      </p:sp>
      <p:sp>
        <p:nvSpPr>
          <p:cNvPr id="4" name="Shape 2"/>
          <p:cNvSpPr/>
          <p:nvPr/>
        </p:nvSpPr>
        <p:spPr>
          <a:xfrm>
            <a:off x="0" y="1005840"/>
            <a:ext cx="12192000" cy="54864"/>
          </a:xfrm>
          <a:prstGeom prst="rect">
            <a:avLst/>
          </a:prstGeom>
          <a:solidFill>
            <a:srgbClr val="2563EB"/>
          </a:solidFill>
          <a:ln/>
        </p:spPr>
      </p:sp>
      <p:sp>
        <p:nvSpPr>
          <p:cNvPr id="5" name="Text 3"/>
          <p:cNvSpPr/>
          <p:nvPr/>
        </p:nvSpPr>
        <p:spPr>
          <a:xfrm>
            <a:off x="548640" y="6309360"/>
            <a:ext cx="10972800" cy="36576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Ayodele Oluwafimidaraayo</a:t>
            </a:r>
            <a:pPr indent="0" marL="0">
              <a:buNone/>
            </a:pPr>
            <a:r>
              <a:rPr lang="en-US" sz="1000" dirty="0">
                <a:solidFill>
                  <a:srgbClr val="64748B"/>
                </a:solidFill>
                <a:latin typeface="Calibri" pitchFamily="34" charset="0"/>
                <a:ea typeface="Calibri" pitchFamily="34" charset="-122"/>
                <a:cs typeface="Calibri" pitchFamily="34" charset="-120"/>
              </a:rPr>
              <a:t>   |   Slide 4 of 17</a:t>
            </a:r>
            <a:endParaRPr lang="en-US" sz="1000" dirty="0"/>
          </a:p>
        </p:txBody>
      </p:sp>
      <p:sp>
        <p:nvSpPr>
          <p:cNvPr id="6" name="Shape 4"/>
          <p:cNvSpPr/>
          <p:nvPr/>
        </p:nvSpPr>
        <p:spPr>
          <a:xfrm>
            <a:off x="457200" y="1463040"/>
            <a:ext cx="2286000" cy="640080"/>
          </a:xfrm>
          <a:prstGeom prst="roundRect">
            <a:avLst>
              <a:gd name="adj" fmla="val 14286"/>
            </a:avLst>
          </a:prstGeom>
          <a:solidFill>
            <a:srgbClr val="2563EB"/>
          </a:solidFill>
          <a:ln/>
        </p:spPr>
      </p:sp>
      <p:sp>
        <p:nvSpPr>
          <p:cNvPr id="7" name="Text 5"/>
          <p:cNvSpPr/>
          <p:nvPr/>
        </p:nvSpPr>
        <p:spPr>
          <a:xfrm>
            <a:off x="457200" y="1463040"/>
            <a:ext cx="2286000" cy="640080"/>
          </a:xfrm>
          <a:prstGeom prst="rect">
            <a:avLst/>
          </a:prstGeom>
          <a:noFill/>
          <a:ln/>
        </p:spPr>
        <p:txBody>
          <a:bodyPr wrap="square" rtlCol="0" anchor="ctr"/>
          <a:lstStyle/>
          <a:p>
            <a:pPr algn="ctr" indent="0" marL="0">
              <a:lnSpc>
                <a:spcPct val="90000"/>
              </a:lnSpc>
              <a:buNone/>
            </a:pPr>
            <a:r>
              <a:rPr lang="en-US" sz="1200" b="1" dirty="0">
                <a:solidFill>
                  <a:srgbClr val="FFFFFF"/>
                </a:solidFill>
                <a:latin typeface="Calibri" pitchFamily="34" charset="0"/>
                <a:ea typeface="Calibri" pitchFamily="34" charset="-122"/>
                <a:cs typeface="Calibri" pitchFamily="34" charset="-120"/>
              </a:rPr>
              <a:t>React Frontend</a:t>
            </a:r>
            <a:endParaRPr lang="en-US" sz="1200" dirty="0"/>
          </a:p>
        </p:txBody>
      </p:sp>
      <p:sp>
        <p:nvSpPr>
          <p:cNvPr id="8" name="Shape 6"/>
          <p:cNvSpPr/>
          <p:nvPr/>
        </p:nvSpPr>
        <p:spPr>
          <a:xfrm>
            <a:off x="3474720" y="1463040"/>
            <a:ext cx="2560320" cy="640080"/>
          </a:xfrm>
          <a:prstGeom prst="roundRect">
            <a:avLst>
              <a:gd name="adj" fmla="val 14286"/>
            </a:avLst>
          </a:prstGeom>
          <a:solidFill>
            <a:srgbClr val="1E3A5F"/>
          </a:solidFill>
          <a:ln/>
        </p:spPr>
      </p:sp>
      <p:sp>
        <p:nvSpPr>
          <p:cNvPr id="9" name="Text 7"/>
          <p:cNvSpPr/>
          <p:nvPr/>
        </p:nvSpPr>
        <p:spPr>
          <a:xfrm>
            <a:off x="3474720" y="1463040"/>
            <a:ext cx="2560320" cy="640080"/>
          </a:xfrm>
          <a:prstGeom prst="rect">
            <a:avLst/>
          </a:prstGeom>
          <a:noFill/>
          <a:ln/>
        </p:spPr>
        <p:txBody>
          <a:bodyPr wrap="square" rtlCol="0" anchor="ctr"/>
          <a:lstStyle/>
          <a:p>
            <a:pPr algn="ctr" indent="0" marL="0">
              <a:lnSpc>
                <a:spcPct val="90000"/>
              </a:lnSpc>
              <a:buNone/>
            </a:pPr>
            <a:r>
              <a:rPr lang="en-US" sz="1200" b="1" dirty="0">
                <a:solidFill>
                  <a:srgbClr val="FFFFFF"/>
                </a:solidFill>
                <a:latin typeface="Calibri" pitchFamily="34" charset="0"/>
                <a:ea typeface="Calibri" pitchFamily="34" charset="-122"/>
                <a:cs typeface="Calibri" pitchFamily="34" charset="-120"/>
              </a:rPr>
              <a:t>n8n Workflows (2)</a:t>
            </a:r>
            <a:endParaRPr lang="en-US" sz="1200" dirty="0"/>
          </a:p>
        </p:txBody>
      </p:sp>
      <p:sp>
        <p:nvSpPr>
          <p:cNvPr id="10" name="Shape 8"/>
          <p:cNvSpPr/>
          <p:nvPr/>
        </p:nvSpPr>
        <p:spPr>
          <a:xfrm>
            <a:off x="6766560" y="1463040"/>
            <a:ext cx="2560320" cy="640080"/>
          </a:xfrm>
          <a:prstGeom prst="roundRect">
            <a:avLst>
              <a:gd name="adj" fmla="val 14286"/>
            </a:avLst>
          </a:prstGeom>
          <a:solidFill>
            <a:srgbClr val="2563EB"/>
          </a:solidFill>
          <a:ln/>
        </p:spPr>
      </p:sp>
      <p:sp>
        <p:nvSpPr>
          <p:cNvPr id="11" name="Text 9"/>
          <p:cNvSpPr/>
          <p:nvPr/>
        </p:nvSpPr>
        <p:spPr>
          <a:xfrm>
            <a:off x="6766560" y="1463040"/>
            <a:ext cx="2560320" cy="640080"/>
          </a:xfrm>
          <a:prstGeom prst="rect">
            <a:avLst/>
          </a:prstGeom>
          <a:noFill/>
          <a:ln/>
        </p:spPr>
        <p:txBody>
          <a:bodyPr wrap="square" rtlCol="0" anchor="ctr"/>
          <a:lstStyle/>
          <a:p>
            <a:pPr algn="ctr" indent="0" marL="0">
              <a:lnSpc>
                <a:spcPct val="90000"/>
              </a:lnSpc>
              <a:buNone/>
            </a:pPr>
            <a:r>
              <a:rPr lang="en-US" sz="1200" b="1" dirty="0">
                <a:solidFill>
                  <a:srgbClr val="FFFFFF"/>
                </a:solidFill>
                <a:latin typeface="Calibri" pitchFamily="34" charset="0"/>
                <a:ea typeface="Calibri" pitchFamily="34" charset="-122"/>
                <a:cs typeface="Calibri" pitchFamily="34" charset="-120"/>
              </a:rPr>
              <a:t>Supabase</a:t>
            </a:r>
            <a:endParaRPr lang="en-US" sz="1200" dirty="0"/>
          </a:p>
          <a:p>
            <a:pPr algn="ctr" indent="0" marL="0">
              <a:lnSpc>
                <a:spcPct val="90000"/>
              </a:lnSpc>
              <a:buNone/>
            </a:pPr>
            <a:r>
              <a:rPr lang="en-US" sz="1200" b="1" dirty="0">
                <a:solidFill>
                  <a:srgbClr val="FFFFFF"/>
                </a:solidFill>
                <a:latin typeface="Calibri" pitchFamily="34" charset="0"/>
                <a:ea typeface="Calibri" pitchFamily="34" charset="-122"/>
                <a:cs typeface="Calibri" pitchFamily="34" charset="-120"/>
              </a:rPr>
              <a:t>(PostgreSQL + Auth + RLS)</a:t>
            </a:r>
            <a:endParaRPr lang="en-US" sz="1200" dirty="0"/>
          </a:p>
        </p:txBody>
      </p:sp>
      <p:sp>
        <p:nvSpPr>
          <p:cNvPr id="12" name="Shape 10"/>
          <p:cNvSpPr/>
          <p:nvPr/>
        </p:nvSpPr>
        <p:spPr>
          <a:xfrm>
            <a:off x="10058400" y="1463040"/>
            <a:ext cx="1828800" cy="640080"/>
          </a:xfrm>
          <a:prstGeom prst="roundRect">
            <a:avLst>
              <a:gd name="adj" fmla="val 14286"/>
            </a:avLst>
          </a:prstGeom>
          <a:solidFill>
            <a:srgbClr val="1E3A5F"/>
          </a:solidFill>
          <a:ln/>
        </p:spPr>
      </p:sp>
      <p:sp>
        <p:nvSpPr>
          <p:cNvPr id="13" name="Text 11"/>
          <p:cNvSpPr/>
          <p:nvPr/>
        </p:nvSpPr>
        <p:spPr>
          <a:xfrm>
            <a:off x="10058400" y="1463040"/>
            <a:ext cx="1828800" cy="640080"/>
          </a:xfrm>
          <a:prstGeom prst="rect">
            <a:avLst/>
          </a:prstGeom>
          <a:noFill/>
          <a:ln/>
        </p:spPr>
        <p:txBody>
          <a:bodyPr wrap="square" rtlCol="0" anchor="ctr"/>
          <a:lstStyle/>
          <a:p>
            <a:pPr algn="ctr" indent="0" marL="0">
              <a:lnSpc>
                <a:spcPct val="90000"/>
              </a:lnSpc>
              <a:buNone/>
            </a:pPr>
            <a:r>
              <a:rPr lang="en-US" sz="1200" b="1" dirty="0">
                <a:solidFill>
                  <a:srgbClr val="FFFFFF"/>
                </a:solidFill>
                <a:latin typeface="Calibri" pitchFamily="34" charset="0"/>
                <a:ea typeface="Calibri" pitchFamily="34" charset="-122"/>
                <a:cs typeface="Calibri" pitchFamily="34" charset="-120"/>
              </a:rPr>
              <a:t>Platform APIs</a:t>
            </a:r>
            <a:endParaRPr lang="en-US" sz="1200" dirty="0"/>
          </a:p>
        </p:txBody>
      </p:sp>
      <p:sp>
        <p:nvSpPr>
          <p:cNvPr id="14" name="Text 12"/>
          <p:cNvSpPr/>
          <p:nvPr/>
        </p:nvSpPr>
        <p:spPr>
          <a:xfrm>
            <a:off x="2834640" y="1463040"/>
            <a:ext cx="548640" cy="640080"/>
          </a:xfrm>
          <a:prstGeom prst="rect">
            <a:avLst/>
          </a:prstGeom>
          <a:noFill/>
          <a:ln/>
        </p:spPr>
        <p:txBody>
          <a:bodyPr wrap="square" rtlCol="0" anchor="ctr"/>
          <a:lstStyle/>
          <a:p>
            <a:pPr algn="ctr" indent="0" marL="0">
              <a:buNone/>
            </a:pPr>
            <a:r>
              <a:rPr lang="en-US" sz="2200" dirty="0">
                <a:solidFill>
                  <a:srgbClr val="2563EB"/>
                </a:solidFill>
              </a:rPr>
              <a:t>➜</a:t>
            </a:r>
            <a:endParaRPr lang="en-US" sz="2200" dirty="0"/>
          </a:p>
        </p:txBody>
      </p:sp>
      <p:sp>
        <p:nvSpPr>
          <p:cNvPr id="15" name="Text 13"/>
          <p:cNvSpPr/>
          <p:nvPr/>
        </p:nvSpPr>
        <p:spPr>
          <a:xfrm>
            <a:off x="6126480" y="1463040"/>
            <a:ext cx="548640" cy="640080"/>
          </a:xfrm>
          <a:prstGeom prst="rect">
            <a:avLst/>
          </a:prstGeom>
          <a:noFill/>
          <a:ln/>
        </p:spPr>
        <p:txBody>
          <a:bodyPr wrap="square" rtlCol="0" anchor="ctr"/>
          <a:lstStyle/>
          <a:p>
            <a:pPr algn="ctr" indent="0" marL="0">
              <a:buNone/>
            </a:pPr>
            <a:r>
              <a:rPr lang="en-US" sz="2200" dirty="0">
                <a:solidFill>
                  <a:srgbClr val="2563EB"/>
                </a:solidFill>
              </a:rPr>
              <a:t>➜</a:t>
            </a:r>
            <a:endParaRPr lang="en-US" sz="2200" dirty="0"/>
          </a:p>
        </p:txBody>
      </p:sp>
      <p:sp>
        <p:nvSpPr>
          <p:cNvPr id="16" name="Text 14"/>
          <p:cNvSpPr/>
          <p:nvPr/>
        </p:nvSpPr>
        <p:spPr>
          <a:xfrm>
            <a:off x="9418320" y="1463040"/>
            <a:ext cx="548640" cy="640080"/>
          </a:xfrm>
          <a:prstGeom prst="rect">
            <a:avLst/>
          </a:prstGeom>
          <a:noFill/>
          <a:ln/>
        </p:spPr>
        <p:txBody>
          <a:bodyPr wrap="square" rtlCol="0" anchor="ctr"/>
          <a:lstStyle/>
          <a:p>
            <a:pPr algn="ctr" indent="0" marL="0">
              <a:buNone/>
            </a:pPr>
            <a:r>
              <a:rPr lang="en-US" sz="2200" dirty="0">
                <a:solidFill>
                  <a:srgbClr val="2563EB"/>
                </a:solidFill>
              </a:rPr>
              <a:t>➜</a:t>
            </a:r>
            <a:endParaRPr lang="en-US" sz="2200" dirty="0"/>
          </a:p>
        </p:txBody>
      </p:sp>
      <p:sp>
        <p:nvSpPr>
          <p:cNvPr id="17" name="Text 15"/>
          <p:cNvSpPr/>
          <p:nvPr/>
        </p:nvSpPr>
        <p:spPr>
          <a:xfrm>
            <a:off x="548640" y="2468880"/>
            <a:ext cx="5486400" cy="365760"/>
          </a:xfrm>
          <a:prstGeom prst="rect">
            <a:avLst/>
          </a:prstGeom>
          <a:noFill/>
          <a:ln/>
        </p:spPr>
        <p:txBody>
          <a:bodyPr wrap="square" rtlCol="0" anchor="ctr"/>
          <a:lstStyle/>
          <a:p>
            <a:pPr indent="0" marL="0">
              <a:buNone/>
            </a:pPr>
            <a:r>
              <a:rPr lang="en-US" sz="1600" b="1" dirty="0">
                <a:solidFill>
                  <a:srgbClr val="1E3A5F"/>
                </a:solidFill>
                <a:latin typeface="Calibri" pitchFamily="34" charset="0"/>
                <a:ea typeface="Calibri" pitchFamily="34" charset="-122"/>
                <a:cs typeface="Calibri" pitchFamily="34" charset="-120"/>
              </a:rPr>
              <a:t>2 n8n Workflows:</a:t>
            </a:r>
            <a:endParaRPr lang="en-US" sz="1600" dirty="0"/>
          </a:p>
        </p:txBody>
      </p:sp>
      <p:sp>
        <p:nvSpPr>
          <p:cNvPr id="18" name="Shape 16"/>
          <p:cNvSpPr/>
          <p:nvPr/>
        </p:nvSpPr>
        <p:spPr>
          <a:xfrm>
            <a:off x="731520" y="2926080"/>
            <a:ext cx="5303520" cy="640080"/>
          </a:xfrm>
          <a:prstGeom prst="roundRect">
            <a:avLst>
              <a:gd name="adj" fmla="val 8571"/>
            </a:avLst>
          </a:prstGeom>
          <a:solidFill>
            <a:srgbClr val="F1F5F9"/>
          </a:solidFill>
          <a:ln/>
        </p:spPr>
      </p:sp>
      <p:sp>
        <p:nvSpPr>
          <p:cNvPr id="19" name="Text 17"/>
          <p:cNvSpPr/>
          <p:nvPr/>
        </p:nvSpPr>
        <p:spPr>
          <a:xfrm>
            <a:off x="914400" y="2971800"/>
            <a:ext cx="4937760" cy="292608"/>
          </a:xfrm>
          <a:prstGeom prst="rect">
            <a:avLst/>
          </a:prstGeom>
          <a:noFill/>
          <a:ln/>
        </p:spPr>
        <p:txBody>
          <a:bodyPr wrap="square"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Content Pipeline</a:t>
            </a:r>
            <a:endParaRPr lang="en-US" sz="1400" dirty="0"/>
          </a:p>
        </p:txBody>
      </p:sp>
      <p:sp>
        <p:nvSpPr>
          <p:cNvPr id="20" name="Text 18"/>
          <p:cNvSpPr/>
          <p:nvPr/>
        </p:nvSpPr>
        <p:spPr>
          <a:xfrm>
            <a:off x="914400" y="3246120"/>
            <a:ext cx="4937760" cy="256032"/>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Intake, drafts, adaptation, publishing (107 nodes)</a:t>
            </a:r>
            <a:endParaRPr lang="en-US" sz="1200" dirty="0"/>
          </a:p>
        </p:txBody>
      </p:sp>
      <p:sp>
        <p:nvSpPr>
          <p:cNvPr id="21" name="Shape 19"/>
          <p:cNvSpPr/>
          <p:nvPr/>
        </p:nvSpPr>
        <p:spPr>
          <a:xfrm>
            <a:off x="731520" y="3703320"/>
            <a:ext cx="5303520" cy="640080"/>
          </a:xfrm>
          <a:prstGeom prst="roundRect">
            <a:avLst>
              <a:gd name="adj" fmla="val 8571"/>
            </a:avLst>
          </a:prstGeom>
          <a:solidFill>
            <a:srgbClr val="F1F5F9"/>
          </a:solidFill>
          <a:ln/>
        </p:spPr>
      </p:sp>
      <p:sp>
        <p:nvSpPr>
          <p:cNvPr id="22" name="Text 20"/>
          <p:cNvSpPr/>
          <p:nvPr/>
        </p:nvSpPr>
        <p:spPr>
          <a:xfrm>
            <a:off x="914400" y="3749040"/>
            <a:ext cx="4937760" cy="292608"/>
          </a:xfrm>
          <a:prstGeom prst="rect">
            <a:avLst/>
          </a:prstGeom>
          <a:noFill/>
          <a:ln/>
        </p:spPr>
        <p:txBody>
          <a:bodyPr wrap="square"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Operations</a:t>
            </a:r>
            <a:endParaRPr lang="en-US" sz="1400" dirty="0"/>
          </a:p>
        </p:txBody>
      </p:sp>
      <p:sp>
        <p:nvSpPr>
          <p:cNvPr id="23" name="Text 21"/>
          <p:cNvSpPr/>
          <p:nvPr/>
        </p:nvSpPr>
        <p:spPr>
          <a:xfrm>
            <a:off x="914400" y="4023360"/>
            <a:ext cx="4937760" cy="256032"/>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OAuth token exchange + stale submission cleanup</a:t>
            </a:r>
            <a:endParaRPr lang="en-US" sz="1200" dirty="0"/>
          </a:p>
        </p:txBody>
      </p:sp>
      <p:sp>
        <p:nvSpPr>
          <p:cNvPr id="24" name="Text 22"/>
          <p:cNvSpPr/>
          <p:nvPr/>
        </p:nvSpPr>
        <p:spPr>
          <a:xfrm>
            <a:off x="6583680" y="2468880"/>
            <a:ext cx="4572000" cy="365760"/>
          </a:xfrm>
          <a:prstGeom prst="rect">
            <a:avLst/>
          </a:prstGeom>
          <a:noFill/>
          <a:ln/>
        </p:spPr>
        <p:txBody>
          <a:bodyPr wrap="square" rtlCol="0" anchor="ctr"/>
          <a:lstStyle/>
          <a:p>
            <a:pPr indent="0" marL="0">
              <a:buNone/>
            </a:pPr>
            <a:r>
              <a:rPr lang="en-US" sz="1600" b="1" dirty="0">
                <a:solidFill>
                  <a:srgbClr val="1E3A5F"/>
                </a:solidFill>
                <a:latin typeface="Calibri" pitchFamily="34" charset="0"/>
                <a:ea typeface="Calibri" pitchFamily="34" charset="-122"/>
                <a:cs typeface="Calibri" pitchFamily="34" charset="-120"/>
              </a:rPr>
              <a:t>Supabase Responsibilities:</a:t>
            </a:r>
            <a:endParaRPr lang="en-US" sz="1600" dirty="0"/>
          </a:p>
        </p:txBody>
      </p:sp>
      <p:sp>
        <p:nvSpPr>
          <p:cNvPr id="25" name="Text 23"/>
          <p:cNvSpPr/>
          <p:nvPr/>
        </p:nvSpPr>
        <p:spPr>
          <a:xfrm>
            <a:off x="6766560" y="2926080"/>
            <a:ext cx="5029200" cy="411480"/>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 State management (submissions, drafts, adaptations)</a:t>
            </a:r>
            <a:endParaRPr lang="en-US" sz="1200" dirty="0"/>
          </a:p>
        </p:txBody>
      </p:sp>
      <p:sp>
        <p:nvSpPr>
          <p:cNvPr id="26" name="Text 24"/>
          <p:cNvSpPr/>
          <p:nvPr/>
        </p:nvSpPr>
        <p:spPr>
          <a:xfrm>
            <a:off x="6766560" y="3429000"/>
            <a:ext cx="5029200" cy="411480"/>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 Row Level Security (RBAC at DB level)</a:t>
            </a:r>
            <a:endParaRPr lang="en-US" sz="1200" dirty="0"/>
          </a:p>
        </p:txBody>
      </p:sp>
      <p:sp>
        <p:nvSpPr>
          <p:cNvPr id="27" name="Text 25"/>
          <p:cNvSpPr/>
          <p:nvPr/>
        </p:nvSpPr>
        <p:spPr>
          <a:xfrm>
            <a:off x="6766560" y="3931920"/>
            <a:ext cx="5029200" cy="411480"/>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 Platform credential storage (encrypted)</a:t>
            </a:r>
            <a:endParaRPr lang="en-US" sz="1200" dirty="0"/>
          </a:p>
        </p:txBody>
      </p:sp>
      <p:sp>
        <p:nvSpPr>
          <p:cNvPr id="28" name="Text 26"/>
          <p:cNvSpPr/>
          <p:nvPr/>
        </p:nvSpPr>
        <p:spPr>
          <a:xfrm>
            <a:off x="6766560" y="4434840"/>
            <a:ext cx="5029200" cy="411480"/>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 Magic Link auth + invite token flow</a:t>
            </a:r>
            <a:endParaRPr lang="en-US" sz="1200" dirty="0"/>
          </a:p>
        </p:txBody>
      </p:sp>
      <p:sp>
        <p:nvSpPr>
          <p:cNvPr id="29" name="Text 27"/>
          <p:cNvSpPr/>
          <p:nvPr/>
        </p:nvSpPr>
        <p:spPr>
          <a:xfrm>
            <a:off x="6766560" y="4937760"/>
            <a:ext cx="5029200" cy="411480"/>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 Team membership &amp; role management</a:t>
            </a:r>
            <a:endParaRPr lang="en-US" sz="1200" dirty="0"/>
          </a:p>
        </p:txBody>
      </p:sp>
      <p:sp>
        <p:nvSpPr>
          <p:cNvPr id="30" name="Text 28"/>
          <p:cNvSpPr/>
          <p:nvPr/>
        </p:nvSpPr>
        <p:spPr>
          <a:xfrm>
            <a:off x="548640" y="5577840"/>
            <a:ext cx="10972800" cy="365760"/>
          </a:xfrm>
          <a:prstGeom prst="rect">
            <a:avLst/>
          </a:prstGeom>
          <a:noFill/>
          <a:ln/>
        </p:spPr>
        <p:txBody>
          <a:bodyPr wrap="square" rtlCol="0" anchor="ctr"/>
          <a:lstStyle/>
          <a:p>
            <a:pPr algn="ctr" indent="0" marL="0">
              <a:buNone/>
            </a:pPr>
            <a:r>
              <a:rPr lang="en-US" sz="1300" b="1" dirty="0">
                <a:solidFill>
                  <a:srgbClr val="2563EB"/>
                </a:solidFill>
                <a:latin typeface="Calibri" pitchFamily="34" charset="0"/>
                <a:ea typeface="Calibri" pitchFamily="34" charset="-122"/>
                <a:cs typeface="Calibri" pitchFamily="34" charset="-120"/>
              </a:rPr>
              <a:t>LinkedIn (live) | Twitter/X (built, credits depleted) | Resend Newsletter (live)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1E3A5F"/>
          </a:solidFill>
          <a:ln/>
        </p:spPr>
      </p:sp>
      <p:sp>
        <p:nvSpPr>
          <p:cNvPr id="3" name="Text 1"/>
          <p:cNvSpPr/>
          <p:nvPr/>
        </p:nvSpPr>
        <p:spPr>
          <a:xfrm>
            <a:off x="548640" y="182880"/>
            <a:ext cx="10972800" cy="6400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Content Pipeline — Content Intake &amp; Draft Generation</a:t>
            </a:r>
            <a:endParaRPr lang="en-US" sz="2800" dirty="0"/>
          </a:p>
        </p:txBody>
      </p:sp>
      <p:sp>
        <p:nvSpPr>
          <p:cNvPr id="4" name="Shape 2"/>
          <p:cNvSpPr/>
          <p:nvPr/>
        </p:nvSpPr>
        <p:spPr>
          <a:xfrm>
            <a:off x="0" y="1005840"/>
            <a:ext cx="12192000" cy="54864"/>
          </a:xfrm>
          <a:prstGeom prst="rect">
            <a:avLst/>
          </a:prstGeom>
          <a:solidFill>
            <a:srgbClr val="2563EB"/>
          </a:solidFill>
          <a:ln/>
        </p:spPr>
      </p:sp>
      <p:sp>
        <p:nvSpPr>
          <p:cNvPr id="5" name="Text 3"/>
          <p:cNvSpPr/>
          <p:nvPr/>
        </p:nvSpPr>
        <p:spPr>
          <a:xfrm>
            <a:off x="548640" y="6309360"/>
            <a:ext cx="10972800" cy="36576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Ayodele Oluwafimidaraayo</a:t>
            </a:r>
            <a:pPr indent="0" marL="0">
              <a:buNone/>
            </a:pPr>
            <a:r>
              <a:rPr lang="en-US" sz="1000" dirty="0">
                <a:solidFill>
                  <a:srgbClr val="64748B"/>
                </a:solidFill>
                <a:latin typeface="Calibri" pitchFamily="34" charset="0"/>
                <a:ea typeface="Calibri" pitchFamily="34" charset="-122"/>
                <a:cs typeface="Calibri" pitchFamily="34" charset="-120"/>
              </a:rPr>
              <a:t>   |   Slide 5 of 17</a:t>
            </a:r>
            <a:endParaRPr lang="en-US" sz="1000" dirty="0"/>
          </a:p>
        </p:txBody>
      </p:sp>
      <p:sp>
        <p:nvSpPr>
          <p:cNvPr id="6" name="Text 4"/>
          <p:cNvSpPr/>
          <p:nvPr/>
        </p:nvSpPr>
        <p:spPr>
          <a:xfrm>
            <a:off x="548640" y="1280160"/>
            <a:ext cx="5486400" cy="365760"/>
          </a:xfrm>
          <a:prstGeom prst="rect">
            <a:avLst/>
          </a:prstGeom>
          <a:noFill/>
          <a:ln/>
        </p:spPr>
        <p:txBody>
          <a:bodyPr wrap="square" rtlCol="0" anchor="ctr"/>
          <a:lstStyle/>
          <a:p>
            <a:pPr indent="0" marL="0">
              <a:buNone/>
            </a:pPr>
            <a:r>
              <a:rPr lang="en-US" sz="1600" b="1" dirty="0">
                <a:solidFill>
                  <a:srgbClr val="1E3A5F"/>
                </a:solidFill>
                <a:latin typeface="Calibri" pitchFamily="34" charset="0"/>
                <a:ea typeface="Calibri" pitchFamily="34" charset="-122"/>
                <a:cs typeface="Calibri" pitchFamily="34" charset="-120"/>
              </a:rPr>
              <a:t>Process Flow:</a:t>
            </a:r>
            <a:endParaRPr lang="en-US" sz="1600" dirty="0"/>
          </a:p>
        </p:txBody>
      </p:sp>
      <p:sp>
        <p:nvSpPr>
          <p:cNvPr id="7" name="Shape 5"/>
          <p:cNvSpPr/>
          <p:nvPr/>
        </p:nvSpPr>
        <p:spPr>
          <a:xfrm>
            <a:off x="731520" y="1737360"/>
            <a:ext cx="5943600" cy="438912"/>
          </a:xfrm>
          <a:prstGeom prst="roundRect">
            <a:avLst>
              <a:gd name="adj" fmla="val 12500"/>
            </a:avLst>
          </a:prstGeom>
          <a:solidFill>
            <a:srgbClr val="F1F5F9"/>
          </a:solidFill>
          <a:ln/>
        </p:spPr>
      </p:sp>
      <p:sp>
        <p:nvSpPr>
          <p:cNvPr id="8" name="Text 6"/>
          <p:cNvSpPr/>
          <p:nvPr/>
        </p:nvSpPr>
        <p:spPr>
          <a:xfrm>
            <a:off x="914400" y="1737360"/>
            <a:ext cx="5577840" cy="438912"/>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1.  Validate input (payload size, format, injection)</a:t>
            </a:r>
            <a:endParaRPr lang="en-US" sz="1300" dirty="0"/>
          </a:p>
        </p:txBody>
      </p:sp>
      <p:sp>
        <p:nvSpPr>
          <p:cNvPr id="9" name="Text 7"/>
          <p:cNvSpPr/>
          <p:nvPr/>
        </p:nvSpPr>
        <p:spPr>
          <a:xfrm>
            <a:off x="3474720" y="2121408"/>
            <a:ext cx="457200" cy="201168"/>
          </a:xfrm>
          <a:prstGeom prst="rect">
            <a:avLst/>
          </a:prstGeom>
          <a:noFill/>
          <a:ln/>
        </p:spPr>
        <p:txBody>
          <a:bodyPr wrap="square" rtlCol="0" anchor="ctr"/>
          <a:lstStyle/>
          <a:p>
            <a:pPr algn="ctr" indent="0" marL="0">
              <a:buNone/>
            </a:pPr>
            <a:r>
              <a:rPr lang="en-US" sz="1200" dirty="0">
                <a:solidFill>
                  <a:srgbClr val="2563EB"/>
                </a:solidFill>
                <a:latin typeface="Calibri" pitchFamily="34" charset="0"/>
                <a:ea typeface="Calibri" pitchFamily="34" charset="-122"/>
                <a:cs typeface="Calibri" pitchFamily="34" charset="-120"/>
              </a:rPr>
              <a:t>↓</a:t>
            </a:r>
            <a:endParaRPr lang="en-US" sz="1200" dirty="0"/>
          </a:p>
        </p:txBody>
      </p:sp>
      <p:sp>
        <p:nvSpPr>
          <p:cNvPr id="10" name="Shape 8"/>
          <p:cNvSpPr/>
          <p:nvPr/>
        </p:nvSpPr>
        <p:spPr>
          <a:xfrm>
            <a:off x="731520" y="2286000"/>
            <a:ext cx="5943600" cy="438912"/>
          </a:xfrm>
          <a:prstGeom prst="roundRect">
            <a:avLst>
              <a:gd name="adj" fmla="val 12500"/>
            </a:avLst>
          </a:prstGeom>
          <a:solidFill>
            <a:srgbClr val="F1F5F9"/>
          </a:solidFill>
          <a:ln/>
        </p:spPr>
      </p:sp>
      <p:sp>
        <p:nvSpPr>
          <p:cNvPr id="11" name="Text 9"/>
          <p:cNvSpPr/>
          <p:nvPr/>
        </p:nvSpPr>
        <p:spPr>
          <a:xfrm>
            <a:off x="914400" y="2286000"/>
            <a:ext cx="5577840" cy="438912"/>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2.  Deduplication check (content hash + 10-min window)</a:t>
            </a:r>
            <a:endParaRPr lang="en-US" sz="1300" dirty="0"/>
          </a:p>
        </p:txBody>
      </p:sp>
      <p:sp>
        <p:nvSpPr>
          <p:cNvPr id="12" name="Text 10"/>
          <p:cNvSpPr/>
          <p:nvPr/>
        </p:nvSpPr>
        <p:spPr>
          <a:xfrm>
            <a:off x="3474720" y="2670048"/>
            <a:ext cx="457200" cy="201168"/>
          </a:xfrm>
          <a:prstGeom prst="rect">
            <a:avLst/>
          </a:prstGeom>
          <a:noFill/>
          <a:ln/>
        </p:spPr>
        <p:txBody>
          <a:bodyPr wrap="square" rtlCol="0" anchor="ctr"/>
          <a:lstStyle/>
          <a:p>
            <a:pPr algn="ctr" indent="0" marL="0">
              <a:buNone/>
            </a:pPr>
            <a:r>
              <a:rPr lang="en-US" sz="1200" dirty="0">
                <a:solidFill>
                  <a:srgbClr val="2563EB"/>
                </a:solidFill>
                <a:latin typeface="Calibri" pitchFamily="34" charset="0"/>
                <a:ea typeface="Calibri" pitchFamily="34" charset="-122"/>
                <a:cs typeface="Calibri" pitchFamily="34" charset="-120"/>
              </a:rPr>
              <a:t>↓</a:t>
            </a:r>
            <a:endParaRPr lang="en-US" sz="1200" dirty="0"/>
          </a:p>
        </p:txBody>
      </p:sp>
      <p:sp>
        <p:nvSpPr>
          <p:cNvPr id="13" name="Shape 11"/>
          <p:cNvSpPr/>
          <p:nvPr/>
        </p:nvSpPr>
        <p:spPr>
          <a:xfrm>
            <a:off x="731520" y="2834640"/>
            <a:ext cx="5943600" cy="438912"/>
          </a:xfrm>
          <a:prstGeom prst="roundRect">
            <a:avLst>
              <a:gd name="adj" fmla="val 12500"/>
            </a:avLst>
          </a:prstGeom>
          <a:solidFill>
            <a:srgbClr val="F1F5F9"/>
          </a:solidFill>
          <a:ln/>
        </p:spPr>
      </p:sp>
      <p:sp>
        <p:nvSpPr>
          <p:cNvPr id="14" name="Text 12"/>
          <p:cNvSpPr/>
          <p:nvPr/>
        </p:nvSpPr>
        <p:spPr>
          <a:xfrm>
            <a:off x="914400" y="2834640"/>
            <a:ext cx="5577840" cy="438912"/>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3.  URL content extraction (if URL provided)</a:t>
            </a:r>
            <a:endParaRPr lang="en-US" sz="1300" dirty="0"/>
          </a:p>
        </p:txBody>
      </p:sp>
      <p:sp>
        <p:nvSpPr>
          <p:cNvPr id="15" name="Text 13"/>
          <p:cNvSpPr/>
          <p:nvPr/>
        </p:nvSpPr>
        <p:spPr>
          <a:xfrm>
            <a:off x="3474720" y="3218688"/>
            <a:ext cx="457200" cy="201168"/>
          </a:xfrm>
          <a:prstGeom prst="rect">
            <a:avLst/>
          </a:prstGeom>
          <a:noFill/>
          <a:ln/>
        </p:spPr>
        <p:txBody>
          <a:bodyPr wrap="square" rtlCol="0" anchor="ctr"/>
          <a:lstStyle/>
          <a:p>
            <a:pPr algn="ctr" indent="0" marL="0">
              <a:buNone/>
            </a:pPr>
            <a:r>
              <a:rPr lang="en-US" sz="1200" dirty="0">
                <a:solidFill>
                  <a:srgbClr val="2563EB"/>
                </a:solidFill>
                <a:latin typeface="Calibri" pitchFamily="34" charset="0"/>
                <a:ea typeface="Calibri" pitchFamily="34" charset="-122"/>
                <a:cs typeface="Calibri" pitchFamily="34" charset="-120"/>
              </a:rPr>
              <a:t>↓</a:t>
            </a:r>
            <a:endParaRPr lang="en-US" sz="1200" dirty="0"/>
          </a:p>
        </p:txBody>
      </p:sp>
      <p:sp>
        <p:nvSpPr>
          <p:cNvPr id="16" name="Shape 14"/>
          <p:cNvSpPr/>
          <p:nvPr/>
        </p:nvSpPr>
        <p:spPr>
          <a:xfrm>
            <a:off x="731520" y="3383280"/>
            <a:ext cx="5943600" cy="438912"/>
          </a:xfrm>
          <a:prstGeom prst="roundRect">
            <a:avLst>
              <a:gd name="adj" fmla="val 12500"/>
            </a:avLst>
          </a:prstGeom>
          <a:solidFill>
            <a:srgbClr val="F1F5F9"/>
          </a:solidFill>
          <a:ln/>
        </p:spPr>
      </p:sp>
      <p:sp>
        <p:nvSpPr>
          <p:cNvPr id="17" name="Text 15"/>
          <p:cNvSpPr/>
          <p:nvPr/>
        </p:nvSpPr>
        <p:spPr>
          <a:xfrm>
            <a:off x="914400" y="3383280"/>
            <a:ext cx="5577840" cy="438912"/>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4.  Generate Draft 1: Contrarian angle</a:t>
            </a:r>
            <a:endParaRPr lang="en-US" sz="1300" dirty="0"/>
          </a:p>
        </p:txBody>
      </p:sp>
      <p:sp>
        <p:nvSpPr>
          <p:cNvPr id="18" name="Text 16"/>
          <p:cNvSpPr/>
          <p:nvPr/>
        </p:nvSpPr>
        <p:spPr>
          <a:xfrm>
            <a:off x="3474720" y="3767328"/>
            <a:ext cx="457200" cy="201168"/>
          </a:xfrm>
          <a:prstGeom prst="rect">
            <a:avLst/>
          </a:prstGeom>
          <a:noFill/>
          <a:ln/>
        </p:spPr>
        <p:txBody>
          <a:bodyPr wrap="square" rtlCol="0" anchor="ctr"/>
          <a:lstStyle/>
          <a:p>
            <a:pPr algn="ctr" indent="0" marL="0">
              <a:buNone/>
            </a:pPr>
            <a:r>
              <a:rPr lang="en-US" sz="1200" dirty="0">
                <a:solidFill>
                  <a:srgbClr val="2563EB"/>
                </a:solidFill>
                <a:latin typeface="Calibri" pitchFamily="34" charset="0"/>
                <a:ea typeface="Calibri" pitchFamily="34" charset="-122"/>
                <a:cs typeface="Calibri" pitchFamily="34" charset="-120"/>
              </a:rPr>
              <a:t>↓</a:t>
            </a:r>
            <a:endParaRPr lang="en-US" sz="1200" dirty="0"/>
          </a:p>
        </p:txBody>
      </p:sp>
      <p:sp>
        <p:nvSpPr>
          <p:cNvPr id="19" name="Shape 17"/>
          <p:cNvSpPr/>
          <p:nvPr/>
        </p:nvSpPr>
        <p:spPr>
          <a:xfrm>
            <a:off x="731520" y="3931920"/>
            <a:ext cx="5943600" cy="438912"/>
          </a:xfrm>
          <a:prstGeom prst="roundRect">
            <a:avLst>
              <a:gd name="adj" fmla="val 12500"/>
            </a:avLst>
          </a:prstGeom>
          <a:solidFill>
            <a:srgbClr val="F1F5F9"/>
          </a:solidFill>
          <a:ln/>
        </p:spPr>
      </p:sp>
      <p:sp>
        <p:nvSpPr>
          <p:cNvPr id="20" name="Text 18"/>
          <p:cNvSpPr/>
          <p:nvPr/>
        </p:nvSpPr>
        <p:spPr>
          <a:xfrm>
            <a:off x="914400" y="3931920"/>
            <a:ext cx="5577840" cy="438912"/>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5.  Generate Draft 2: How-To angle</a:t>
            </a:r>
            <a:endParaRPr lang="en-US" sz="1300" dirty="0"/>
          </a:p>
        </p:txBody>
      </p:sp>
      <p:sp>
        <p:nvSpPr>
          <p:cNvPr id="21" name="Text 19"/>
          <p:cNvSpPr/>
          <p:nvPr/>
        </p:nvSpPr>
        <p:spPr>
          <a:xfrm>
            <a:off x="3474720" y="4315968"/>
            <a:ext cx="457200" cy="201168"/>
          </a:xfrm>
          <a:prstGeom prst="rect">
            <a:avLst/>
          </a:prstGeom>
          <a:noFill/>
          <a:ln/>
        </p:spPr>
        <p:txBody>
          <a:bodyPr wrap="square" rtlCol="0" anchor="ctr"/>
          <a:lstStyle/>
          <a:p>
            <a:pPr algn="ctr" indent="0" marL="0">
              <a:buNone/>
            </a:pPr>
            <a:r>
              <a:rPr lang="en-US" sz="1200" dirty="0">
                <a:solidFill>
                  <a:srgbClr val="2563EB"/>
                </a:solidFill>
                <a:latin typeface="Calibri" pitchFamily="34" charset="0"/>
                <a:ea typeface="Calibri" pitchFamily="34" charset="-122"/>
                <a:cs typeface="Calibri" pitchFamily="34" charset="-120"/>
              </a:rPr>
              <a:t>↓</a:t>
            </a:r>
            <a:endParaRPr lang="en-US" sz="1200" dirty="0"/>
          </a:p>
        </p:txBody>
      </p:sp>
      <p:sp>
        <p:nvSpPr>
          <p:cNvPr id="22" name="Shape 20"/>
          <p:cNvSpPr/>
          <p:nvPr/>
        </p:nvSpPr>
        <p:spPr>
          <a:xfrm>
            <a:off x="731520" y="4480560"/>
            <a:ext cx="5943600" cy="438912"/>
          </a:xfrm>
          <a:prstGeom prst="roundRect">
            <a:avLst>
              <a:gd name="adj" fmla="val 12500"/>
            </a:avLst>
          </a:prstGeom>
          <a:solidFill>
            <a:srgbClr val="F1F5F9"/>
          </a:solidFill>
          <a:ln/>
        </p:spPr>
      </p:sp>
      <p:sp>
        <p:nvSpPr>
          <p:cNvPr id="23" name="Text 21"/>
          <p:cNvSpPr/>
          <p:nvPr/>
        </p:nvSpPr>
        <p:spPr>
          <a:xfrm>
            <a:off x="914400" y="4480560"/>
            <a:ext cx="5577840" cy="438912"/>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6.  Generate Draft 3: Data &amp; Trends angle</a:t>
            </a:r>
            <a:endParaRPr lang="en-US" sz="1300" dirty="0"/>
          </a:p>
        </p:txBody>
      </p:sp>
      <p:sp>
        <p:nvSpPr>
          <p:cNvPr id="24" name="Text 22"/>
          <p:cNvSpPr/>
          <p:nvPr/>
        </p:nvSpPr>
        <p:spPr>
          <a:xfrm>
            <a:off x="3474720" y="4864608"/>
            <a:ext cx="457200" cy="201168"/>
          </a:xfrm>
          <a:prstGeom prst="rect">
            <a:avLst/>
          </a:prstGeom>
          <a:noFill/>
          <a:ln/>
        </p:spPr>
        <p:txBody>
          <a:bodyPr wrap="square" rtlCol="0" anchor="ctr"/>
          <a:lstStyle/>
          <a:p>
            <a:pPr algn="ctr" indent="0" marL="0">
              <a:buNone/>
            </a:pPr>
            <a:r>
              <a:rPr lang="en-US" sz="1200" dirty="0">
                <a:solidFill>
                  <a:srgbClr val="2563EB"/>
                </a:solidFill>
                <a:latin typeface="Calibri" pitchFamily="34" charset="0"/>
                <a:ea typeface="Calibri" pitchFamily="34" charset="-122"/>
                <a:cs typeface="Calibri" pitchFamily="34" charset="-120"/>
              </a:rPr>
              <a:t>↓</a:t>
            </a:r>
            <a:endParaRPr lang="en-US" sz="1200" dirty="0"/>
          </a:p>
        </p:txBody>
      </p:sp>
      <p:sp>
        <p:nvSpPr>
          <p:cNvPr id="25" name="Shape 23"/>
          <p:cNvSpPr/>
          <p:nvPr/>
        </p:nvSpPr>
        <p:spPr>
          <a:xfrm>
            <a:off x="731520" y="5029200"/>
            <a:ext cx="5943600" cy="438912"/>
          </a:xfrm>
          <a:prstGeom prst="roundRect">
            <a:avLst>
              <a:gd name="adj" fmla="val 12500"/>
            </a:avLst>
          </a:prstGeom>
          <a:solidFill>
            <a:srgbClr val="F1F5F9"/>
          </a:solidFill>
          <a:ln/>
        </p:spPr>
      </p:sp>
      <p:sp>
        <p:nvSpPr>
          <p:cNvPr id="26" name="Text 24"/>
          <p:cNvSpPr/>
          <p:nvPr/>
        </p:nvSpPr>
        <p:spPr>
          <a:xfrm>
            <a:off x="914400" y="5029200"/>
            <a:ext cx="5577840" cy="438912"/>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7.  Store all drafts in Supabase</a:t>
            </a:r>
            <a:endParaRPr lang="en-US" sz="1300" dirty="0"/>
          </a:p>
        </p:txBody>
      </p:sp>
      <p:sp>
        <p:nvSpPr>
          <p:cNvPr id="27" name="Text 25"/>
          <p:cNvSpPr/>
          <p:nvPr/>
        </p:nvSpPr>
        <p:spPr>
          <a:xfrm>
            <a:off x="3474720" y="5413248"/>
            <a:ext cx="457200" cy="201168"/>
          </a:xfrm>
          <a:prstGeom prst="rect">
            <a:avLst/>
          </a:prstGeom>
          <a:noFill/>
          <a:ln/>
        </p:spPr>
        <p:txBody>
          <a:bodyPr wrap="square" rtlCol="0" anchor="ctr"/>
          <a:lstStyle/>
          <a:p>
            <a:pPr algn="ctr" indent="0" marL="0">
              <a:buNone/>
            </a:pPr>
            <a:r>
              <a:rPr lang="en-US" sz="1200" dirty="0">
                <a:solidFill>
                  <a:srgbClr val="2563EB"/>
                </a:solidFill>
                <a:latin typeface="Calibri" pitchFamily="34" charset="0"/>
                <a:ea typeface="Calibri" pitchFamily="34" charset="-122"/>
                <a:cs typeface="Calibri" pitchFamily="34" charset="-120"/>
              </a:rPr>
              <a:t>↓</a:t>
            </a:r>
            <a:endParaRPr lang="en-US" sz="1200" dirty="0"/>
          </a:p>
        </p:txBody>
      </p:sp>
      <p:sp>
        <p:nvSpPr>
          <p:cNvPr id="28" name="Shape 26"/>
          <p:cNvSpPr/>
          <p:nvPr/>
        </p:nvSpPr>
        <p:spPr>
          <a:xfrm>
            <a:off x="731520" y="5577840"/>
            <a:ext cx="5943600" cy="438912"/>
          </a:xfrm>
          <a:prstGeom prst="roundRect">
            <a:avLst>
              <a:gd name="adj" fmla="val 12500"/>
            </a:avLst>
          </a:prstGeom>
          <a:solidFill>
            <a:srgbClr val="F1F5F9"/>
          </a:solidFill>
          <a:ln/>
        </p:spPr>
      </p:sp>
      <p:sp>
        <p:nvSpPr>
          <p:cNvPr id="29" name="Text 27"/>
          <p:cNvSpPr/>
          <p:nvPr/>
        </p:nvSpPr>
        <p:spPr>
          <a:xfrm>
            <a:off x="914400" y="5577840"/>
            <a:ext cx="5577840" cy="438912"/>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8.  Return draft IDs to frontend</a:t>
            </a:r>
            <a:endParaRPr lang="en-US" sz="1300" dirty="0"/>
          </a:p>
        </p:txBody>
      </p:sp>
      <p:sp>
        <p:nvSpPr>
          <p:cNvPr id="30" name="Text 28"/>
          <p:cNvSpPr/>
          <p:nvPr/>
        </p:nvSpPr>
        <p:spPr>
          <a:xfrm>
            <a:off x="7315200" y="1280160"/>
            <a:ext cx="4572000" cy="365760"/>
          </a:xfrm>
          <a:prstGeom prst="rect">
            <a:avLst/>
          </a:prstGeom>
          <a:noFill/>
          <a:ln/>
        </p:spPr>
        <p:txBody>
          <a:bodyPr wrap="square" rtlCol="0" anchor="ctr"/>
          <a:lstStyle/>
          <a:p>
            <a:pPr indent="0" marL="0">
              <a:buNone/>
            </a:pPr>
            <a:r>
              <a:rPr lang="en-US" sz="1600" b="1" dirty="0">
                <a:solidFill>
                  <a:srgbClr val="1E3A5F"/>
                </a:solidFill>
                <a:latin typeface="Calibri" pitchFamily="34" charset="0"/>
                <a:ea typeface="Calibri" pitchFamily="34" charset="-122"/>
                <a:cs typeface="Calibri" pitchFamily="34" charset="-120"/>
              </a:rPr>
              <a:t>Key Details</a:t>
            </a:r>
            <a:endParaRPr lang="en-US" sz="1600" dirty="0"/>
          </a:p>
        </p:txBody>
      </p:sp>
      <p:sp>
        <p:nvSpPr>
          <p:cNvPr id="31" name="Shape 29"/>
          <p:cNvSpPr/>
          <p:nvPr/>
        </p:nvSpPr>
        <p:spPr>
          <a:xfrm>
            <a:off x="7315200" y="1828800"/>
            <a:ext cx="4389120" cy="502920"/>
          </a:xfrm>
          <a:prstGeom prst="roundRect">
            <a:avLst>
              <a:gd name="adj" fmla="val 10909"/>
            </a:avLst>
          </a:prstGeom>
          <a:solidFill>
            <a:srgbClr val="F1F5F9"/>
          </a:solidFill>
          <a:ln/>
        </p:spPr>
      </p:sp>
      <p:sp>
        <p:nvSpPr>
          <p:cNvPr id="32" name="Text 30"/>
          <p:cNvSpPr/>
          <p:nvPr/>
        </p:nvSpPr>
        <p:spPr>
          <a:xfrm>
            <a:off x="7498080" y="1828800"/>
            <a:ext cx="1463040" cy="502920"/>
          </a:xfrm>
          <a:prstGeom prst="rect">
            <a:avLst/>
          </a:prstGeom>
          <a:noFill/>
          <a:ln/>
        </p:spPr>
        <p:txBody>
          <a:bodyPr wrap="square" rtlCol="0" anchor="ctr"/>
          <a:lstStyle/>
          <a:p>
            <a:pPr indent="0" marL="0">
              <a:buNone/>
            </a:pPr>
            <a:r>
              <a:rPr lang="en-US" sz="1300" b="1" dirty="0">
                <a:solidFill>
                  <a:srgbClr val="2563EB"/>
                </a:solidFill>
                <a:latin typeface="Calibri" pitchFamily="34" charset="0"/>
                <a:ea typeface="Calibri" pitchFamily="34" charset="-122"/>
                <a:cs typeface="Calibri" pitchFamily="34" charset="-120"/>
              </a:rPr>
              <a:t>Input:</a:t>
            </a:r>
            <a:endParaRPr lang="en-US" sz="1300" dirty="0"/>
          </a:p>
        </p:txBody>
      </p:sp>
      <p:sp>
        <p:nvSpPr>
          <p:cNvPr id="33" name="Text 31"/>
          <p:cNvSpPr/>
          <p:nvPr/>
        </p:nvSpPr>
        <p:spPr>
          <a:xfrm>
            <a:off x="8961120" y="1828800"/>
            <a:ext cx="2560320" cy="502920"/>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Content idea or URL</a:t>
            </a:r>
            <a:endParaRPr lang="en-US" sz="1300" dirty="0"/>
          </a:p>
        </p:txBody>
      </p:sp>
      <p:sp>
        <p:nvSpPr>
          <p:cNvPr id="34" name="Shape 32"/>
          <p:cNvSpPr/>
          <p:nvPr/>
        </p:nvSpPr>
        <p:spPr>
          <a:xfrm>
            <a:off x="7315200" y="2468880"/>
            <a:ext cx="4389120" cy="502920"/>
          </a:xfrm>
          <a:prstGeom prst="roundRect">
            <a:avLst>
              <a:gd name="adj" fmla="val 10909"/>
            </a:avLst>
          </a:prstGeom>
          <a:solidFill>
            <a:srgbClr val="F1F5F9"/>
          </a:solidFill>
          <a:ln/>
        </p:spPr>
      </p:sp>
      <p:sp>
        <p:nvSpPr>
          <p:cNvPr id="35" name="Text 33"/>
          <p:cNvSpPr/>
          <p:nvPr/>
        </p:nvSpPr>
        <p:spPr>
          <a:xfrm>
            <a:off x="7498080" y="2468880"/>
            <a:ext cx="1463040" cy="502920"/>
          </a:xfrm>
          <a:prstGeom prst="rect">
            <a:avLst/>
          </a:prstGeom>
          <a:noFill/>
          <a:ln/>
        </p:spPr>
        <p:txBody>
          <a:bodyPr wrap="square" rtlCol="0" anchor="ctr"/>
          <a:lstStyle/>
          <a:p>
            <a:pPr indent="0" marL="0">
              <a:buNone/>
            </a:pPr>
            <a:r>
              <a:rPr lang="en-US" sz="1300" b="1" dirty="0">
                <a:solidFill>
                  <a:srgbClr val="2563EB"/>
                </a:solidFill>
                <a:latin typeface="Calibri" pitchFamily="34" charset="0"/>
                <a:ea typeface="Calibri" pitchFamily="34" charset="-122"/>
                <a:cs typeface="Calibri" pitchFamily="34" charset="-120"/>
              </a:rPr>
              <a:t>Output:</a:t>
            </a:r>
            <a:endParaRPr lang="en-US" sz="1300" dirty="0"/>
          </a:p>
        </p:txBody>
      </p:sp>
      <p:sp>
        <p:nvSpPr>
          <p:cNvPr id="36" name="Text 34"/>
          <p:cNvSpPr/>
          <p:nvPr/>
        </p:nvSpPr>
        <p:spPr>
          <a:xfrm>
            <a:off x="8961120" y="2468880"/>
            <a:ext cx="2560320" cy="502920"/>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3 SEO-optimized articles</a:t>
            </a:r>
            <a:endParaRPr lang="en-US" sz="1300" dirty="0"/>
          </a:p>
        </p:txBody>
      </p:sp>
      <p:sp>
        <p:nvSpPr>
          <p:cNvPr id="37" name="Shape 35"/>
          <p:cNvSpPr/>
          <p:nvPr/>
        </p:nvSpPr>
        <p:spPr>
          <a:xfrm>
            <a:off x="7315200" y="3108960"/>
            <a:ext cx="4389120" cy="502920"/>
          </a:xfrm>
          <a:prstGeom prst="roundRect">
            <a:avLst>
              <a:gd name="adj" fmla="val 10909"/>
            </a:avLst>
          </a:prstGeom>
          <a:solidFill>
            <a:srgbClr val="F1F5F9"/>
          </a:solidFill>
          <a:ln/>
        </p:spPr>
      </p:sp>
      <p:sp>
        <p:nvSpPr>
          <p:cNvPr id="38" name="Text 36"/>
          <p:cNvSpPr/>
          <p:nvPr/>
        </p:nvSpPr>
        <p:spPr>
          <a:xfrm>
            <a:off x="7498080" y="3108960"/>
            <a:ext cx="1463040" cy="502920"/>
          </a:xfrm>
          <a:prstGeom prst="rect">
            <a:avLst/>
          </a:prstGeom>
          <a:noFill/>
          <a:ln/>
        </p:spPr>
        <p:txBody>
          <a:bodyPr wrap="square" rtlCol="0" anchor="ctr"/>
          <a:lstStyle/>
          <a:p>
            <a:pPr indent="0" marL="0">
              <a:buNone/>
            </a:pPr>
            <a:r>
              <a:rPr lang="en-US" sz="1300" b="1" dirty="0">
                <a:solidFill>
                  <a:srgbClr val="2563EB"/>
                </a:solidFill>
                <a:latin typeface="Calibri" pitchFamily="34" charset="0"/>
                <a:ea typeface="Calibri" pitchFamily="34" charset="-122"/>
                <a:cs typeface="Calibri" pitchFamily="34" charset="-120"/>
              </a:rPr>
              <a:t>Time:</a:t>
            </a:r>
            <a:endParaRPr lang="en-US" sz="1300" dirty="0"/>
          </a:p>
        </p:txBody>
      </p:sp>
      <p:sp>
        <p:nvSpPr>
          <p:cNvPr id="39" name="Text 37"/>
          <p:cNvSpPr/>
          <p:nvPr/>
        </p:nvSpPr>
        <p:spPr>
          <a:xfrm>
            <a:off x="8961120" y="3108960"/>
            <a:ext cx="2560320" cy="502920"/>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~15-20 seconds</a:t>
            </a:r>
            <a:endParaRPr lang="en-US" sz="1300" dirty="0"/>
          </a:p>
        </p:txBody>
      </p:sp>
      <p:sp>
        <p:nvSpPr>
          <p:cNvPr id="40" name="Shape 38"/>
          <p:cNvSpPr/>
          <p:nvPr/>
        </p:nvSpPr>
        <p:spPr>
          <a:xfrm>
            <a:off x="7315200" y="3749040"/>
            <a:ext cx="4389120" cy="502920"/>
          </a:xfrm>
          <a:prstGeom prst="roundRect">
            <a:avLst>
              <a:gd name="adj" fmla="val 10909"/>
            </a:avLst>
          </a:prstGeom>
          <a:solidFill>
            <a:srgbClr val="F1F5F9"/>
          </a:solidFill>
          <a:ln/>
        </p:spPr>
      </p:sp>
      <p:sp>
        <p:nvSpPr>
          <p:cNvPr id="41" name="Text 39"/>
          <p:cNvSpPr/>
          <p:nvPr/>
        </p:nvSpPr>
        <p:spPr>
          <a:xfrm>
            <a:off x="7498080" y="3749040"/>
            <a:ext cx="1463040" cy="502920"/>
          </a:xfrm>
          <a:prstGeom prst="rect">
            <a:avLst/>
          </a:prstGeom>
          <a:noFill/>
          <a:ln/>
        </p:spPr>
        <p:txBody>
          <a:bodyPr wrap="square" rtlCol="0" anchor="ctr"/>
          <a:lstStyle/>
          <a:p>
            <a:pPr indent="0" marL="0">
              <a:buNone/>
            </a:pPr>
            <a:r>
              <a:rPr lang="en-US" sz="1300" b="1" dirty="0">
                <a:solidFill>
                  <a:srgbClr val="2563EB"/>
                </a:solidFill>
                <a:latin typeface="Calibri" pitchFamily="34" charset="0"/>
                <a:ea typeface="Calibri" pitchFamily="34" charset="-122"/>
                <a:cs typeface="Calibri" pitchFamily="34" charset="-120"/>
              </a:rPr>
              <a:t>AI Model:</a:t>
            </a:r>
            <a:endParaRPr lang="en-US" sz="1300" dirty="0"/>
          </a:p>
        </p:txBody>
      </p:sp>
      <p:sp>
        <p:nvSpPr>
          <p:cNvPr id="42" name="Text 40"/>
          <p:cNvSpPr/>
          <p:nvPr/>
        </p:nvSpPr>
        <p:spPr>
          <a:xfrm>
            <a:off x="8961120" y="3749040"/>
            <a:ext cx="2560320" cy="502920"/>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GPT-4o-mini</a:t>
            </a:r>
            <a:endParaRPr lang="en-US" sz="1300" dirty="0"/>
          </a:p>
        </p:txBody>
      </p:sp>
      <p:sp>
        <p:nvSpPr>
          <p:cNvPr id="43" name="Shape 41"/>
          <p:cNvSpPr/>
          <p:nvPr/>
        </p:nvSpPr>
        <p:spPr>
          <a:xfrm>
            <a:off x="7315200" y="4389120"/>
            <a:ext cx="4389120" cy="502920"/>
          </a:xfrm>
          <a:prstGeom prst="roundRect">
            <a:avLst>
              <a:gd name="adj" fmla="val 10909"/>
            </a:avLst>
          </a:prstGeom>
          <a:solidFill>
            <a:srgbClr val="F1F5F9"/>
          </a:solidFill>
          <a:ln/>
        </p:spPr>
      </p:sp>
      <p:sp>
        <p:nvSpPr>
          <p:cNvPr id="44" name="Text 42"/>
          <p:cNvSpPr/>
          <p:nvPr/>
        </p:nvSpPr>
        <p:spPr>
          <a:xfrm>
            <a:off x="7498080" y="4389120"/>
            <a:ext cx="1463040" cy="502920"/>
          </a:xfrm>
          <a:prstGeom prst="rect">
            <a:avLst/>
          </a:prstGeom>
          <a:noFill/>
          <a:ln/>
        </p:spPr>
        <p:txBody>
          <a:bodyPr wrap="square" rtlCol="0" anchor="ctr"/>
          <a:lstStyle/>
          <a:p>
            <a:pPr indent="0" marL="0">
              <a:buNone/>
            </a:pPr>
            <a:r>
              <a:rPr lang="en-US" sz="1300" b="1" dirty="0">
                <a:solidFill>
                  <a:srgbClr val="2563EB"/>
                </a:solidFill>
                <a:latin typeface="Calibri" pitchFamily="34" charset="0"/>
                <a:ea typeface="Calibri" pitchFamily="34" charset="-122"/>
                <a:cs typeface="Calibri" pitchFamily="34" charset="-120"/>
              </a:rPr>
              <a:t>Generation:</a:t>
            </a:r>
            <a:endParaRPr lang="en-US" sz="1300" dirty="0"/>
          </a:p>
        </p:txBody>
      </p:sp>
      <p:sp>
        <p:nvSpPr>
          <p:cNvPr id="45" name="Text 43"/>
          <p:cNvSpPr/>
          <p:nvPr/>
        </p:nvSpPr>
        <p:spPr>
          <a:xfrm>
            <a:off x="8961120" y="4389120"/>
            <a:ext cx="2560320" cy="502920"/>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Sequential (ensures diversity)</a:t>
            </a:r>
            <a:endParaRPr lang="en-US" sz="1300" dirty="0"/>
          </a:p>
        </p:txBody>
      </p:sp>
      <p:sp>
        <p:nvSpPr>
          <p:cNvPr id="46" name="Text 44"/>
          <p:cNvSpPr/>
          <p:nvPr/>
        </p:nvSpPr>
        <p:spPr>
          <a:xfrm>
            <a:off x="7315200" y="5120640"/>
            <a:ext cx="4572000" cy="365760"/>
          </a:xfrm>
          <a:prstGeom prst="rect">
            <a:avLst/>
          </a:prstGeom>
          <a:noFill/>
          <a:ln/>
        </p:spPr>
        <p:txBody>
          <a:bodyPr wrap="square"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3 Draft Angles:</a:t>
            </a:r>
            <a:endParaRPr lang="en-US" sz="1400" dirty="0"/>
          </a:p>
        </p:txBody>
      </p:sp>
      <p:sp>
        <p:nvSpPr>
          <p:cNvPr id="47" name="Text 45"/>
          <p:cNvSpPr/>
          <p:nvPr/>
        </p:nvSpPr>
        <p:spPr>
          <a:xfrm>
            <a:off x="7498080" y="5532120"/>
            <a:ext cx="4206240" cy="274320"/>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 Contrarian: Provocative counter-take</a:t>
            </a:r>
            <a:endParaRPr lang="en-US" sz="1200" dirty="0"/>
          </a:p>
        </p:txBody>
      </p:sp>
      <p:sp>
        <p:nvSpPr>
          <p:cNvPr id="48" name="Text 46"/>
          <p:cNvSpPr/>
          <p:nvPr/>
        </p:nvSpPr>
        <p:spPr>
          <a:xfrm>
            <a:off x="7498080" y="5852160"/>
            <a:ext cx="4206240" cy="274320"/>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 How-To: Actionable step-by-step</a:t>
            </a:r>
            <a:endParaRPr lang="en-US" sz="1200" dirty="0"/>
          </a:p>
        </p:txBody>
      </p:sp>
      <p:sp>
        <p:nvSpPr>
          <p:cNvPr id="49" name="Text 47"/>
          <p:cNvSpPr/>
          <p:nvPr/>
        </p:nvSpPr>
        <p:spPr>
          <a:xfrm>
            <a:off x="7498080" y="6172200"/>
            <a:ext cx="4206240" cy="274320"/>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 Data &amp; Trends: Statistics-backed analysis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1E3A5F"/>
          </a:solidFill>
          <a:ln/>
        </p:spPr>
      </p:sp>
      <p:sp>
        <p:nvSpPr>
          <p:cNvPr id="3" name="Text 1"/>
          <p:cNvSpPr/>
          <p:nvPr/>
        </p:nvSpPr>
        <p:spPr>
          <a:xfrm>
            <a:off x="548640" y="182880"/>
            <a:ext cx="10972800" cy="6400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Content Pipeline — Platform Adaptation</a:t>
            </a:r>
            <a:endParaRPr lang="en-US" sz="2800" dirty="0"/>
          </a:p>
        </p:txBody>
      </p:sp>
      <p:sp>
        <p:nvSpPr>
          <p:cNvPr id="4" name="Shape 2"/>
          <p:cNvSpPr/>
          <p:nvPr/>
        </p:nvSpPr>
        <p:spPr>
          <a:xfrm>
            <a:off x="0" y="1005840"/>
            <a:ext cx="12192000" cy="54864"/>
          </a:xfrm>
          <a:prstGeom prst="rect">
            <a:avLst/>
          </a:prstGeom>
          <a:solidFill>
            <a:srgbClr val="2563EB"/>
          </a:solidFill>
          <a:ln/>
        </p:spPr>
      </p:sp>
      <p:sp>
        <p:nvSpPr>
          <p:cNvPr id="5" name="Text 3"/>
          <p:cNvSpPr/>
          <p:nvPr/>
        </p:nvSpPr>
        <p:spPr>
          <a:xfrm>
            <a:off x="548640" y="6309360"/>
            <a:ext cx="10972800" cy="36576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Ayodele Oluwafimidaraayo</a:t>
            </a:r>
            <a:pPr indent="0" marL="0">
              <a:buNone/>
            </a:pPr>
            <a:r>
              <a:rPr lang="en-US" sz="1000" dirty="0">
                <a:solidFill>
                  <a:srgbClr val="64748B"/>
                </a:solidFill>
                <a:latin typeface="Calibri" pitchFamily="34" charset="0"/>
                <a:ea typeface="Calibri" pitchFamily="34" charset="-122"/>
                <a:cs typeface="Calibri" pitchFamily="34" charset="-120"/>
              </a:rPr>
              <a:t>   |   Slide 6 of 17</a:t>
            </a:r>
            <a:endParaRPr lang="en-US" sz="1000" dirty="0"/>
          </a:p>
        </p:txBody>
      </p:sp>
      <p:sp>
        <p:nvSpPr>
          <p:cNvPr id="6" name="Shape 4"/>
          <p:cNvSpPr/>
          <p:nvPr/>
        </p:nvSpPr>
        <p:spPr>
          <a:xfrm>
            <a:off x="640080" y="1463040"/>
            <a:ext cx="411480" cy="411480"/>
          </a:xfrm>
          <a:prstGeom prst="ellipse">
            <a:avLst/>
          </a:prstGeom>
          <a:solidFill>
            <a:srgbClr val="2563EB"/>
          </a:solidFill>
          <a:ln/>
        </p:spPr>
      </p:sp>
      <p:sp>
        <p:nvSpPr>
          <p:cNvPr id="7" name="Text 5"/>
          <p:cNvSpPr/>
          <p:nvPr/>
        </p:nvSpPr>
        <p:spPr>
          <a:xfrm>
            <a:off x="640080" y="1463040"/>
            <a:ext cx="411480" cy="41148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1234440" y="1371600"/>
            <a:ext cx="3657600" cy="320040"/>
          </a:xfrm>
          <a:prstGeom prst="rect">
            <a:avLst/>
          </a:prstGeom>
          <a:noFill/>
          <a:ln/>
        </p:spPr>
        <p:txBody>
          <a:bodyPr wrap="square" rtlCol="0" anchor="ctr"/>
          <a:lstStyle/>
          <a:p>
            <a:pPr indent="0" marL="0">
              <a:buNone/>
            </a:pPr>
            <a:r>
              <a:rPr lang="en-US" sz="1600" b="1" dirty="0">
                <a:solidFill>
                  <a:srgbClr val="1E3A5F"/>
                </a:solidFill>
                <a:latin typeface="Calibri" pitchFamily="34" charset="0"/>
                <a:ea typeface="Calibri" pitchFamily="34" charset="-122"/>
                <a:cs typeface="Calibri" pitchFamily="34" charset="-120"/>
              </a:rPr>
              <a:t>Lock Submission</a:t>
            </a:r>
            <a:endParaRPr lang="en-US" sz="1600" dirty="0"/>
          </a:p>
        </p:txBody>
      </p:sp>
      <p:sp>
        <p:nvSpPr>
          <p:cNvPr id="9" name="Text 7"/>
          <p:cNvSpPr/>
          <p:nvPr/>
        </p:nvSpPr>
        <p:spPr>
          <a:xfrm>
            <a:off x="1234440" y="1691640"/>
            <a:ext cx="4114800" cy="274320"/>
          </a:xfrm>
          <a:prstGeom prst="rect">
            <a:avLst/>
          </a:prstGeom>
          <a:noFill/>
          <a:ln/>
        </p:spPr>
        <p:txBody>
          <a:bodyPr wrap="square" rtlCol="0" anchor="ctr"/>
          <a:lstStyle/>
          <a:p>
            <a:pPr indent="0" marL="0">
              <a:buNone/>
            </a:pPr>
            <a:r>
              <a:rPr lang="en-US" sz="1300" dirty="0">
                <a:solidFill>
                  <a:srgbClr val="64748B"/>
                </a:solidFill>
                <a:latin typeface="Calibri" pitchFamily="34" charset="0"/>
                <a:ea typeface="Calibri" pitchFamily="34" charset="-122"/>
                <a:cs typeface="Calibri" pitchFamily="34" charset="-120"/>
              </a:rPr>
              <a:t>Prevent concurrent modifications</a:t>
            </a:r>
            <a:endParaRPr lang="en-US" sz="1300" dirty="0"/>
          </a:p>
        </p:txBody>
      </p:sp>
      <p:sp>
        <p:nvSpPr>
          <p:cNvPr id="10" name="Shape 8"/>
          <p:cNvSpPr/>
          <p:nvPr/>
        </p:nvSpPr>
        <p:spPr>
          <a:xfrm>
            <a:off x="832104" y="1901952"/>
            <a:ext cx="27432" cy="548640"/>
          </a:xfrm>
          <a:prstGeom prst="rect">
            <a:avLst/>
          </a:prstGeom>
          <a:solidFill>
            <a:srgbClr val="2563EB"/>
          </a:solidFill>
          <a:ln/>
        </p:spPr>
      </p:sp>
      <p:sp>
        <p:nvSpPr>
          <p:cNvPr id="11" name="Shape 9"/>
          <p:cNvSpPr/>
          <p:nvPr/>
        </p:nvSpPr>
        <p:spPr>
          <a:xfrm>
            <a:off x="640080" y="2560320"/>
            <a:ext cx="411480" cy="411480"/>
          </a:xfrm>
          <a:prstGeom prst="ellipse">
            <a:avLst/>
          </a:prstGeom>
          <a:solidFill>
            <a:srgbClr val="2563EB"/>
          </a:solidFill>
          <a:ln/>
        </p:spPr>
      </p:sp>
      <p:sp>
        <p:nvSpPr>
          <p:cNvPr id="12" name="Text 10"/>
          <p:cNvSpPr/>
          <p:nvPr/>
        </p:nvSpPr>
        <p:spPr>
          <a:xfrm>
            <a:off x="640080" y="2560320"/>
            <a:ext cx="411480" cy="41148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1234440" y="2468880"/>
            <a:ext cx="3657600" cy="320040"/>
          </a:xfrm>
          <a:prstGeom prst="rect">
            <a:avLst/>
          </a:prstGeom>
          <a:noFill/>
          <a:ln/>
        </p:spPr>
        <p:txBody>
          <a:bodyPr wrap="square" rtlCol="0" anchor="ctr"/>
          <a:lstStyle/>
          <a:p>
            <a:pPr indent="0" marL="0">
              <a:buNone/>
            </a:pPr>
            <a:r>
              <a:rPr lang="en-US" sz="1600" b="1" dirty="0">
                <a:solidFill>
                  <a:srgbClr val="1E3A5F"/>
                </a:solidFill>
                <a:latin typeface="Calibri" pitchFamily="34" charset="0"/>
                <a:ea typeface="Calibri" pitchFamily="34" charset="-122"/>
                <a:cs typeface="Calibri" pitchFamily="34" charset="-120"/>
              </a:rPr>
              <a:t>Adapt for LinkedIn</a:t>
            </a:r>
            <a:endParaRPr lang="en-US" sz="1600" dirty="0"/>
          </a:p>
        </p:txBody>
      </p:sp>
      <p:sp>
        <p:nvSpPr>
          <p:cNvPr id="14" name="Text 12"/>
          <p:cNvSpPr/>
          <p:nvPr/>
        </p:nvSpPr>
        <p:spPr>
          <a:xfrm>
            <a:off x="1234440" y="2788920"/>
            <a:ext cx="4114800" cy="274320"/>
          </a:xfrm>
          <a:prstGeom prst="rect">
            <a:avLst/>
          </a:prstGeom>
          <a:noFill/>
          <a:ln/>
        </p:spPr>
        <p:txBody>
          <a:bodyPr wrap="square" rtlCol="0" anchor="ctr"/>
          <a:lstStyle/>
          <a:p>
            <a:pPr indent="0" marL="0">
              <a:buNone/>
            </a:pPr>
            <a:r>
              <a:rPr lang="en-US" sz="1300" dirty="0">
                <a:solidFill>
                  <a:srgbClr val="64748B"/>
                </a:solidFill>
                <a:latin typeface="Calibri" pitchFamily="34" charset="0"/>
                <a:ea typeface="Calibri" pitchFamily="34" charset="-122"/>
                <a:cs typeface="Calibri" pitchFamily="34" charset="-120"/>
              </a:rPr>
              <a:t>Problem-Agitation-Solution (PAS) format</a:t>
            </a:r>
            <a:endParaRPr lang="en-US" sz="1300" dirty="0"/>
          </a:p>
        </p:txBody>
      </p:sp>
      <p:sp>
        <p:nvSpPr>
          <p:cNvPr id="15" name="Shape 13"/>
          <p:cNvSpPr/>
          <p:nvPr/>
        </p:nvSpPr>
        <p:spPr>
          <a:xfrm>
            <a:off x="832104" y="2999232"/>
            <a:ext cx="27432" cy="548640"/>
          </a:xfrm>
          <a:prstGeom prst="rect">
            <a:avLst/>
          </a:prstGeom>
          <a:solidFill>
            <a:srgbClr val="2563EB"/>
          </a:solidFill>
          <a:ln/>
        </p:spPr>
      </p:sp>
      <p:sp>
        <p:nvSpPr>
          <p:cNvPr id="16" name="Shape 14"/>
          <p:cNvSpPr/>
          <p:nvPr/>
        </p:nvSpPr>
        <p:spPr>
          <a:xfrm>
            <a:off x="640080" y="3657600"/>
            <a:ext cx="411480" cy="411480"/>
          </a:xfrm>
          <a:prstGeom prst="ellipse">
            <a:avLst/>
          </a:prstGeom>
          <a:solidFill>
            <a:srgbClr val="2563EB"/>
          </a:solidFill>
          <a:ln/>
        </p:spPr>
      </p:sp>
      <p:sp>
        <p:nvSpPr>
          <p:cNvPr id="17" name="Text 15"/>
          <p:cNvSpPr/>
          <p:nvPr/>
        </p:nvSpPr>
        <p:spPr>
          <a:xfrm>
            <a:off x="640080" y="3657600"/>
            <a:ext cx="411480" cy="41148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8" name="Text 16"/>
          <p:cNvSpPr/>
          <p:nvPr/>
        </p:nvSpPr>
        <p:spPr>
          <a:xfrm>
            <a:off x="1234440" y="3566160"/>
            <a:ext cx="3657600" cy="320040"/>
          </a:xfrm>
          <a:prstGeom prst="rect">
            <a:avLst/>
          </a:prstGeom>
          <a:noFill/>
          <a:ln/>
        </p:spPr>
        <p:txBody>
          <a:bodyPr wrap="square" rtlCol="0" anchor="ctr"/>
          <a:lstStyle/>
          <a:p>
            <a:pPr indent="0" marL="0">
              <a:buNone/>
            </a:pPr>
            <a:r>
              <a:rPr lang="en-US" sz="1600" b="1" dirty="0">
                <a:solidFill>
                  <a:srgbClr val="1E3A5F"/>
                </a:solidFill>
                <a:latin typeface="Calibri" pitchFamily="34" charset="0"/>
                <a:ea typeface="Calibri" pitchFamily="34" charset="-122"/>
                <a:cs typeface="Calibri" pitchFamily="34" charset="-120"/>
              </a:rPr>
              <a:t>Adapt for X/Twitter</a:t>
            </a:r>
            <a:endParaRPr lang="en-US" sz="1600" dirty="0"/>
          </a:p>
        </p:txBody>
      </p:sp>
      <p:sp>
        <p:nvSpPr>
          <p:cNvPr id="19" name="Text 17"/>
          <p:cNvSpPr/>
          <p:nvPr/>
        </p:nvSpPr>
        <p:spPr>
          <a:xfrm>
            <a:off x="1234440" y="3886200"/>
            <a:ext cx="4114800" cy="274320"/>
          </a:xfrm>
          <a:prstGeom prst="rect">
            <a:avLst/>
          </a:prstGeom>
          <a:noFill/>
          <a:ln/>
        </p:spPr>
        <p:txBody>
          <a:bodyPr wrap="square" rtlCol="0" anchor="ctr"/>
          <a:lstStyle/>
          <a:p>
            <a:pPr indent="0" marL="0">
              <a:buNone/>
            </a:pPr>
            <a:r>
              <a:rPr lang="en-US" sz="1300" dirty="0">
                <a:solidFill>
                  <a:srgbClr val="64748B"/>
                </a:solidFill>
                <a:latin typeface="Calibri" pitchFamily="34" charset="0"/>
                <a:ea typeface="Calibri" pitchFamily="34" charset="-122"/>
                <a:cs typeface="Calibri" pitchFamily="34" charset="-120"/>
              </a:rPr>
              <a:t>280 characters with relevant hashtags</a:t>
            </a:r>
            <a:endParaRPr lang="en-US" sz="1300" dirty="0"/>
          </a:p>
        </p:txBody>
      </p:sp>
      <p:sp>
        <p:nvSpPr>
          <p:cNvPr id="20" name="Shape 18"/>
          <p:cNvSpPr/>
          <p:nvPr/>
        </p:nvSpPr>
        <p:spPr>
          <a:xfrm>
            <a:off x="832104" y="4096512"/>
            <a:ext cx="27432" cy="548640"/>
          </a:xfrm>
          <a:prstGeom prst="rect">
            <a:avLst/>
          </a:prstGeom>
          <a:solidFill>
            <a:srgbClr val="2563EB"/>
          </a:solidFill>
          <a:ln/>
        </p:spPr>
      </p:sp>
      <p:sp>
        <p:nvSpPr>
          <p:cNvPr id="21" name="Shape 19"/>
          <p:cNvSpPr/>
          <p:nvPr/>
        </p:nvSpPr>
        <p:spPr>
          <a:xfrm>
            <a:off x="640080" y="4754880"/>
            <a:ext cx="411480" cy="411480"/>
          </a:xfrm>
          <a:prstGeom prst="ellipse">
            <a:avLst/>
          </a:prstGeom>
          <a:solidFill>
            <a:srgbClr val="2563EB"/>
          </a:solidFill>
          <a:ln/>
        </p:spPr>
      </p:sp>
      <p:sp>
        <p:nvSpPr>
          <p:cNvPr id="22" name="Text 20"/>
          <p:cNvSpPr/>
          <p:nvPr/>
        </p:nvSpPr>
        <p:spPr>
          <a:xfrm>
            <a:off x="640080" y="4754880"/>
            <a:ext cx="411480" cy="41148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3" name="Text 21"/>
          <p:cNvSpPr/>
          <p:nvPr/>
        </p:nvSpPr>
        <p:spPr>
          <a:xfrm>
            <a:off x="1234440" y="4663440"/>
            <a:ext cx="3657600" cy="320040"/>
          </a:xfrm>
          <a:prstGeom prst="rect">
            <a:avLst/>
          </a:prstGeom>
          <a:noFill/>
          <a:ln/>
        </p:spPr>
        <p:txBody>
          <a:bodyPr wrap="square" rtlCol="0" anchor="ctr"/>
          <a:lstStyle/>
          <a:p>
            <a:pPr indent="0" marL="0">
              <a:buNone/>
            </a:pPr>
            <a:r>
              <a:rPr lang="en-US" sz="1600" b="1" dirty="0">
                <a:solidFill>
                  <a:srgbClr val="1E3A5F"/>
                </a:solidFill>
                <a:latin typeface="Calibri" pitchFamily="34" charset="0"/>
                <a:ea typeface="Calibri" pitchFamily="34" charset="-122"/>
                <a:cs typeface="Calibri" pitchFamily="34" charset="-120"/>
              </a:rPr>
              <a:t>Adapt for Newsletter</a:t>
            </a:r>
            <a:endParaRPr lang="en-US" sz="1600" dirty="0"/>
          </a:p>
        </p:txBody>
      </p:sp>
      <p:sp>
        <p:nvSpPr>
          <p:cNvPr id="24" name="Text 22"/>
          <p:cNvSpPr/>
          <p:nvPr/>
        </p:nvSpPr>
        <p:spPr>
          <a:xfrm>
            <a:off x="1234440" y="4983480"/>
            <a:ext cx="4114800" cy="274320"/>
          </a:xfrm>
          <a:prstGeom prst="rect">
            <a:avLst/>
          </a:prstGeom>
          <a:noFill/>
          <a:ln/>
        </p:spPr>
        <p:txBody>
          <a:bodyPr wrap="square" rtlCol="0" anchor="ctr"/>
          <a:lstStyle/>
          <a:p>
            <a:pPr indent="0" marL="0">
              <a:buNone/>
            </a:pPr>
            <a:r>
              <a:rPr lang="en-US" sz="1300" dirty="0">
                <a:solidFill>
                  <a:srgbClr val="64748B"/>
                </a:solidFill>
                <a:latin typeface="Calibri" pitchFamily="34" charset="0"/>
                <a:ea typeface="Calibri" pitchFamily="34" charset="-122"/>
                <a:cs typeface="Calibri" pitchFamily="34" charset="-120"/>
              </a:rPr>
              <a:t>Compelling subject line + HTML body</a:t>
            </a:r>
            <a:endParaRPr lang="en-US" sz="1300" dirty="0"/>
          </a:p>
        </p:txBody>
      </p:sp>
      <p:sp>
        <p:nvSpPr>
          <p:cNvPr id="25" name="Text 23"/>
          <p:cNvSpPr/>
          <p:nvPr/>
        </p:nvSpPr>
        <p:spPr>
          <a:xfrm>
            <a:off x="5943600" y="1280160"/>
            <a:ext cx="5669280" cy="365760"/>
          </a:xfrm>
          <a:prstGeom prst="rect">
            <a:avLst/>
          </a:prstGeom>
          <a:noFill/>
          <a:ln/>
        </p:spPr>
        <p:txBody>
          <a:bodyPr wrap="square" rtlCol="0" anchor="ctr"/>
          <a:lstStyle/>
          <a:p>
            <a:pPr indent="0" marL="0">
              <a:buNone/>
            </a:pPr>
            <a:r>
              <a:rPr lang="en-US" sz="1600" b="1" dirty="0">
                <a:solidFill>
                  <a:srgbClr val="1E3A5F"/>
                </a:solidFill>
                <a:latin typeface="Calibri" pitchFamily="34" charset="0"/>
                <a:ea typeface="Calibri" pitchFamily="34" charset="-122"/>
                <a:cs typeface="Calibri" pitchFamily="34" charset="-120"/>
              </a:rPr>
              <a:t>Platform Output Samples</a:t>
            </a:r>
            <a:endParaRPr lang="en-US" sz="1600" dirty="0"/>
          </a:p>
        </p:txBody>
      </p:sp>
      <p:sp>
        <p:nvSpPr>
          <p:cNvPr id="26" name="Shape 24"/>
          <p:cNvSpPr/>
          <p:nvPr/>
        </p:nvSpPr>
        <p:spPr>
          <a:xfrm>
            <a:off x="5943600" y="1737360"/>
            <a:ext cx="5669280" cy="1188720"/>
          </a:xfrm>
          <a:prstGeom prst="roundRect">
            <a:avLst>
              <a:gd name="adj" fmla="val 6154"/>
            </a:avLst>
          </a:prstGeom>
          <a:solidFill>
            <a:srgbClr val="F1F5F9"/>
          </a:solidFill>
          <a:ln/>
        </p:spPr>
      </p:sp>
      <p:sp>
        <p:nvSpPr>
          <p:cNvPr id="27" name="Text 25"/>
          <p:cNvSpPr/>
          <p:nvPr/>
        </p:nvSpPr>
        <p:spPr>
          <a:xfrm>
            <a:off x="6080760" y="1783080"/>
            <a:ext cx="3657600" cy="274320"/>
          </a:xfrm>
          <a:prstGeom prst="rect">
            <a:avLst/>
          </a:prstGeom>
          <a:noFill/>
          <a:ln/>
        </p:spPr>
        <p:txBody>
          <a:bodyPr wrap="square" rtlCol="0" anchor="ctr"/>
          <a:lstStyle/>
          <a:p>
            <a:pPr indent="0" marL="0">
              <a:buNone/>
            </a:pPr>
            <a:r>
              <a:rPr lang="en-US" sz="1200" b="1" dirty="0">
                <a:solidFill>
                  <a:srgbClr val="2563EB"/>
                </a:solidFill>
                <a:latin typeface="Calibri" pitchFamily="34" charset="0"/>
                <a:ea typeface="Calibri" pitchFamily="34" charset="-122"/>
                <a:cs typeface="Calibri" pitchFamily="34" charset="-120"/>
              </a:rPr>
              <a:t>LinkedIn (PAS)</a:t>
            </a:r>
            <a:endParaRPr lang="en-US" sz="1200" dirty="0"/>
          </a:p>
        </p:txBody>
      </p:sp>
      <p:sp>
        <p:nvSpPr>
          <p:cNvPr id="28" name="Text 26"/>
          <p:cNvSpPr/>
          <p:nvPr/>
        </p:nvSpPr>
        <p:spPr>
          <a:xfrm>
            <a:off x="6080760" y="2057400"/>
            <a:ext cx="5394960" cy="822960"/>
          </a:xfrm>
          <a:prstGeom prst="rect">
            <a:avLst/>
          </a:prstGeom>
          <a:noFill/>
          <a:ln/>
        </p:spPr>
        <p:txBody>
          <a:bodyPr wrap="square" rtlCol="0" anchor="ctr"/>
          <a:lstStyle/>
          <a:p>
            <a:pPr indent="0" marL="0">
              <a:lnSpc>
                <a:spcPct val="120000"/>
              </a:lnSpc>
              <a:buNone/>
            </a:pPr>
            <a:r>
              <a:rPr lang="en-US" sz="1100" dirty="0">
                <a:solidFill>
                  <a:srgbClr val="1E293B"/>
                </a:solidFill>
                <a:latin typeface="Calibri" pitchFamily="34" charset="0"/>
                <a:ea typeface="Calibri" pitchFamily="34" charset="-122"/>
                <a:cs typeface="Calibri" pitchFamily="34" charset="-120"/>
              </a:rPr>
              <a:t>Problem: Remote work is emptying offices.</a:t>
            </a:r>
            <a:endParaRPr lang="en-US" sz="1100" dirty="0"/>
          </a:p>
          <a:p>
            <a:pPr indent="0" marL="0">
              <a:lnSpc>
                <a:spcPct val="120000"/>
              </a:lnSpc>
              <a:buNone/>
            </a:pPr>
            <a:r>
              <a:rPr lang="en-US" sz="1100" dirty="0">
                <a:solidFill>
                  <a:srgbClr val="1E293B"/>
                </a:solidFill>
                <a:latin typeface="Calibri" pitchFamily="34" charset="0"/>
                <a:ea typeface="Calibri" pitchFamily="34" charset="-122"/>
                <a:cs typeface="Calibri" pitchFamily="34" charset="-120"/>
              </a:rPr>
              <a:t>Agitation: Commercial landlords face record vacancies...</a:t>
            </a:r>
            <a:endParaRPr lang="en-US" sz="1100" dirty="0"/>
          </a:p>
          <a:p>
            <a:pPr indent="0" marL="0">
              <a:lnSpc>
                <a:spcPct val="120000"/>
              </a:lnSpc>
              <a:buNone/>
            </a:pPr>
            <a:r>
              <a:rPr lang="en-US" sz="1100" dirty="0">
                <a:solidFill>
                  <a:srgbClr val="1E293B"/>
                </a:solidFill>
                <a:latin typeface="Calibri" pitchFamily="34" charset="0"/>
                <a:ea typeface="Calibri" pitchFamily="34" charset="-122"/>
                <a:cs typeface="Calibri" pitchFamily="34" charset="-120"/>
              </a:rPr>
              <a:t>Solution: Smart investors are converting to co-living...</a:t>
            </a:r>
            <a:endParaRPr lang="en-US" sz="1100" dirty="0"/>
          </a:p>
        </p:txBody>
      </p:sp>
      <p:sp>
        <p:nvSpPr>
          <p:cNvPr id="29" name="Shape 27"/>
          <p:cNvSpPr/>
          <p:nvPr/>
        </p:nvSpPr>
        <p:spPr>
          <a:xfrm>
            <a:off x="5943600" y="3108960"/>
            <a:ext cx="5669280" cy="822960"/>
          </a:xfrm>
          <a:prstGeom prst="roundRect">
            <a:avLst>
              <a:gd name="adj" fmla="val 8889"/>
            </a:avLst>
          </a:prstGeom>
          <a:solidFill>
            <a:srgbClr val="F1F5F9"/>
          </a:solidFill>
          <a:ln/>
        </p:spPr>
      </p:sp>
      <p:sp>
        <p:nvSpPr>
          <p:cNvPr id="30" name="Text 28"/>
          <p:cNvSpPr/>
          <p:nvPr/>
        </p:nvSpPr>
        <p:spPr>
          <a:xfrm>
            <a:off x="6080760" y="3154680"/>
            <a:ext cx="3657600" cy="274320"/>
          </a:xfrm>
          <a:prstGeom prst="rect">
            <a:avLst/>
          </a:prstGeom>
          <a:noFill/>
          <a:ln/>
        </p:spPr>
        <p:txBody>
          <a:bodyPr wrap="square" rtlCol="0" anchor="ctr"/>
          <a:lstStyle/>
          <a:p>
            <a:pPr indent="0" marL="0">
              <a:buNone/>
            </a:pPr>
            <a:r>
              <a:rPr lang="en-US" sz="1200" b="1" dirty="0">
                <a:solidFill>
                  <a:srgbClr val="2563EB"/>
                </a:solidFill>
                <a:latin typeface="Calibri" pitchFamily="34" charset="0"/>
                <a:ea typeface="Calibri" pitchFamily="34" charset="-122"/>
                <a:cs typeface="Calibri" pitchFamily="34" charset="-120"/>
              </a:rPr>
              <a:t>X / Twitter (280 chars)</a:t>
            </a:r>
            <a:endParaRPr lang="en-US" sz="1200" dirty="0"/>
          </a:p>
        </p:txBody>
      </p:sp>
      <p:sp>
        <p:nvSpPr>
          <p:cNvPr id="31" name="Text 29"/>
          <p:cNvSpPr/>
          <p:nvPr/>
        </p:nvSpPr>
        <p:spPr>
          <a:xfrm>
            <a:off x="6080760" y="3429000"/>
            <a:ext cx="5394960" cy="45720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Remote work isn’t killing real estate — it’s reshaping it. #RealEstate #RemoteWork</a:t>
            </a:r>
            <a:endParaRPr lang="en-US" sz="1100" dirty="0"/>
          </a:p>
        </p:txBody>
      </p:sp>
      <p:sp>
        <p:nvSpPr>
          <p:cNvPr id="32" name="Shape 30"/>
          <p:cNvSpPr/>
          <p:nvPr/>
        </p:nvSpPr>
        <p:spPr>
          <a:xfrm>
            <a:off x="5943600" y="4114800"/>
            <a:ext cx="5669280" cy="914400"/>
          </a:xfrm>
          <a:prstGeom prst="roundRect">
            <a:avLst>
              <a:gd name="adj" fmla="val 8000"/>
            </a:avLst>
          </a:prstGeom>
          <a:solidFill>
            <a:srgbClr val="F1F5F9"/>
          </a:solidFill>
          <a:ln/>
        </p:spPr>
      </p:sp>
      <p:sp>
        <p:nvSpPr>
          <p:cNvPr id="33" name="Text 31"/>
          <p:cNvSpPr/>
          <p:nvPr/>
        </p:nvSpPr>
        <p:spPr>
          <a:xfrm>
            <a:off x="6080760" y="4160520"/>
            <a:ext cx="3657600" cy="274320"/>
          </a:xfrm>
          <a:prstGeom prst="rect">
            <a:avLst/>
          </a:prstGeom>
          <a:noFill/>
          <a:ln/>
        </p:spPr>
        <p:txBody>
          <a:bodyPr wrap="square" rtlCol="0" anchor="ctr"/>
          <a:lstStyle/>
          <a:p>
            <a:pPr indent="0" marL="0">
              <a:buNone/>
            </a:pPr>
            <a:r>
              <a:rPr lang="en-US" sz="1200" b="1" dirty="0">
                <a:solidFill>
                  <a:srgbClr val="2563EB"/>
                </a:solidFill>
                <a:latin typeface="Calibri" pitchFamily="34" charset="0"/>
                <a:ea typeface="Calibri" pitchFamily="34" charset="-122"/>
                <a:cs typeface="Calibri" pitchFamily="34" charset="-120"/>
              </a:rPr>
              <a:t>Newsletter</a:t>
            </a:r>
            <a:endParaRPr lang="en-US" sz="1200" dirty="0"/>
          </a:p>
        </p:txBody>
      </p:sp>
      <p:sp>
        <p:nvSpPr>
          <p:cNvPr id="34" name="Text 32"/>
          <p:cNvSpPr/>
          <p:nvPr/>
        </p:nvSpPr>
        <p:spPr>
          <a:xfrm>
            <a:off x="6080760" y="4434840"/>
            <a:ext cx="5394960" cy="548640"/>
          </a:xfrm>
          <a:prstGeom prst="rect">
            <a:avLst/>
          </a:prstGeom>
          <a:noFill/>
          <a:ln/>
        </p:spPr>
        <p:txBody>
          <a:bodyPr wrap="square" rtlCol="0" anchor="ctr"/>
          <a:lstStyle/>
          <a:p>
            <a:pPr indent="0" marL="0">
              <a:lnSpc>
                <a:spcPct val="115000"/>
              </a:lnSpc>
              <a:buNone/>
            </a:pPr>
            <a:r>
              <a:rPr lang="en-US" sz="1100" dirty="0">
                <a:solidFill>
                  <a:srgbClr val="1E293B"/>
                </a:solidFill>
                <a:latin typeface="Calibri" pitchFamily="34" charset="0"/>
                <a:ea typeface="Calibri" pitchFamily="34" charset="-122"/>
                <a:cs typeface="Calibri" pitchFamily="34" charset="-120"/>
              </a:rPr>
              <a:t>Subject: The Office Is Dead — Long Live Co-Living</a:t>
            </a:r>
            <a:endParaRPr lang="en-US" sz="1100" dirty="0"/>
          </a:p>
          <a:p>
            <a:pPr indent="0" marL="0">
              <a:lnSpc>
                <a:spcPct val="115000"/>
              </a:lnSpc>
              <a:buNone/>
            </a:pPr>
            <a:r>
              <a:rPr lang="en-US" sz="1100" dirty="0">
                <a:solidFill>
                  <a:srgbClr val="1E293B"/>
                </a:solidFill>
                <a:latin typeface="Calibri" pitchFamily="34" charset="0"/>
                <a:ea typeface="Calibri" pitchFamily="34" charset="-122"/>
                <a:cs typeface="Calibri" pitchFamily="34" charset="-120"/>
              </a:rPr>
              <a:t>Hi [First Name], The shift to remote work has created...</a:t>
            </a:r>
            <a:endParaRPr lang="en-US" sz="1100" dirty="0"/>
          </a:p>
        </p:txBody>
      </p:sp>
      <p:sp>
        <p:nvSpPr>
          <p:cNvPr id="35" name="Shape 33"/>
          <p:cNvSpPr/>
          <p:nvPr/>
        </p:nvSpPr>
        <p:spPr>
          <a:xfrm>
            <a:off x="548640" y="5669280"/>
            <a:ext cx="10972800" cy="411480"/>
          </a:xfrm>
          <a:prstGeom prst="roundRect">
            <a:avLst>
              <a:gd name="adj" fmla="val 22222"/>
            </a:avLst>
          </a:prstGeom>
          <a:solidFill>
            <a:srgbClr val="2563EB"/>
          </a:solidFill>
          <a:ln/>
        </p:spPr>
      </p:sp>
      <p:sp>
        <p:nvSpPr>
          <p:cNvPr id="36" name="Text 34"/>
          <p:cNvSpPr/>
          <p:nvPr/>
        </p:nvSpPr>
        <p:spPr>
          <a:xfrm>
            <a:off x="548640" y="5669280"/>
            <a:ext cx="10972800" cy="4114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Processing time: ~10-15 seconds  |  Input: Selected draft  |  Output: 3 platform-ready versions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1E3A5F"/>
          </a:solidFill>
          <a:ln/>
        </p:spPr>
      </p:sp>
      <p:sp>
        <p:nvSpPr>
          <p:cNvPr id="3" name="Text 1"/>
          <p:cNvSpPr/>
          <p:nvPr/>
        </p:nvSpPr>
        <p:spPr>
          <a:xfrm>
            <a:off x="548640" y="182880"/>
            <a:ext cx="10972800" cy="6400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Operations Workflow — OAuth &amp; Publishing</a:t>
            </a:r>
            <a:endParaRPr lang="en-US" sz="2800" dirty="0"/>
          </a:p>
        </p:txBody>
      </p:sp>
      <p:sp>
        <p:nvSpPr>
          <p:cNvPr id="4" name="Shape 2"/>
          <p:cNvSpPr/>
          <p:nvPr/>
        </p:nvSpPr>
        <p:spPr>
          <a:xfrm>
            <a:off x="0" y="1005840"/>
            <a:ext cx="12192000" cy="54864"/>
          </a:xfrm>
          <a:prstGeom prst="rect">
            <a:avLst/>
          </a:prstGeom>
          <a:solidFill>
            <a:srgbClr val="2563EB"/>
          </a:solidFill>
          <a:ln/>
        </p:spPr>
      </p:sp>
      <p:sp>
        <p:nvSpPr>
          <p:cNvPr id="5" name="Text 3"/>
          <p:cNvSpPr/>
          <p:nvPr/>
        </p:nvSpPr>
        <p:spPr>
          <a:xfrm>
            <a:off x="548640" y="6309360"/>
            <a:ext cx="10972800" cy="36576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Ayodele Oluwafimidaraayo</a:t>
            </a:r>
            <a:pPr indent="0" marL="0">
              <a:buNone/>
            </a:pPr>
            <a:r>
              <a:rPr lang="en-US" sz="1000" dirty="0">
                <a:solidFill>
                  <a:srgbClr val="64748B"/>
                </a:solidFill>
                <a:latin typeface="Calibri" pitchFamily="34" charset="0"/>
                <a:ea typeface="Calibri" pitchFamily="34" charset="-122"/>
                <a:cs typeface="Calibri" pitchFamily="34" charset="-120"/>
              </a:rPr>
              <a:t>   |   Slide 7 of 17</a:t>
            </a:r>
            <a:endParaRPr lang="en-US" sz="1000" dirty="0"/>
          </a:p>
        </p:txBody>
      </p:sp>
      <p:sp>
        <p:nvSpPr>
          <p:cNvPr id="6" name="Shape 4"/>
          <p:cNvSpPr/>
          <p:nvPr/>
        </p:nvSpPr>
        <p:spPr>
          <a:xfrm>
            <a:off x="457200" y="1371600"/>
            <a:ext cx="5394960" cy="502920"/>
          </a:xfrm>
          <a:prstGeom prst="roundRect">
            <a:avLst>
              <a:gd name="adj" fmla="val 14545"/>
            </a:avLst>
          </a:prstGeom>
          <a:solidFill>
            <a:srgbClr val="1E3A5F"/>
          </a:solidFill>
          <a:ln/>
        </p:spPr>
      </p:sp>
      <p:sp>
        <p:nvSpPr>
          <p:cNvPr id="7" name="Text 5"/>
          <p:cNvSpPr/>
          <p:nvPr/>
        </p:nvSpPr>
        <p:spPr>
          <a:xfrm>
            <a:off x="457200" y="1371600"/>
            <a:ext cx="539496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OAuth Token Exchange</a:t>
            </a:r>
            <a:endParaRPr lang="en-US" sz="1600" dirty="0"/>
          </a:p>
        </p:txBody>
      </p:sp>
      <p:sp>
        <p:nvSpPr>
          <p:cNvPr id="8" name="Shape 6"/>
          <p:cNvSpPr/>
          <p:nvPr/>
        </p:nvSpPr>
        <p:spPr>
          <a:xfrm>
            <a:off x="640080" y="2103120"/>
            <a:ext cx="5029200" cy="475488"/>
          </a:xfrm>
          <a:prstGeom prst="roundRect">
            <a:avLst>
              <a:gd name="adj" fmla="val 11538"/>
            </a:avLst>
          </a:prstGeom>
          <a:solidFill>
            <a:srgbClr val="F1F5F9"/>
          </a:solidFill>
          <a:ln/>
        </p:spPr>
      </p:sp>
      <p:sp>
        <p:nvSpPr>
          <p:cNvPr id="9" name="Text 7"/>
          <p:cNvSpPr/>
          <p:nvPr/>
        </p:nvSpPr>
        <p:spPr>
          <a:xfrm>
            <a:off x="822960" y="2103120"/>
            <a:ext cx="4663440" cy="475488"/>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1. Receives authorization code from frontend</a:t>
            </a:r>
            <a:endParaRPr lang="en-US" sz="1300" dirty="0"/>
          </a:p>
        </p:txBody>
      </p:sp>
      <p:sp>
        <p:nvSpPr>
          <p:cNvPr id="10" name="Shape 8"/>
          <p:cNvSpPr/>
          <p:nvPr/>
        </p:nvSpPr>
        <p:spPr>
          <a:xfrm>
            <a:off x="640080" y="2697480"/>
            <a:ext cx="5029200" cy="475488"/>
          </a:xfrm>
          <a:prstGeom prst="roundRect">
            <a:avLst>
              <a:gd name="adj" fmla="val 11538"/>
            </a:avLst>
          </a:prstGeom>
          <a:solidFill>
            <a:srgbClr val="F1F5F9"/>
          </a:solidFill>
          <a:ln/>
        </p:spPr>
      </p:sp>
      <p:sp>
        <p:nvSpPr>
          <p:cNvPr id="11" name="Text 9"/>
          <p:cNvSpPr/>
          <p:nvPr/>
        </p:nvSpPr>
        <p:spPr>
          <a:xfrm>
            <a:off x="822960" y="2697480"/>
            <a:ext cx="4663440" cy="475488"/>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2. LinkedIn: OAuth 2.0 bearer token exchange</a:t>
            </a:r>
            <a:endParaRPr lang="en-US" sz="1300" dirty="0"/>
          </a:p>
        </p:txBody>
      </p:sp>
      <p:sp>
        <p:nvSpPr>
          <p:cNvPr id="12" name="Shape 10"/>
          <p:cNvSpPr/>
          <p:nvPr/>
        </p:nvSpPr>
        <p:spPr>
          <a:xfrm>
            <a:off x="640080" y="3291840"/>
            <a:ext cx="5029200" cy="475488"/>
          </a:xfrm>
          <a:prstGeom prst="roundRect">
            <a:avLst>
              <a:gd name="adj" fmla="val 11538"/>
            </a:avLst>
          </a:prstGeom>
          <a:solidFill>
            <a:srgbClr val="F1F5F9"/>
          </a:solidFill>
          <a:ln/>
        </p:spPr>
      </p:sp>
      <p:sp>
        <p:nvSpPr>
          <p:cNvPr id="13" name="Text 11"/>
          <p:cNvSpPr/>
          <p:nvPr/>
        </p:nvSpPr>
        <p:spPr>
          <a:xfrm>
            <a:off x="822960" y="3291840"/>
            <a:ext cx="4663440" cy="475488"/>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3. Twitter: OAuth 2.0 + PKCE token exchange</a:t>
            </a:r>
            <a:endParaRPr lang="en-US" sz="1300" dirty="0"/>
          </a:p>
        </p:txBody>
      </p:sp>
      <p:sp>
        <p:nvSpPr>
          <p:cNvPr id="14" name="Shape 12"/>
          <p:cNvSpPr/>
          <p:nvPr/>
        </p:nvSpPr>
        <p:spPr>
          <a:xfrm>
            <a:off x="640080" y="3886200"/>
            <a:ext cx="5029200" cy="475488"/>
          </a:xfrm>
          <a:prstGeom prst="roundRect">
            <a:avLst>
              <a:gd name="adj" fmla="val 11538"/>
            </a:avLst>
          </a:prstGeom>
          <a:solidFill>
            <a:srgbClr val="F1F5F9"/>
          </a:solidFill>
          <a:ln/>
        </p:spPr>
      </p:sp>
      <p:sp>
        <p:nvSpPr>
          <p:cNvPr id="15" name="Text 13"/>
          <p:cNvSpPr/>
          <p:nvPr/>
        </p:nvSpPr>
        <p:spPr>
          <a:xfrm>
            <a:off x="822960" y="3886200"/>
            <a:ext cx="4663440" cy="475488"/>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4. Stores tokens in Supabase (platform_connections)</a:t>
            </a:r>
            <a:endParaRPr lang="en-US" sz="1300" dirty="0"/>
          </a:p>
        </p:txBody>
      </p:sp>
      <p:sp>
        <p:nvSpPr>
          <p:cNvPr id="16" name="Shape 14"/>
          <p:cNvSpPr/>
          <p:nvPr/>
        </p:nvSpPr>
        <p:spPr>
          <a:xfrm>
            <a:off x="640080" y="4480560"/>
            <a:ext cx="5029200" cy="475488"/>
          </a:xfrm>
          <a:prstGeom prst="roundRect">
            <a:avLst>
              <a:gd name="adj" fmla="val 11538"/>
            </a:avLst>
          </a:prstGeom>
          <a:solidFill>
            <a:srgbClr val="F1F5F9"/>
          </a:solidFill>
          <a:ln/>
        </p:spPr>
      </p:sp>
      <p:sp>
        <p:nvSpPr>
          <p:cNvPr id="17" name="Text 15"/>
          <p:cNvSpPr/>
          <p:nvPr/>
        </p:nvSpPr>
        <p:spPr>
          <a:xfrm>
            <a:off x="822960" y="4480560"/>
            <a:ext cx="4663440" cy="475488"/>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5. Handles token refresh on expiry</a:t>
            </a:r>
            <a:endParaRPr lang="en-US" sz="1300" dirty="0"/>
          </a:p>
        </p:txBody>
      </p:sp>
      <p:sp>
        <p:nvSpPr>
          <p:cNvPr id="18" name="Shape 16"/>
          <p:cNvSpPr/>
          <p:nvPr/>
        </p:nvSpPr>
        <p:spPr>
          <a:xfrm>
            <a:off x="6309360" y="1371600"/>
            <a:ext cx="5394960" cy="502920"/>
          </a:xfrm>
          <a:prstGeom prst="roundRect">
            <a:avLst>
              <a:gd name="adj" fmla="val 14545"/>
            </a:avLst>
          </a:prstGeom>
          <a:solidFill>
            <a:srgbClr val="2563EB"/>
          </a:solidFill>
          <a:ln/>
        </p:spPr>
      </p:sp>
      <p:sp>
        <p:nvSpPr>
          <p:cNvPr id="19" name="Text 17"/>
          <p:cNvSpPr/>
          <p:nvPr/>
        </p:nvSpPr>
        <p:spPr>
          <a:xfrm>
            <a:off x="6309360" y="1371600"/>
            <a:ext cx="539496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Content Pipeline: Publishing</a:t>
            </a:r>
            <a:endParaRPr lang="en-US" sz="1600" dirty="0"/>
          </a:p>
        </p:txBody>
      </p:sp>
      <p:sp>
        <p:nvSpPr>
          <p:cNvPr id="20" name="Shape 18"/>
          <p:cNvSpPr/>
          <p:nvPr/>
        </p:nvSpPr>
        <p:spPr>
          <a:xfrm>
            <a:off x="6492240" y="2103120"/>
            <a:ext cx="5029200" cy="475488"/>
          </a:xfrm>
          <a:prstGeom prst="roundRect">
            <a:avLst>
              <a:gd name="adj" fmla="val 11538"/>
            </a:avLst>
          </a:prstGeom>
          <a:solidFill>
            <a:srgbClr val="F1F5F9"/>
          </a:solidFill>
          <a:ln/>
        </p:spPr>
      </p:sp>
      <p:sp>
        <p:nvSpPr>
          <p:cNvPr id="21" name="Text 19"/>
          <p:cNvSpPr/>
          <p:nvPr/>
        </p:nvSpPr>
        <p:spPr>
          <a:xfrm>
            <a:off x="6675120" y="2103120"/>
            <a:ext cx="4663440" cy="475488"/>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1. Fetches adapted content + platform tokens</a:t>
            </a:r>
            <a:endParaRPr lang="en-US" sz="1300" dirty="0"/>
          </a:p>
        </p:txBody>
      </p:sp>
      <p:sp>
        <p:nvSpPr>
          <p:cNvPr id="22" name="Shape 20"/>
          <p:cNvSpPr/>
          <p:nvPr/>
        </p:nvSpPr>
        <p:spPr>
          <a:xfrm>
            <a:off x="6492240" y="2697480"/>
            <a:ext cx="5029200" cy="475488"/>
          </a:xfrm>
          <a:prstGeom prst="roundRect">
            <a:avLst>
              <a:gd name="adj" fmla="val 11538"/>
            </a:avLst>
          </a:prstGeom>
          <a:solidFill>
            <a:srgbClr val="F1F5F9"/>
          </a:solidFill>
          <a:ln/>
        </p:spPr>
      </p:sp>
      <p:sp>
        <p:nvSpPr>
          <p:cNvPr id="23" name="Text 21"/>
          <p:cNvSpPr/>
          <p:nvPr/>
        </p:nvSpPr>
        <p:spPr>
          <a:xfrm>
            <a:off x="6675120" y="2697480"/>
            <a:ext cx="4663440" cy="475488"/>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2. Publishes to LinkedIn API (live, Fetemi's acct)</a:t>
            </a:r>
            <a:endParaRPr lang="en-US" sz="1300" dirty="0"/>
          </a:p>
        </p:txBody>
      </p:sp>
      <p:sp>
        <p:nvSpPr>
          <p:cNvPr id="24" name="Shape 22"/>
          <p:cNvSpPr/>
          <p:nvPr/>
        </p:nvSpPr>
        <p:spPr>
          <a:xfrm>
            <a:off x="6492240" y="3291840"/>
            <a:ext cx="5029200" cy="475488"/>
          </a:xfrm>
          <a:prstGeom prst="roundRect">
            <a:avLst>
              <a:gd name="adj" fmla="val 11538"/>
            </a:avLst>
          </a:prstGeom>
          <a:solidFill>
            <a:srgbClr val="F1F5F9"/>
          </a:solidFill>
          <a:ln/>
        </p:spPr>
      </p:sp>
      <p:sp>
        <p:nvSpPr>
          <p:cNvPr id="25" name="Text 23"/>
          <p:cNvSpPr/>
          <p:nvPr/>
        </p:nvSpPr>
        <p:spPr>
          <a:xfrm>
            <a:off x="6675120" y="3291840"/>
            <a:ext cx="4663440" cy="475488"/>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3. Publishes to Twitter API v2 (built; credits depleted)</a:t>
            </a:r>
            <a:endParaRPr lang="en-US" sz="1300" dirty="0"/>
          </a:p>
        </p:txBody>
      </p:sp>
      <p:sp>
        <p:nvSpPr>
          <p:cNvPr id="26" name="Shape 24"/>
          <p:cNvSpPr/>
          <p:nvPr/>
        </p:nvSpPr>
        <p:spPr>
          <a:xfrm>
            <a:off x="6492240" y="3886200"/>
            <a:ext cx="5029200" cy="475488"/>
          </a:xfrm>
          <a:prstGeom prst="roundRect">
            <a:avLst>
              <a:gd name="adj" fmla="val 11538"/>
            </a:avLst>
          </a:prstGeom>
          <a:solidFill>
            <a:srgbClr val="F1F5F9"/>
          </a:solidFill>
          <a:ln/>
        </p:spPr>
      </p:sp>
      <p:sp>
        <p:nvSpPr>
          <p:cNvPr id="27" name="Text 25"/>
          <p:cNvSpPr/>
          <p:nvPr/>
        </p:nvSpPr>
        <p:spPr>
          <a:xfrm>
            <a:off x="6675120" y="3886200"/>
            <a:ext cx="4663440" cy="475488"/>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4. Sends Newsletter via Resend API (live)</a:t>
            </a:r>
            <a:endParaRPr lang="en-US" sz="1300" dirty="0"/>
          </a:p>
        </p:txBody>
      </p:sp>
      <p:sp>
        <p:nvSpPr>
          <p:cNvPr id="28" name="Shape 26"/>
          <p:cNvSpPr/>
          <p:nvPr/>
        </p:nvSpPr>
        <p:spPr>
          <a:xfrm>
            <a:off x="6492240" y="4480560"/>
            <a:ext cx="5029200" cy="475488"/>
          </a:xfrm>
          <a:prstGeom prst="roundRect">
            <a:avLst>
              <a:gd name="adj" fmla="val 11538"/>
            </a:avLst>
          </a:prstGeom>
          <a:solidFill>
            <a:srgbClr val="F1F5F9"/>
          </a:solidFill>
          <a:ln/>
        </p:spPr>
      </p:sp>
      <p:sp>
        <p:nvSpPr>
          <p:cNvPr id="29" name="Text 27"/>
          <p:cNvSpPr/>
          <p:nvPr/>
        </p:nvSpPr>
        <p:spPr>
          <a:xfrm>
            <a:off x="6675120" y="4480560"/>
            <a:ext cx="4663440" cy="475488"/>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5. Updates per-platform status in Supabase</a:t>
            </a:r>
            <a:endParaRPr lang="en-US" sz="1300" dirty="0"/>
          </a:p>
        </p:txBody>
      </p:sp>
      <p:sp>
        <p:nvSpPr>
          <p:cNvPr id="30" name="Text 28"/>
          <p:cNvSpPr/>
          <p:nvPr/>
        </p:nvSpPr>
        <p:spPr>
          <a:xfrm>
            <a:off x="548640" y="5212080"/>
            <a:ext cx="10972800" cy="320040"/>
          </a:xfrm>
          <a:prstGeom prst="rect">
            <a:avLst/>
          </a:prstGeom>
          <a:noFill/>
          <a:ln/>
        </p:spPr>
        <p:txBody>
          <a:bodyPr wrap="square" rtlCol="0" anchor="ctr"/>
          <a:lstStyle/>
          <a:p>
            <a:pPr indent="0" marL="0">
              <a:buNone/>
            </a:pPr>
            <a:r>
              <a:rPr lang="en-US" sz="1500" b="1" dirty="0">
                <a:solidFill>
                  <a:srgbClr val="1E3A5F"/>
                </a:solidFill>
                <a:latin typeface="Calibri" pitchFamily="34" charset="0"/>
                <a:ea typeface="Calibri" pitchFamily="34" charset="-122"/>
                <a:cs typeface="Calibri" pitchFamily="34" charset="-120"/>
              </a:rPr>
              <a:t>Key Features:</a:t>
            </a:r>
            <a:endParaRPr lang="en-US" sz="1500" dirty="0"/>
          </a:p>
        </p:txBody>
      </p:sp>
      <p:sp>
        <p:nvSpPr>
          <p:cNvPr id="31" name="Text 29"/>
          <p:cNvSpPr/>
          <p:nvPr/>
        </p:nvSpPr>
        <p:spPr>
          <a:xfrm>
            <a:off x="731520" y="5532120"/>
            <a:ext cx="10972800" cy="274320"/>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 Idempotency keys prevent duplicate posts across all platforms</a:t>
            </a:r>
            <a:endParaRPr lang="en-US" sz="1300" dirty="0"/>
          </a:p>
        </p:txBody>
      </p:sp>
      <p:sp>
        <p:nvSpPr>
          <p:cNvPr id="32" name="Text 30"/>
          <p:cNvSpPr/>
          <p:nvPr/>
        </p:nvSpPr>
        <p:spPr>
          <a:xfrm>
            <a:off x="731520" y="5852160"/>
            <a:ext cx="10972800" cy="274320"/>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 Partial failure handling: one platform failing does not block others</a:t>
            </a:r>
            <a:endParaRPr lang="en-US" sz="1300" dirty="0"/>
          </a:p>
        </p:txBody>
      </p:sp>
      <p:sp>
        <p:nvSpPr>
          <p:cNvPr id="33" name="Text 31"/>
          <p:cNvSpPr/>
          <p:nvPr/>
        </p:nvSpPr>
        <p:spPr>
          <a:xfrm>
            <a:off x="731520" y="6172200"/>
            <a:ext cx="10972800" cy="274320"/>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 Real-time status updates pushed to frontend via Supabase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1E3A5F"/>
          </a:solidFill>
          <a:ln/>
        </p:spPr>
      </p:sp>
      <p:sp>
        <p:nvSpPr>
          <p:cNvPr id="3" name="Text 1"/>
          <p:cNvSpPr/>
          <p:nvPr/>
        </p:nvSpPr>
        <p:spPr>
          <a:xfrm>
            <a:off x="548640" y="182880"/>
            <a:ext cx="10972800" cy="6400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Frontend — User Experience</a:t>
            </a:r>
            <a:endParaRPr lang="en-US" sz="2800" dirty="0"/>
          </a:p>
        </p:txBody>
      </p:sp>
      <p:sp>
        <p:nvSpPr>
          <p:cNvPr id="4" name="Shape 2"/>
          <p:cNvSpPr/>
          <p:nvPr/>
        </p:nvSpPr>
        <p:spPr>
          <a:xfrm>
            <a:off x="0" y="1005840"/>
            <a:ext cx="12192000" cy="54864"/>
          </a:xfrm>
          <a:prstGeom prst="rect">
            <a:avLst/>
          </a:prstGeom>
          <a:solidFill>
            <a:srgbClr val="2563EB"/>
          </a:solidFill>
          <a:ln/>
        </p:spPr>
      </p:sp>
      <p:sp>
        <p:nvSpPr>
          <p:cNvPr id="5" name="Text 3"/>
          <p:cNvSpPr/>
          <p:nvPr/>
        </p:nvSpPr>
        <p:spPr>
          <a:xfrm>
            <a:off x="548640" y="6309360"/>
            <a:ext cx="10972800" cy="36576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Ayodele Oluwafimidaraayo</a:t>
            </a:r>
            <a:pPr indent="0" marL="0">
              <a:buNone/>
            </a:pPr>
            <a:r>
              <a:rPr lang="en-US" sz="1000" dirty="0">
                <a:solidFill>
                  <a:srgbClr val="64748B"/>
                </a:solidFill>
                <a:latin typeface="Calibri" pitchFamily="34" charset="0"/>
                <a:ea typeface="Calibri" pitchFamily="34" charset="-122"/>
                <a:cs typeface="Calibri" pitchFamily="34" charset="-120"/>
              </a:rPr>
              <a:t>   |   Slide 8 of 17</a:t>
            </a:r>
            <a:endParaRPr lang="en-US" sz="1000" dirty="0"/>
          </a:p>
        </p:txBody>
      </p:sp>
      <p:sp>
        <p:nvSpPr>
          <p:cNvPr id="6" name="Shape 4"/>
          <p:cNvSpPr/>
          <p:nvPr/>
        </p:nvSpPr>
        <p:spPr>
          <a:xfrm>
            <a:off x="548640" y="1371600"/>
            <a:ext cx="11064240" cy="685800"/>
          </a:xfrm>
          <a:prstGeom prst="roundRect">
            <a:avLst>
              <a:gd name="adj" fmla="val 8000"/>
            </a:avLst>
          </a:prstGeom>
          <a:solidFill>
            <a:srgbClr val="F1F5F9"/>
          </a:solidFill>
          <a:ln w="6350">
            <a:solidFill>
              <a:srgbClr val="CBD5E1"/>
            </a:solidFill>
            <a:prstDash val="solid"/>
          </a:ln>
        </p:spPr>
      </p:sp>
      <p:sp>
        <p:nvSpPr>
          <p:cNvPr id="7" name="Text 5"/>
          <p:cNvSpPr/>
          <p:nvPr/>
        </p:nvSpPr>
        <p:spPr>
          <a:xfrm>
            <a:off x="822960" y="1371600"/>
            <a:ext cx="3200400" cy="685800"/>
          </a:xfrm>
          <a:prstGeom prst="rect">
            <a:avLst/>
          </a:prstGeom>
          <a:noFill/>
          <a:ln/>
        </p:spPr>
        <p:txBody>
          <a:bodyPr wrap="square" rtlCol="0" anchor="ctr"/>
          <a:lstStyle/>
          <a:p>
            <a:pPr indent="0" marL="0">
              <a:buNone/>
            </a:pPr>
            <a:r>
              <a:rPr lang="en-US" sz="1500" b="1" dirty="0">
                <a:solidFill>
                  <a:srgbClr val="1E3A5F"/>
                </a:solidFill>
                <a:latin typeface="Calibri" pitchFamily="34" charset="0"/>
                <a:ea typeface="Calibri" pitchFamily="34" charset="-122"/>
                <a:cs typeface="Calibri" pitchFamily="34" charset="-120"/>
              </a:rPr>
              <a:t>Magic Link Authentication</a:t>
            </a:r>
            <a:endParaRPr lang="en-US" sz="1500" dirty="0"/>
          </a:p>
        </p:txBody>
      </p:sp>
      <p:sp>
        <p:nvSpPr>
          <p:cNvPr id="8" name="Text 6"/>
          <p:cNvSpPr/>
          <p:nvPr/>
        </p:nvSpPr>
        <p:spPr>
          <a:xfrm>
            <a:off x="4023360" y="1371600"/>
            <a:ext cx="7315200" cy="685800"/>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No passwords — secure email-based login via Supabase Auth</a:t>
            </a:r>
            <a:endParaRPr lang="en-US" sz="1300" dirty="0"/>
          </a:p>
        </p:txBody>
      </p:sp>
      <p:sp>
        <p:nvSpPr>
          <p:cNvPr id="9" name="Shape 7"/>
          <p:cNvSpPr/>
          <p:nvPr/>
        </p:nvSpPr>
        <p:spPr>
          <a:xfrm>
            <a:off x="548640" y="2176272"/>
            <a:ext cx="11064240" cy="685800"/>
          </a:xfrm>
          <a:prstGeom prst="roundRect">
            <a:avLst>
              <a:gd name="adj" fmla="val 8000"/>
            </a:avLst>
          </a:prstGeom>
          <a:solidFill>
            <a:srgbClr val="FFFFFF"/>
          </a:solidFill>
          <a:ln w="6350">
            <a:solidFill>
              <a:srgbClr val="CBD5E1"/>
            </a:solidFill>
            <a:prstDash val="solid"/>
          </a:ln>
        </p:spPr>
      </p:sp>
      <p:sp>
        <p:nvSpPr>
          <p:cNvPr id="10" name="Text 8"/>
          <p:cNvSpPr/>
          <p:nvPr/>
        </p:nvSpPr>
        <p:spPr>
          <a:xfrm>
            <a:off x="822960" y="2176272"/>
            <a:ext cx="3200400" cy="685800"/>
          </a:xfrm>
          <a:prstGeom prst="rect">
            <a:avLst/>
          </a:prstGeom>
          <a:noFill/>
          <a:ln/>
        </p:spPr>
        <p:txBody>
          <a:bodyPr wrap="square" rtlCol="0" anchor="ctr"/>
          <a:lstStyle/>
          <a:p>
            <a:pPr indent="0" marL="0">
              <a:buNone/>
            </a:pPr>
            <a:r>
              <a:rPr lang="en-US" sz="1500" b="1" dirty="0">
                <a:solidFill>
                  <a:srgbClr val="1E3A5F"/>
                </a:solidFill>
                <a:latin typeface="Calibri" pitchFamily="34" charset="0"/>
                <a:ea typeface="Calibri" pitchFamily="34" charset="-122"/>
                <a:cs typeface="Calibri" pitchFamily="34" charset="-120"/>
              </a:rPr>
              <a:t>Invite Flow</a:t>
            </a:r>
            <a:endParaRPr lang="en-US" sz="1500" dirty="0"/>
          </a:p>
        </p:txBody>
      </p:sp>
      <p:sp>
        <p:nvSpPr>
          <p:cNvPr id="11" name="Text 9"/>
          <p:cNvSpPr/>
          <p:nvPr/>
        </p:nvSpPr>
        <p:spPr>
          <a:xfrm>
            <a:off x="4023360" y="2176272"/>
            <a:ext cx="7315200" cy="685800"/>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Token-based invite URL → AcceptInvite page → magic link → active member</a:t>
            </a:r>
            <a:endParaRPr lang="en-US" sz="1300" dirty="0"/>
          </a:p>
        </p:txBody>
      </p:sp>
      <p:sp>
        <p:nvSpPr>
          <p:cNvPr id="12" name="Shape 10"/>
          <p:cNvSpPr/>
          <p:nvPr/>
        </p:nvSpPr>
        <p:spPr>
          <a:xfrm>
            <a:off x="548640" y="2980944"/>
            <a:ext cx="11064240" cy="685800"/>
          </a:xfrm>
          <a:prstGeom prst="roundRect">
            <a:avLst>
              <a:gd name="adj" fmla="val 8000"/>
            </a:avLst>
          </a:prstGeom>
          <a:solidFill>
            <a:srgbClr val="F1F5F9"/>
          </a:solidFill>
          <a:ln w="6350">
            <a:solidFill>
              <a:srgbClr val="CBD5E1"/>
            </a:solidFill>
            <a:prstDash val="solid"/>
          </a:ln>
        </p:spPr>
      </p:sp>
      <p:sp>
        <p:nvSpPr>
          <p:cNvPr id="13" name="Text 11"/>
          <p:cNvSpPr/>
          <p:nvPr/>
        </p:nvSpPr>
        <p:spPr>
          <a:xfrm>
            <a:off x="822960" y="2980944"/>
            <a:ext cx="3200400" cy="685800"/>
          </a:xfrm>
          <a:prstGeom prst="rect">
            <a:avLst/>
          </a:prstGeom>
          <a:noFill/>
          <a:ln/>
        </p:spPr>
        <p:txBody>
          <a:bodyPr wrap="square" rtlCol="0" anchor="ctr"/>
          <a:lstStyle/>
          <a:p>
            <a:pPr indent="0" marL="0">
              <a:buNone/>
            </a:pPr>
            <a:r>
              <a:rPr lang="en-US" sz="1500" b="1" dirty="0">
                <a:solidFill>
                  <a:srgbClr val="1E3A5F"/>
                </a:solidFill>
                <a:latin typeface="Calibri" pitchFamily="34" charset="0"/>
                <a:ea typeface="Calibri" pitchFamily="34" charset="-122"/>
                <a:cs typeface="Calibri" pitchFamily="34" charset="-120"/>
              </a:rPr>
              <a:t>Role-Based Access</a:t>
            </a:r>
            <a:endParaRPr lang="en-US" sz="1500" dirty="0"/>
          </a:p>
        </p:txBody>
      </p:sp>
      <p:sp>
        <p:nvSpPr>
          <p:cNvPr id="14" name="Text 12"/>
          <p:cNvSpPr/>
          <p:nvPr/>
        </p:nvSpPr>
        <p:spPr>
          <a:xfrm>
            <a:off x="4023360" y="2980944"/>
            <a:ext cx="7315200" cy="685800"/>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UI adapts based on user role (Owner &gt; Admin &gt; Editor &gt; Viewer)</a:t>
            </a:r>
            <a:endParaRPr lang="en-US" sz="1300" dirty="0"/>
          </a:p>
        </p:txBody>
      </p:sp>
      <p:sp>
        <p:nvSpPr>
          <p:cNvPr id="15" name="Shape 13"/>
          <p:cNvSpPr/>
          <p:nvPr/>
        </p:nvSpPr>
        <p:spPr>
          <a:xfrm>
            <a:off x="548640" y="3785616"/>
            <a:ext cx="11064240" cy="685800"/>
          </a:xfrm>
          <a:prstGeom prst="roundRect">
            <a:avLst>
              <a:gd name="adj" fmla="val 8000"/>
            </a:avLst>
          </a:prstGeom>
          <a:solidFill>
            <a:srgbClr val="FFFFFF"/>
          </a:solidFill>
          <a:ln w="6350">
            <a:solidFill>
              <a:srgbClr val="CBD5E1"/>
            </a:solidFill>
            <a:prstDash val="solid"/>
          </a:ln>
        </p:spPr>
      </p:sp>
      <p:sp>
        <p:nvSpPr>
          <p:cNvPr id="16" name="Text 14"/>
          <p:cNvSpPr/>
          <p:nvPr/>
        </p:nvSpPr>
        <p:spPr>
          <a:xfrm>
            <a:off x="822960" y="3785616"/>
            <a:ext cx="3200400" cy="685800"/>
          </a:xfrm>
          <a:prstGeom prst="rect">
            <a:avLst/>
          </a:prstGeom>
          <a:noFill/>
          <a:ln/>
        </p:spPr>
        <p:txBody>
          <a:bodyPr wrap="square" rtlCol="0" anchor="ctr"/>
          <a:lstStyle/>
          <a:p>
            <a:pPr indent="0" marL="0">
              <a:buNone/>
            </a:pPr>
            <a:r>
              <a:rPr lang="en-US" sz="1500" b="1" dirty="0">
                <a:solidFill>
                  <a:srgbClr val="1E3A5F"/>
                </a:solidFill>
                <a:latin typeface="Calibri" pitchFamily="34" charset="0"/>
                <a:ea typeface="Calibri" pitchFamily="34" charset="-122"/>
                <a:cs typeface="Calibri" pitchFamily="34" charset="-120"/>
              </a:rPr>
              <a:t>Real-Time Dashboard</a:t>
            </a:r>
            <a:endParaRPr lang="en-US" sz="1500" dirty="0"/>
          </a:p>
        </p:txBody>
      </p:sp>
      <p:sp>
        <p:nvSpPr>
          <p:cNvPr id="17" name="Text 15"/>
          <p:cNvSpPr/>
          <p:nvPr/>
        </p:nvSpPr>
        <p:spPr>
          <a:xfrm>
            <a:off x="4023360" y="3785616"/>
            <a:ext cx="7315200" cy="685800"/>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Submission status updates with 15s polling</a:t>
            </a:r>
            <a:endParaRPr lang="en-US" sz="1300" dirty="0"/>
          </a:p>
        </p:txBody>
      </p:sp>
      <p:sp>
        <p:nvSpPr>
          <p:cNvPr id="18" name="Shape 16"/>
          <p:cNvSpPr/>
          <p:nvPr/>
        </p:nvSpPr>
        <p:spPr>
          <a:xfrm>
            <a:off x="548640" y="4590288"/>
            <a:ext cx="11064240" cy="685800"/>
          </a:xfrm>
          <a:prstGeom prst="roundRect">
            <a:avLst>
              <a:gd name="adj" fmla="val 8000"/>
            </a:avLst>
          </a:prstGeom>
          <a:solidFill>
            <a:srgbClr val="F1F5F9"/>
          </a:solidFill>
          <a:ln w="6350">
            <a:solidFill>
              <a:srgbClr val="CBD5E1"/>
            </a:solidFill>
            <a:prstDash val="solid"/>
          </a:ln>
        </p:spPr>
      </p:sp>
      <p:sp>
        <p:nvSpPr>
          <p:cNvPr id="19" name="Text 17"/>
          <p:cNvSpPr/>
          <p:nvPr/>
        </p:nvSpPr>
        <p:spPr>
          <a:xfrm>
            <a:off x="822960" y="4590288"/>
            <a:ext cx="3200400" cy="685800"/>
          </a:xfrm>
          <a:prstGeom prst="rect">
            <a:avLst/>
          </a:prstGeom>
          <a:noFill/>
          <a:ln/>
        </p:spPr>
        <p:txBody>
          <a:bodyPr wrap="square" rtlCol="0" anchor="ctr"/>
          <a:lstStyle/>
          <a:p>
            <a:pPr indent="0" marL="0">
              <a:buNone/>
            </a:pPr>
            <a:r>
              <a:rPr lang="en-US" sz="1500" b="1" dirty="0">
                <a:solidFill>
                  <a:srgbClr val="1E3A5F"/>
                </a:solidFill>
                <a:latin typeface="Calibri" pitchFamily="34" charset="0"/>
                <a:ea typeface="Calibri" pitchFamily="34" charset="-122"/>
                <a:cs typeface="Calibri" pitchFamily="34" charset="-120"/>
              </a:rPr>
              <a:t>Draft Review</a:t>
            </a:r>
            <a:endParaRPr lang="en-US" sz="1500" dirty="0"/>
          </a:p>
        </p:txBody>
      </p:sp>
      <p:sp>
        <p:nvSpPr>
          <p:cNvPr id="20" name="Text 18"/>
          <p:cNvSpPr/>
          <p:nvPr/>
        </p:nvSpPr>
        <p:spPr>
          <a:xfrm>
            <a:off x="4023360" y="4590288"/>
            <a:ext cx="7315200" cy="685800"/>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Expand/collapse 3 generated drafts, compare angles side-by-side</a:t>
            </a:r>
            <a:endParaRPr lang="en-US" sz="1300" dirty="0"/>
          </a:p>
        </p:txBody>
      </p:sp>
      <p:sp>
        <p:nvSpPr>
          <p:cNvPr id="21" name="Shape 19"/>
          <p:cNvSpPr/>
          <p:nvPr/>
        </p:nvSpPr>
        <p:spPr>
          <a:xfrm>
            <a:off x="548640" y="5394960"/>
            <a:ext cx="11064240" cy="685800"/>
          </a:xfrm>
          <a:prstGeom prst="roundRect">
            <a:avLst>
              <a:gd name="adj" fmla="val 8000"/>
            </a:avLst>
          </a:prstGeom>
          <a:solidFill>
            <a:srgbClr val="FFFFFF"/>
          </a:solidFill>
          <a:ln w="6350">
            <a:solidFill>
              <a:srgbClr val="CBD5E1"/>
            </a:solidFill>
            <a:prstDash val="solid"/>
          </a:ln>
        </p:spPr>
      </p:sp>
      <p:sp>
        <p:nvSpPr>
          <p:cNvPr id="22" name="Text 20"/>
          <p:cNvSpPr/>
          <p:nvPr/>
        </p:nvSpPr>
        <p:spPr>
          <a:xfrm>
            <a:off x="822960" y="5394960"/>
            <a:ext cx="3200400" cy="685800"/>
          </a:xfrm>
          <a:prstGeom prst="rect">
            <a:avLst/>
          </a:prstGeom>
          <a:noFill/>
          <a:ln/>
        </p:spPr>
        <p:txBody>
          <a:bodyPr wrap="square" rtlCol="0" anchor="ctr"/>
          <a:lstStyle/>
          <a:p>
            <a:pPr indent="0" marL="0">
              <a:buNone/>
            </a:pPr>
            <a:r>
              <a:rPr lang="en-US" sz="1500" b="1" dirty="0">
                <a:solidFill>
                  <a:srgbClr val="1E3A5F"/>
                </a:solidFill>
                <a:latin typeface="Calibri" pitchFamily="34" charset="0"/>
                <a:ea typeface="Calibri" pitchFamily="34" charset="-122"/>
                <a:cs typeface="Calibri" pitchFamily="34" charset="-120"/>
              </a:rPr>
              <a:t>Approval Gate</a:t>
            </a:r>
            <a:endParaRPr lang="en-US" sz="1500" dirty="0"/>
          </a:p>
        </p:txBody>
      </p:sp>
      <p:sp>
        <p:nvSpPr>
          <p:cNvPr id="23" name="Text 21"/>
          <p:cNvSpPr/>
          <p:nvPr/>
        </p:nvSpPr>
        <p:spPr>
          <a:xfrm>
            <a:off x="4023360" y="5394960"/>
            <a:ext cx="7315200" cy="685800"/>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Only Admin/Owner can approve and trigger publishing</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1E3A5F"/>
          </a:solidFill>
          <a:ln/>
        </p:spPr>
      </p:sp>
      <p:sp>
        <p:nvSpPr>
          <p:cNvPr id="3" name="Text 1"/>
          <p:cNvSpPr/>
          <p:nvPr/>
        </p:nvSpPr>
        <p:spPr>
          <a:xfrm>
            <a:off x="548640" y="182880"/>
            <a:ext cx="10972800" cy="6400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Frontend — Team &amp; Platform Management</a:t>
            </a:r>
            <a:endParaRPr lang="en-US" sz="2800" dirty="0"/>
          </a:p>
        </p:txBody>
      </p:sp>
      <p:sp>
        <p:nvSpPr>
          <p:cNvPr id="4" name="Shape 2"/>
          <p:cNvSpPr/>
          <p:nvPr/>
        </p:nvSpPr>
        <p:spPr>
          <a:xfrm>
            <a:off x="0" y="1005840"/>
            <a:ext cx="12192000" cy="54864"/>
          </a:xfrm>
          <a:prstGeom prst="rect">
            <a:avLst/>
          </a:prstGeom>
          <a:solidFill>
            <a:srgbClr val="2563EB"/>
          </a:solidFill>
          <a:ln/>
        </p:spPr>
      </p:sp>
      <p:sp>
        <p:nvSpPr>
          <p:cNvPr id="5" name="Text 3"/>
          <p:cNvSpPr/>
          <p:nvPr/>
        </p:nvSpPr>
        <p:spPr>
          <a:xfrm>
            <a:off x="548640" y="6309360"/>
            <a:ext cx="10972800" cy="36576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Ayodele Oluwafimidaraayo</a:t>
            </a:r>
            <a:pPr indent="0" marL="0">
              <a:buNone/>
            </a:pPr>
            <a:r>
              <a:rPr lang="en-US" sz="1000" dirty="0">
                <a:solidFill>
                  <a:srgbClr val="64748B"/>
                </a:solidFill>
                <a:latin typeface="Calibri" pitchFamily="34" charset="0"/>
                <a:ea typeface="Calibri" pitchFamily="34" charset="-122"/>
                <a:cs typeface="Calibri" pitchFamily="34" charset="-120"/>
              </a:rPr>
              <a:t>   |   Slide 9 of 17</a:t>
            </a:r>
            <a:endParaRPr lang="en-US" sz="1000" dirty="0"/>
          </a:p>
        </p:txBody>
      </p:sp>
      <p:sp>
        <p:nvSpPr>
          <p:cNvPr id="6" name="Shape 4"/>
          <p:cNvSpPr/>
          <p:nvPr/>
        </p:nvSpPr>
        <p:spPr>
          <a:xfrm>
            <a:off x="457200" y="1371600"/>
            <a:ext cx="5394960" cy="502920"/>
          </a:xfrm>
          <a:prstGeom prst="roundRect">
            <a:avLst>
              <a:gd name="adj" fmla="val 14545"/>
            </a:avLst>
          </a:prstGeom>
          <a:solidFill>
            <a:srgbClr val="1E3A5F"/>
          </a:solidFill>
          <a:ln/>
        </p:spPr>
      </p:sp>
      <p:sp>
        <p:nvSpPr>
          <p:cNvPr id="7" name="Text 5"/>
          <p:cNvSpPr/>
          <p:nvPr/>
        </p:nvSpPr>
        <p:spPr>
          <a:xfrm>
            <a:off x="457200" y="1371600"/>
            <a:ext cx="539496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Team Management</a:t>
            </a:r>
            <a:endParaRPr lang="en-US" sz="1600" dirty="0"/>
          </a:p>
        </p:txBody>
      </p:sp>
      <p:sp>
        <p:nvSpPr>
          <p:cNvPr id="8" name="Text 6"/>
          <p:cNvSpPr/>
          <p:nvPr/>
        </p:nvSpPr>
        <p:spPr>
          <a:xfrm>
            <a:off x="640080" y="2103120"/>
            <a:ext cx="5029200" cy="438912"/>
          </a:xfrm>
          <a:prstGeom prst="rect">
            <a:avLst/>
          </a:prstGeom>
          <a:noFill/>
          <a:ln/>
        </p:spPr>
        <p:txBody>
          <a:bodyPr wrap="square" rtlCol="0" anchor="ctr"/>
          <a:lstStyle/>
          <a:p>
            <a:pPr indent="0" marL="0">
              <a:buNone/>
            </a:pPr>
            <a:r>
              <a:rPr lang="en-US" sz="1400" dirty="0">
                <a:solidFill>
                  <a:srgbClr val="1E293B"/>
                </a:solidFill>
                <a:latin typeface="Calibri" pitchFamily="34" charset="0"/>
                <a:ea typeface="Calibri" pitchFamily="34" charset="-122"/>
                <a:cs typeface="Calibri" pitchFamily="34" charset="-120"/>
              </a:rPr>
              <a:t>▸ Invite members by email</a:t>
            </a:r>
            <a:endParaRPr lang="en-US" sz="1400" dirty="0"/>
          </a:p>
        </p:txBody>
      </p:sp>
      <p:sp>
        <p:nvSpPr>
          <p:cNvPr id="9" name="Text 7"/>
          <p:cNvSpPr/>
          <p:nvPr/>
        </p:nvSpPr>
        <p:spPr>
          <a:xfrm>
            <a:off x="640080" y="2651760"/>
            <a:ext cx="5029200" cy="438912"/>
          </a:xfrm>
          <a:prstGeom prst="rect">
            <a:avLst/>
          </a:prstGeom>
          <a:noFill/>
          <a:ln/>
        </p:spPr>
        <p:txBody>
          <a:bodyPr wrap="square" rtlCol="0" anchor="ctr"/>
          <a:lstStyle/>
          <a:p>
            <a:pPr indent="0" marL="0">
              <a:buNone/>
            </a:pPr>
            <a:r>
              <a:rPr lang="en-US" sz="1400" dirty="0">
                <a:solidFill>
                  <a:srgbClr val="1E293B"/>
                </a:solidFill>
                <a:latin typeface="Calibri" pitchFamily="34" charset="0"/>
                <a:ea typeface="Calibri" pitchFamily="34" charset="-122"/>
                <a:cs typeface="Calibri" pitchFamily="34" charset="-120"/>
              </a:rPr>
              <a:t>▸ Assign roles: Owner, Admin, Editor, Viewer</a:t>
            </a:r>
            <a:endParaRPr lang="en-US" sz="1400" dirty="0"/>
          </a:p>
        </p:txBody>
      </p:sp>
      <p:sp>
        <p:nvSpPr>
          <p:cNvPr id="10" name="Text 8"/>
          <p:cNvSpPr/>
          <p:nvPr/>
        </p:nvSpPr>
        <p:spPr>
          <a:xfrm>
            <a:off x="640080" y="3200400"/>
            <a:ext cx="5029200" cy="438912"/>
          </a:xfrm>
          <a:prstGeom prst="rect">
            <a:avLst/>
          </a:prstGeom>
          <a:noFill/>
          <a:ln/>
        </p:spPr>
        <p:txBody>
          <a:bodyPr wrap="square" rtlCol="0" anchor="ctr"/>
          <a:lstStyle/>
          <a:p>
            <a:pPr indent="0" marL="0">
              <a:buNone/>
            </a:pPr>
            <a:r>
              <a:rPr lang="en-US" sz="1400" dirty="0">
                <a:solidFill>
                  <a:srgbClr val="1E293B"/>
                </a:solidFill>
                <a:latin typeface="Calibri" pitchFamily="34" charset="0"/>
                <a:ea typeface="Calibri" pitchFamily="34" charset="-122"/>
                <a:cs typeface="Calibri" pitchFamily="34" charset="-120"/>
              </a:rPr>
              <a:t>▸ Update or remove team member roles</a:t>
            </a:r>
            <a:endParaRPr lang="en-US" sz="1400" dirty="0"/>
          </a:p>
        </p:txBody>
      </p:sp>
      <p:sp>
        <p:nvSpPr>
          <p:cNvPr id="11" name="Text 9"/>
          <p:cNvSpPr/>
          <p:nvPr/>
        </p:nvSpPr>
        <p:spPr>
          <a:xfrm>
            <a:off x="640080" y="3749040"/>
            <a:ext cx="5029200" cy="438912"/>
          </a:xfrm>
          <a:prstGeom prst="rect">
            <a:avLst/>
          </a:prstGeom>
          <a:noFill/>
          <a:ln/>
        </p:spPr>
        <p:txBody>
          <a:bodyPr wrap="square" rtlCol="0" anchor="ctr"/>
          <a:lstStyle/>
          <a:p>
            <a:pPr indent="0" marL="0">
              <a:buNone/>
            </a:pPr>
            <a:r>
              <a:rPr lang="en-US" sz="1400" dirty="0">
                <a:solidFill>
                  <a:srgbClr val="1E293B"/>
                </a:solidFill>
                <a:latin typeface="Calibri" pitchFamily="34" charset="0"/>
                <a:ea typeface="Calibri" pitchFamily="34" charset="-122"/>
                <a:cs typeface="Calibri" pitchFamily="34" charset="-120"/>
              </a:rPr>
              <a:t>▸ View team member activity and status</a:t>
            </a:r>
            <a:endParaRPr lang="en-US" sz="1400" dirty="0"/>
          </a:p>
        </p:txBody>
      </p:sp>
      <p:sp>
        <p:nvSpPr>
          <p:cNvPr id="12" name="Text 10"/>
          <p:cNvSpPr/>
          <p:nvPr/>
        </p:nvSpPr>
        <p:spPr>
          <a:xfrm>
            <a:off x="640080" y="4297680"/>
            <a:ext cx="5029200" cy="438912"/>
          </a:xfrm>
          <a:prstGeom prst="rect">
            <a:avLst/>
          </a:prstGeom>
          <a:noFill/>
          <a:ln/>
        </p:spPr>
        <p:txBody>
          <a:bodyPr wrap="square" rtlCol="0" anchor="ctr"/>
          <a:lstStyle/>
          <a:p>
            <a:pPr indent="0" marL="0">
              <a:buNone/>
            </a:pPr>
            <a:r>
              <a:rPr lang="en-US" sz="1400" dirty="0">
                <a:solidFill>
                  <a:srgbClr val="1E293B"/>
                </a:solidFill>
                <a:latin typeface="Calibri" pitchFamily="34" charset="0"/>
                <a:ea typeface="Calibri" pitchFamily="34" charset="-122"/>
                <a:cs typeface="Calibri" pitchFamily="34" charset="-120"/>
              </a:rPr>
              <a:t>▸ Role changes take effect immediately (RLS)</a:t>
            </a:r>
            <a:endParaRPr lang="en-US" sz="1400" dirty="0"/>
          </a:p>
        </p:txBody>
      </p:sp>
      <p:sp>
        <p:nvSpPr>
          <p:cNvPr id="13" name="Shape 11"/>
          <p:cNvSpPr/>
          <p:nvPr/>
        </p:nvSpPr>
        <p:spPr>
          <a:xfrm>
            <a:off x="6309360" y="1371600"/>
            <a:ext cx="5394960" cy="502920"/>
          </a:xfrm>
          <a:prstGeom prst="roundRect">
            <a:avLst>
              <a:gd name="adj" fmla="val 14545"/>
            </a:avLst>
          </a:prstGeom>
          <a:solidFill>
            <a:srgbClr val="2563EB"/>
          </a:solidFill>
          <a:ln/>
        </p:spPr>
      </p:sp>
      <p:sp>
        <p:nvSpPr>
          <p:cNvPr id="14" name="Text 12"/>
          <p:cNvSpPr/>
          <p:nvPr/>
        </p:nvSpPr>
        <p:spPr>
          <a:xfrm>
            <a:off x="6309360" y="1371600"/>
            <a:ext cx="539496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Platform Connections</a:t>
            </a:r>
            <a:endParaRPr lang="en-US" sz="1600" dirty="0"/>
          </a:p>
        </p:txBody>
      </p:sp>
      <p:sp>
        <p:nvSpPr>
          <p:cNvPr id="15" name="Shape 13"/>
          <p:cNvSpPr/>
          <p:nvPr/>
        </p:nvSpPr>
        <p:spPr>
          <a:xfrm>
            <a:off x="6492240" y="2103120"/>
            <a:ext cx="5029200" cy="731520"/>
          </a:xfrm>
          <a:prstGeom prst="roundRect">
            <a:avLst>
              <a:gd name="adj" fmla="val 7500"/>
            </a:avLst>
          </a:prstGeom>
          <a:solidFill>
            <a:srgbClr val="F1F5F9"/>
          </a:solidFill>
          <a:ln/>
        </p:spPr>
      </p:sp>
      <p:sp>
        <p:nvSpPr>
          <p:cNvPr id="16" name="Text 14"/>
          <p:cNvSpPr/>
          <p:nvPr/>
        </p:nvSpPr>
        <p:spPr>
          <a:xfrm>
            <a:off x="6675120" y="2121408"/>
            <a:ext cx="4663440" cy="320040"/>
          </a:xfrm>
          <a:prstGeom prst="rect">
            <a:avLst/>
          </a:prstGeom>
          <a:noFill/>
          <a:ln/>
        </p:spPr>
        <p:txBody>
          <a:bodyPr wrap="square"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LinkedIn</a:t>
            </a:r>
            <a:endParaRPr lang="en-US" sz="1400" dirty="0"/>
          </a:p>
        </p:txBody>
      </p:sp>
      <p:sp>
        <p:nvSpPr>
          <p:cNvPr id="17" name="Text 15"/>
          <p:cNvSpPr/>
          <p:nvPr/>
        </p:nvSpPr>
        <p:spPr>
          <a:xfrm>
            <a:off x="6675120" y="2450592"/>
            <a:ext cx="4663440" cy="320040"/>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OAuth 2.0 flow</a:t>
            </a:r>
            <a:endParaRPr lang="en-US" sz="1200" dirty="0"/>
          </a:p>
        </p:txBody>
      </p:sp>
      <p:sp>
        <p:nvSpPr>
          <p:cNvPr id="18" name="Shape 16"/>
          <p:cNvSpPr/>
          <p:nvPr/>
        </p:nvSpPr>
        <p:spPr>
          <a:xfrm>
            <a:off x="6492240" y="3017520"/>
            <a:ext cx="5029200" cy="731520"/>
          </a:xfrm>
          <a:prstGeom prst="roundRect">
            <a:avLst>
              <a:gd name="adj" fmla="val 7500"/>
            </a:avLst>
          </a:prstGeom>
          <a:solidFill>
            <a:srgbClr val="F1F5F9"/>
          </a:solidFill>
          <a:ln/>
        </p:spPr>
      </p:sp>
      <p:sp>
        <p:nvSpPr>
          <p:cNvPr id="19" name="Text 17"/>
          <p:cNvSpPr/>
          <p:nvPr/>
        </p:nvSpPr>
        <p:spPr>
          <a:xfrm>
            <a:off x="6675120" y="3035808"/>
            <a:ext cx="4663440" cy="320040"/>
          </a:xfrm>
          <a:prstGeom prst="rect">
            <a:avLst/>
          </a:prstGeom>
          <a:noFill/>
          <a:ln/>
        </p:spPr>
        <p:txBody>
          <a:bodyPr wrap="square"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Twitter / X</a:t>
            </a:r>
            <a:endParaRPr lang="en-US" sz="1400" dirty="0"/>
          </a:p>
        </p:txBody>
      </p:sp>
      <p:sp>
        <p:nvSpPr>
          <p:cNvPr id="20" name="Text 18"/>
          <p:cNvSpPr/>
          <p:nvPr/>
        </p:nvSpPr>
        <p:spPr>
          <a:xfrm>
            <a:off x="6675120" y="3364992"/>
            <a:ext cx="4663440" cy="320040"/>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OAuth 2.0 + PKCE flow</a:t>
            </a:r>
            <a:endParaRPr lang="en-US" sz="1200" dirty="0"/>
          </a:p>
        </p:txBody>
      </p:sp>
      <p:sp>
        <p:nvSpPr>
          <p:cNvPr id="21" name="Shape 19"/>
          <p:cNvSpPr/>
          <p:nvPr/>
        </p:nvSpPr>
        <p:spPr>
          <a:xfrm>
            <a:off x="6492240" y="3931920"/>
            <a:ext cx="5029200" cy="731520"/>
          </a:xfrm>
          <a:prstGeom prst="roundRect">
            <a:avLst>
              <a:gd name="adj" fmla="val 7500"/>
            </a:avLst>
          </a:prstGeom>
          <a:solidFill>
            <a:srgbClr val="F1F5F9"/>
          </a:solidFill>
          <a:ln/>
        </p:spPr>
      </p:sp>
      <p:sp>
        <p:nvSpPr>
          <p:cNvPr id="22" name="Text 20"/>
          <p:cNvSpPr/>
          <p:nvPr/>
        </p:nvSpPr>
        <p:spPr>
          <a:xfrm>
            <a:off x="6675120" y="3950208"/>
            <a:ext cx="4663440" cy="320040"/>
          </a:xfrm>
          <a:prstGeom prst="rect">
            <a:avLst/>
          </a:prstGeom>
          <a:noFill/>
          <a:ln/>
        </p:spPr>
        <p:txBody>
          <a:bodyPr wrap="square"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Newsletter (Resend)</a:t>
            </a:r>
            <a:endParaRPr lang="en-US" sz="1400" dirty="0"/>
          </a:p>
        </p:txBody>
      </p:sp>
      <p:sp>
        <p:nvSpPr>
          <p:cNvPr id="23" name="Text 21"/>
          <p:cNvSpPr/>
          <p:nvPr/>
        </p:nvSpPr>
        <p:spPr>
          <a:xfrm>
            <a:off x="6675120" y="4279392"/>
            <a:ext cx="4663440" cy="320040"/>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API key configuration</a:t>
            </a:r>
            <a:endParaRPr lang="en-US" sz="1200" dirty="0"/>
          </a:p>
        </p:txBody>
      </p:sp>
      <p:sp>
        <p:nvSpPr>
          <p:cNvPr id="24" name="Text 22"/>
          <p:cNvSpPr/>
          <p:nvPr/>
        </p:nvSpPr>
        <p:spPr>
          <a:xfrm>
            <a:off x="6492240" y="5029200"/>
            <a:ext cx="5029200" cy="320040"/>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 View connection status per platform</a:t>
            </a:r>
            <a:endParaRPr lang="en-US" sz="1200" dirty="0"/>
          </a:p>
        </p:txBody>
      </p:sp>
      <p:sp>
        <p:nvSpPr>
          <p:cNvPr id="25" name="Text 23"/>
          <p:cNvSpPr/>
          <p:nvPr/>
        </p:nvSpPr>
        <p:spPr>
          <a:xfrm>
            <a:off x="6492240" y="5394960"/>
            <a:ext cx="5029200" cy="320040"/>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 Disconnect / reconnect at any time</a:t>
            </a:r>
            <a:endParaRPr lang="en-US" sz="1200" dirty="0"/>
          </a:p>
        </p:txBody>
      </p:sp>
      <p:sp>
        <p:nvSpPr>
          <p:cNvPr id="26" name="Text 24"/>
          <p:cNvSpPr/>
          <p:nvPr/>
        </p:nvSpPr>
        <p:spPr>
          <a:xfrm>
            <a:off x="6492240" y="5760720"/>
            <a:ext cx="5029200" cy="320040"/>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 Only Owner can manage platform connections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1E3A5F"/>
          </a:solidFill>
          <a:ln/>
        </p:spPr>
      </p:sp>
      <p:sp>
        <p:nvSpPr>
          <p:cNvPr id="3" name="Text 1"/>
          <p:cNvSpPr/>
          <p:nvPr/>
        </p:nvSpPr>
        <p:spPr>
          <a:xfrm>
            <a:off x="548640" y="182880"/>
            <a:ext cx="10972800" cy="6400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RBAC — Role Permissions</a:t>
            </a:r>
            <a:endParaRPr lang="en-US" sz="2800" dirty="0"/>
          </a:p>
        </p:txBody>
      </p:sp>
      <p:sp>
        <p:nvSpPr>
          <p:cNvPr id="4" name="Shape 2"/>
          <p:cNvSpPr/>
          <p:nvPr/>
        </p:nvSpPr>
        <p:spPr>
          <a:xfrm>
            <a:off x="0" y="1005840"/>
            <a:ext cx="12192000" cy="54864"/>
          </a:xfrm>
          <a:prstGeom prst="rect">
            <a:avLst/>
          </a:prstGeom>
          <a:solidFill>
            <a:srgbClr val="2563EB"/>
          </a:solidFill>
          <a:ln/>
        </p:spPr>
      </p:sp>
      <p:sp>
        <p:nvSpPr>
          <p:cNvPr id="5" name="Text 3"/>
          <p:cNvSpPr/>
          <p:nvPr/>
        </p:nvSpPr>
        <p:spPr>
          <a:xfrm>
            <a:off x="548640" y="6309360"/>
            <a:ext cx="10972800" cy="36576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Ayodele Oluwafimidaraayo</a:t>
            </a:r>
            <a:pPr indent="0" marL="0">
              <a:buNone/>
            </a:pPr>
            <a:r>
              <a:rPr lang="en-US" sz="1000" dirty="0">
                <a:solidFill>
                  <a:srgbClr val="64748B"/>
                </a:solidFill>
                <a:latin typeface="Calibri" pitchFamily="34" charset="0"/>
                <a:ea typeface="Calibri" pitchFamily="34" charset="-122"/>
                <a:cs typeface="Calibri" pitchFamily="34" charset="-120"/>
              </a:rPr>
              <a:t>   |   Slide 10 of 17</a:t>
            </a:r>
            <a:endParaRPr lang="en-US" sz="1000" dirty="0"/>
          </a:p>
        </p:txBody>
      </p:sp>
      <p:sp>
        <p:nvSpPr>
          <p:cNvPr id="6" name="Shape 4"/>
          <p:cNvSpPr/>
          <p:nvPr/>
        </p:nvSpPr>
        <p:spPr>
          <a:xfrm>
            <a:off x="548640" y="1463040"/>
            <a:ext cx="3200400" cy="548640"/>
          </a:xfrm>
          <a:prstGeom prst="roundRect">
            <a:avLst>
              <a:gd name="adj" fmla="val 6667"/>
            </a:avLst>
          </a:prstGeom>
          <a:solidFill>
            <a:srgbClr val="1E3A5F"/>
          </a:solidFill>
          <a:ln/>
        </p:spPr>
      </p:sp>
      <p:sp>
        <p:nvSpPr>
          <p:cNvPr id="7" name="Text 5"/>
          <p:cNvSpPr/>
          <p:nvPr/>
        </p:nvSpPr>
        <p:spPr>
          <a:xfrm>
            <a:off x="548640" y="1463040"/>
            <a:ext cx="320040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Action</a:t>
            </a:r>
            <a:endParaRPr lang="en-US" sz="1400" dirty="0"/>
          </a:p>
        </p:txBody>
      </p:sp>
      <p:sp>
        <p:nvSpPr>
          <p:cNvPr id="8" name="Shape 6"/>
          <p:cNvSpPr/>
          <p:nvPr/>
        </p:nvSpPr>
        <p:spPr>
          <a:xfrm>
            <a:off x="3840480" y="1463040"/>
            <a:ext cx="1828800" cy="548640"/>
          </a:xfrm>
          <a:prstGeom prst="roundRect">
            <a:avLst>
              <a:gd name="adj" fmla="val 6667"/>
            </a:avLst>
          </a:prstGeom>
          <a:solidFill>
            <a:srgbClr val="1E3A5F"/>
          </a:solidFill>
          <a:ln/>
        </p:spPr>
      </p:sp>
      <p:sp>
        <p:nvSpPr>
          <p:cNvPr id="9" name="Text 7"/>
          <p:cNvSpPr/>
          <p:nvPr/>
        </p:nvSpPr>
        <p:spPr>
          <a:xfrm>
            <a:off x="3840480" y="1463040"/>
            <a:ext cx="182880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Owner</a:t>
            </a:r>
            <a:endParaRPr lang="en-US" sz="1400" dirty="0"/>
          </a:p>
        </p:txBody>
      </p:sp>
      <p:sp>
        <p:nvSpPr>
          <p:cNvPr id="10" name="Shape 8"/>
          <p:cNvSpPr/>
          <p:nvPr/>
        </p:nvSpPr>
        <p:spPr>
          <a:xfrm>
            <a:off x="5760720" y="1463040"/>
            <a:ext cx="1828800" cy="548640"/>
          </a:xfrm>
          <a:prstGeom prst="roundRect">
            <a:avLst>
              <a:gd name="adj" fmla="val 6667"/>
            </a:avLst>
          </a:prstGeom>
          <a:solidFill>
            <a:srgbClr val="1E3A5F"/>
          </a:solidFill>
          <a:ln/>
        </p:spPr>
      </p:sp>
      <p:sp>
        <p:nvSpPr>
          <p:cNvPr id="11" name="Text 9"/>
          <p:cNvSpPr/>
          <p:nvPr/>
        </p:nvSpPr>
        <p:spPr>
          <a:xfrm>
            <a:off x="5760720" y="1463040"/>
            <a:ext cx="182880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Admin</a:t>
            </a:r>
            <a:endParaRPr lang="en-US" sz="1400" dirty="0"/>
          </a:p>
        </p:txBody>
      </p:sp>
      <p:sp>
        <p:nvSpPr>
          <p:cNvPr id="12" name="Shape 10"/>
          <p:cNvSpPr/>
          <p:nvPr/>
        </p:nvSpPr>
        <p:spPr>
          <a:xfrm>
            <a:off x="7680960" y="1463040"/>
            <a:ext cx="1828800" cy="548640"/>
          </a:xfrm>
          <a:prstGeom prst="roundRect">
            <a:avLst>
              <a:gd name="adj" fmla="val 6667"/>
            </a:avLst>
          </a:prstGeom>
          <a:solidFill>
            <a:srgbClr val="1E3A5F"/>
          </a:solidFill>
          <a:ln/>
        </p:spPr>
      </p:sp>
      <p:sp>
        <p:nvSpPr>
          <p:cNvPr id="13" name="Text 11"/>
          <p:cNvSpPr/>
          <p:nvPr/>
        </p:nvSpPr>
        <p:spPr>
          <a:xfrm>
            <a:off x="7680960" y="1463040"/>
            <a:ext cx="182880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Editor</a:t>
            </a:r>
            <a:endParaRPr lang="en-US" sz="1400" dirty="0"/>
          </a:p>
        </p:txBody>
      </p:sp>
      <p:sp>
        <p:nvSpPr>
          <p:cNvPr id="14" name="Shape 12"/>
          <p:cNvSpPr/>
          <p:nvPr/>
        </p:nvSpPr>
        <p:spPr>
          <a:xfrm>
            <a:off x="9601200" y="1463040"/>
            <a:ext cx="1828800" cy="548640"/>
          </a:xfrm>
          <a:prstGeom prst="roundRect">
            <a:avLst>
              <a:gd name="adj" fmla="val 6667"/>
            </a:avLst>
          </a:prstGeom>
          <a:solidFill>
            <a:srgbClr val="1E3A5F"/>
          </a:solidFill>
          <a:ln/>
        </p:spPr>
      </p:sp>
      <p:sp>
        <p:nvSpPr>
          <p:cNvPr id="15" name="Text 13"/>
          <p:cNvSpPr/>
          <p:nvPr/>
        </p:nvSpPr>
        <p:spPr>
          <a:xfrm>
            <a:off x="9601200" y="1463040"/>
            <a:ext cx="182880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Viewer</a:t>
            </a:r>
            <a:endParaRPr lang="en-US" sz="1400" dirty="0"/>
          </a:p>
        </p:txBody>
      </p:sp>
      <p:sp>
        <p:nvSpPr>
          <p:cNvPr id="16" name="Shape 14"/>
          <p:cNvSpPr/>
          <p:nvPr/>
        </p:nvSpPr>
        <p:spPr>
          <a:xfrm>
            <a:off x="548640" y="2084832"/>
            <a:ext cx="3200400" cy="548640"/>
          </a:xfrm>
          <a:prstGeom prst="roundRect">
            <a:avLst>
              <a:gd name="adj" fmla="val 6667"/>
            </a:avLst>
          </a:prstGeom>
          <a:solidFill>
            <a:srgbClr val="F1F5F9"/>
          </a:solidFill>
          <a:ln w="6350">
            <a:solidFill>
              <a:srgbClr val="CBD5E1"/>
            </a:solidFill>
            <a:prstDash val="solid"/>
          </a:ln>
        </p:spPr>
      </p:sp>
      <p:sp>
        <p:nvSpPr>
          <p:cNvPr id="17" name="Text 15"/>
          <p:cNvSpPr/>
          <p:nvPr/>
        </p:nvSpPr>
        <p:spPr>
          <a:xfrm>
            <a:off x="548640" y="2084832"/>
            <a:ext cx="3200400" cy="548640"/>
          </a:xfrm>
          <a:prstGeom prst="rect">
            <a:avLst/>
          </a:prstGeom>
          <a:noFill/>
          <a:ln/>
        </p:spPr>
        <p:txBody>
          <a:bodyPr wrap="square" rtlCol="0" anchor="ctr"/>
          <a:lstStyle/>
          <a:p>
            <a:pPr algn="ctr" indent="0" marL="0">
              <a:buNone/>
            </a:pPr>
            <a:r>
              <a:rPr lang="en-US" sz="1300" b="1" dirty="0">
                <a:solidFill>
                  <a:srgbClr val="1E3A5F"/>
                </a:solidFill>
                <a:latin typeface="Calibri" pitchFamily="34" charset="0"/>
                <a:ea typeface="Calibri" pitchFamily="34" charset="-122"/>
                <a:cs typeface="Calibri" pitchFamily="34" charset="-120"/>
              </a:rPr>
              <a:t>View content</a:t>
            </a:r>
            <a:endParaRPr lang="en-US" sz="1300" dirty="0"/>
          </a:p>
        </p:txBody>
      </p:sp>
      <p:sp>
        <p:nvSpPr>
          <p:cNvPr id="18" name="Shape 16"/>
          <p:cNvSpPr/>
          <p:nvPr/>
        </p:nvSpPr>
        <p:spPr>
          <a:xfrm>
            <a:off x="3840480" y="2084832"/>
            <a:ext cx="1828800" cy="548640"/>
          </a:xfrm>
          <a:prstGeom prst="roundRect">
            <a:avLst>
              <a:gd name="adj" fmla="val 6667"/>
            </a:avLst>
          </a:prstGeom>
          <a:solidFill>
            <a:srgbClr val="F1F5F9"/>
          </a:solidFill>
          <a:ln w="6350">
            <a:solidFill>
              <a:srgbClr val="CBD5E1"/>
            </a:solidFill>
            <a:prstDash val="solid"/>
          </a:ln>
        </p:spPr>
      </p:sp>
      <p:sp>
        <p:nvSpPr>
          <p:cNvPr id="19" name="Text 17"/>
          <p:cNvSpPr/>
          <p:nvPr/>
        </p:nvSpPr>
        <p:spPr>
          <a:xfrm>
            <a:off x="3840480" y="2084832"/>
            <a:ext cx="1828800" cy="548640"/>
          </a:xfrm>
          <a:prstGeom prst="rect">
            <a:avLst/>
          </a:prstGeom>
          <a:noFill/>
          <a:ln/>
        </p:spPr>
        <p:txBody>
          <a:bodyPr wrap="square" rtlCol="0" anchor="ctr"/>
          <a:lstStyle/>
          <a:p>
            <a:pPr algn="ctr" indent="0" marL="0">
              <a:buNone/>
            </a:pPr>
            <a:r>
              <a:rPr lang="en-US" sz="1300" dirty="0">
                <a:solidFill>
                  <a:srgbClr val="16A34A"/>
                </a:solidFill>
                <a:latin typeface="Calibri" pitchFamily="34" charset="0"/>
                <a:ea typeface="Calibri" pitchFamily="34" charset="-122"/>
                <a:cs typeface="Calibri" pitchFamily="34" charset="-120"/>
              </a:rPr>
              <a:t>✓ Yes</a:t>
            </a:r>
            <a:endParaRPr lang="en-US" sz="1300" dirty="0"/>
          </a:p>
        </p:txBody>
      </p:sp>
      <p:sp>
        <p:nvSpPr>
          <p:cNvPr id="20" name="Shape 18"/>
          <p:cNvSpPr/>
          <p:nvPr/>
        </p:nvSpPr>
        <p:spPr>
          <a:xfrm>
            <a:off x="5760720" y="2084832"/>
            <a:ext cx="1828800" cy="548640"/>
          </a:xfrm>
          <a:prstGeom prst="roundRect">
            <a:avLst>
              <a:gd name="adj" fmla="val 6667"/>
            </a:avLst>
          </a:prstGeom>
          <a:solidFill>
            <a:srgbClr val="F1F5F9"/>
          </a:solidFill>
          <a:ln w="6350">
            <a:solidFill>
              <a:srgbClr val="CBD5E1"/>
            </a:solidFill>
            <a:prstDash val="solid"/>
          </a:ln>
        </p:spPr>
      </p:sp>
      <p:sp>
        <p:nvSpPr>
          <p:cNvPr id="21" name="Text 19"/>
          <p:cNvSpPr/>
          <p:nvPr/>
        </p:nvSpPr>
        <p:spPr>
          <a:xfrm>
            <a:off x="5760720" y="2084832"/>
            <a:ext cx="1828800" cy="548640"/>
          </a:xfrm>
          <a:prstGeom prst="rect">
            <a:avLst/>
          </a:prstGeom>
          <a:noFill/>
          <a:ln/>
        </p:spPr>
        <p:txBody>
          <a:bodyPr wrap="square" rtlCol="0" anchor="ctr"/>
          <a:lstStyle/>
          <a:p>
            <a:pPr algn="ctr" indent="0" marL="0">
              <a:buNone/>
            </a:pPr>
            <a:r>
              <a:rPr lang="en-US" sz="1300" dirty="0">
                <a:solidFill>
                  <a:srgbClr val="16A34A"/>
                </a:solidFill>
                <a:latin typeface="Calibri" pitchFamily="34" charset="0"/>
                <a:ea typeface="Calibri" pitchFamily="34" charset="-122"/>
                <a:cs typeface="Calibri" pitchFamily="34" charset="-120"/>
              </a:rPr>
              <a:t>✓ Yes</a:t>
            </a:r>
            <a:endParaRPr lang="en-US" sz="1300" dirty="0"/>
          </a:p>
        </p:txBody>
      </p:sp>
      <p:sp>
        <p:nvSpPr>
          <p:cNvPr id="22" name="Shape 20"/>
          <p:cNvSpPr/>
          <p:nvPr/>
        </p:nvSpPr>
        <p:spPr>
          <a:xfrm>
            <a:off x="7680960" y="2084832"/>
            <a:ext cx="1828800" cy="548640"/>
          </a:xfrm>
          <a:prstGeom prst="roundRect">
            <a:avLst>
              <a:gd name="adj" fmla="val 6667"/>
            </a:avLst>
          </a:prstGeom>
          <a:solidFill>
            <a:srgbClr val="F1F5F9"/>
          </a:solidFill>
          <a:ln w="6350">
            <a:solidFill>
              <a:srgbClr val="CBD5E1"/>
            </a:solidFill>
            <a:prstDash val="solid"/>
          </a:ln>
        </p:spPr>
      </p:sp>
      <p:sp>
        <p:nvSpPr>
          <p:cNvPr id="23" name="Text 21"/>
          <p:cNvSpPr/>
          <p:nvPr/>
        </p:nvSpPr>
        <p:spPr>
          <a:xfrm>
            <a:off x="7680960" y="2084832"/>
            <a:ext cx="1828800" cy="548640"/>
          </a:xfrm>
          <a:prstGeom prst="rect">
            <a:avLst/>
          </a:prstGeom>
          <a:noFill/>
          <a:ln/>
        </p:spPr>
        <p:txBody>
          <a:bodyPr wrap="square" rtlCol="0" anchor="ctr"/>
          <a:lstStyle/>
          <a:p>
            <a:pPr algn="ctr" indent="0" marL="0">
              <a:buNone/>
            </a:pPr>
            <a:r>
              <a:rPr lang="en-US" sz="1300" dirty="0">
                <a:solidFill>
                  <a:srgbClr val="16A34A"/>
                </a:solidFill>
                <a:latin typeface="Calibri" pitchFamily="34" charset="0"/>
                <a:ea typeface="Calibri" pitchFamily="34" charset="-122"/>
                <a:cs typeface="Calibri" pitchFamily="34" charset="-120"/>
              </a:rPr>
              <a:t>✓ Yes</a:t>
            </a:r>
            <a:endParaRPr lang="en-US" sz="1300" dirty="0"/>
          </a:p>
        </p:txBody>
      </p:sp>
      <p:sp>
        <p:nvSpPr>
          <p:cNvPr id="24" name="Shape 22"/>
          <p:cNvSpPr/>
          <p:nvPr/>
        </p:nvSpPr>
        <p:spPr>
          <a:xfrm>
            <a:off x="9601200" y="2084832"/>
            <a:ext cx="1828800" cy="548640"/>
          </a:xfrm>
          <a:prstGeom prst="roundRect">
            <a:avLst>
              <a:gd name="adj" fmla="val 6667"/>
            </a:avLst>
          </a:prstGeom>
          <a:solidFill>
            <a:srgbClr val="F1F5F9"/>
          </a:solidFill>
          <a:ln w="6350">
            <a:solidFill>
              <a:srgbClr val="CBD5E1"/>
            </a:solidFill>
            <a:prstDash val="solid"/>
          </a:ln>
        </p:spPr>
      </p:sp>
      <p:sp>
        <p:nvSpPr>
          <p:cNvPr id="25" name="Text 23"/>
          <p:cNvSpPr/>
          <p:nvPr/>
        </p:nvSpPr>
        <p:spPr>
          <a:xfrm>
            <a:off x="9601200" y="2084832"/>
            <a:ext cx="1828800" cy="548640"/>
          </a:xfrm>
          <a:prstGeom prst="rect">
            <a:avLst/>
          </a:prstGeom>
          <a:noFill/>
          <a:ln/>
        </p:spPr>
        <p:txBody>
          <a:bodyPr wrap="square" rtlCol="0" anchor="ctr"/>
          <a:lstStyle/>
          <a:p>
            <a:pPr algn="ctr" indent="0" marL="0">
              <a:buNone/>
            </a:pPr>
            <a:r>
              <a:rPr lang="en-US" sz="1300" dirty="0">
                <a:solidFill>
                  <a:srgbClr val="16A34A"/>
                </a:solidFill>
                <a:latin typeface="Calibri" pitchFamily="34" charset="0"/>
                <a:ea typeface="Calibri" pitchFamily="34" charset="-122"/>
                <a:cs typeface="Calibri" pitchFamily="34" charset="-120"/>
              </a:rPr>
              <a:t>✓ Yes</a:t>
            </a:r>
            <a:endParaRPr lang="en-US" sz="1300" dirty="0"/>
          </a:p>
        </p:txBody>
      </p:sp>
      <p:sp>
        <p:nvSpPr>
          <p:cNvPr id="26" name="Shape 24"/>
          <p:cNvSpPr/>
          <p:nvPr/>
        </p:nvSpPr>
        <p:spPr>
          <a:xfrm>
            <a:off x="548640" y="2706624"/>
            <a:ext cx="3200400" cy="548640"/>
          </a:xfrm>
          <a:prstGeom prst="roundRect">
            <a:avLst>
              <a:gd name="adj" fmla="val 6667"/>
            </a:avLst>
          </a:prstGeom>
          <a:solidFill>
            <a:srgbClr val="FFFFFF"/>
          </a:solidFill>
          <a:ln w="6350">
            <a:solidFill>
              <a:srgbClr val="CBD5E1"/>
            </a:solidFill>
            <a:prstDash val="solid"/>
          </a:ln>
        </p:spPr>
      </p:sp>
      <p:sp>
        <p:nvSpPr>
          <p:cNvPr id="27" name="Text 25"/>
          <p:cNvSpPr/>
          <p:nvPr/>
        </p:nvSpPr>
        <p:spPr>
          <a:xfrm>
            <a:off x="548640" y="2706624"/>
            <a:ext cx="3200400" cy="548640"/>
          </a:xfrm>
          <a:prstGeom prst="rect">
            <a:avLst/>
          </a:prstGeom>
          <a:noFill/>
          <a:ln/>
        </p:spPr>
        <p:txBody>
          <a:bodyPr wrap="square" rtlCol="0" anchor="ctr"/>
          <a:lstStyle/>
          <a:p>
            <a:pPr algn="ctr" indent="0" marL="0">
              <a:buNone/>
            </a:pPr>
            <a:r>
              <a:rPr lang="en-US" sz="1300" b="1" dirty="0">
                <a:solidFill>
                  <a:srgbClr val="1E3A5F"/>
                </a:solidFill>
                <a:latin typeface="Calibri" pitchFamily="34" charset="0"/>
                <a:ea typeface="Calibri" pitchFamily="34" charset="-122"/>
                <a:cs typeface="Calibri" pitchFamily="34" charset="-120"/>
              </a:rPr>
              <a:t>Submit ideas</a:t>
            </a:r>
            <a:endParaRPr lang="en-US" sz="1300" dirty="0"/>
          </a:p>
        </p:txBody>
      </p:sp>
      <p:sp>
        <p:nvSpPr>
          <p:cNvPr id="28" name="Shape 26"/>
          <p:cNvSpPr/>
          <p:nvPr/>
        </p:nvSpPr>
        <p:spPr>
          <a:xfrm>
            <a:off x="3840480" y="2706624"/>
            <a:ext cx="1828800" cy="548640"/>
          </a:xfrm>
          <a:prstGeom prst="roundRect">
            <a:avLst>
              <a:gd name="adj" fmla="val 6667"/>
            </a:avLst>
          </a:prstGeom>
          <a:solidFill>
            <a:srgbClr val="FFFFFF"/>
          </a:solidFill>
          <a:ln w="6350">
            <a:solidFill>
              <a:srgbClr val="CBD5E1"/>
            </a:solidFill>
            <a:prstDash val="solid"/>
          </a:ln>
        </p:spPr>
      </p:sp>
      <p:sp>
        <p:nvSpPr>
          <p:cNvPr id="29" name="Text 27"/>
          <p:cNvSpPr/>
          <p:nvPr/>
        </p:nvSpPr>
        <p:spPr>
          <a:xfrm>
            <a:off x="3840480" y="2706624"/>
            <a:ext cx="1828800" cy="548640"/>
          </a:xfrm>
          <a:prstGeom prst="rect">
            <a:avLst/>
          </a:prstGeom>
          <a:noFill/>
          <a:ln/>
        </p:spPr>
        <p:txBody>
          <a:bodyPr wrap="square" rtlCol="0" anchor="ctr"/>
          <a:lstStyle/>
          <a:p>
            <a:pPr algn="ctr" indent="0" marL="0">
              <a:buNone/>
            </a:pPr>
            <a:r>
              <a:rPr lang="en-US" sz="1300" dirty="0">
                <a:solidFill>
                  <a:srgbClr val="16A34A"/>
                </a:solidFill>
                <a:latin typeface="Calibri" pitchFamily="34" charset="0"/>
                <a:ea typeface="Calibri" pitchFamily="34" charset="-122"/>
                <a:cs typeface="Calibri" pitchFamily="34" charset="-120"/>
              </a:rPr>
              <a:t>✓ Yes</a:t>
            </a:r>
            <a:endParaRPr lang="en-US" sz="1300" dirty="0"/>
          </a:p>
        </p:txBody>
      </p:sp>
      <p:sp>
        <p:nvSpPr>
          <p:cNvPr id="30" name="Shape 28"/>
          <p:cNvSpPr/>
          <p:nvPr/>
        </p:nvSpPr>
        <p:spPr>
          <a:xfrm>
            <a:off x="5760720" y="2706624"/>
            <a:ext cx="1828800" cy="548640"/>
          </a:xfrm>
          <a:prstGeom prst="roundRect">
            <a:avLst>
              <a:gd name="adj" fmla="val 6667"/>
            </a:avLst>
          </a:prstGeom>
          <a:solidFill>
            <a:srgbClr val="FFFFFF"/>
          </a:solidFill>
          <a:ln w="6350">
            <a:solidFill>
              <a:srgbClr val="CBD5E1"/>
            </a:solidFill>
            <a:prstDash val="solid"/>
          </a:ln>
        </p:spPr>
      </p:sp>
      <p:sp>
        <p:nvSpPr>
          <p:cNvPr id="31" name="Text 29"/>
          <p:cNvSpPr/>
          <p:nvPr/>
        </p:nvSpPr>
        <p:spPr>
          <a:xfrm>
            <a:off x="5760720" y="2706624"/>
            <a:ext cx="1828800" cy="548640"/>
          </a:xfrm>
          <a:prstGeom prst="rect">
            <a:avLst/>
          </a:prstGeom>
          <a:noFill/>
          <a:ln/>
        </p:spPr>
        <p:txBody>
          <a:bodyPr wrap="square" rtlCol="0" anchor="ctr"/>
          <a:lstStyle/>
          <a:p>
            <a:pPr algn="ctr" indent="0" marL="0">
              <a:buNone/>
            </a:pPr>
            <a:r>
              <a:rPr lang="en-US" sz="1300" dirty="0">
                <a:solidFill>
                  <a:srgbClr val="16A34A"/>
                </a:solidFill>
                <a:latin typeface="Calibri" pitchFamily="34" charset="0"/>
                <a:ea typeface="Calibri" pitchFamily="34" charset="-122"/>
                <a:cs typeface="Calibri" pitchFamily="34" charset="-120"/>
              </a:rPr>
              <a:t>✓ Yes</a:t>
            </a:r>
            <a:endParaRPr lang="en-US" sz="1300" dirty="0"/>
          </a:p>
        </p:txBody>
      </p:sp>
      <p:sp>
        <p:nvSpPr>
          <p:cNvPr id="32" name="Shape 30"/>
          <p:cNvSpPr/>
          <p:nvPr/>
        </p:nvSpPr>
        <p:spPr>
          <a:xfrm>
            <a:off x="7680960" y="2706624"/>
            <a:ext cx="1828800" cy="548640"/>
          </a:xfrm>
          <a:prstGeom prst="roundRect">
            <a:avLst>
              <a:gd name="adj" fmla="val 6667"/>
            </a:avLst>
          </a:prstGeom>
          <a:solidFill>
            <a:srgbClr val="FFFFFF"/>
          </a:solidFill>
          <a:ln w="6350">
            <a:solidFill>
              <a:srgbClr val="CBD5E1"/>
            </a:solidFill>
            <a:prstDash val="solid"/>
          </a:ln>
        </p:spPr>
      </p:sp>
      <p:sp>
        <p:nvSpPr>
          <p:cNvPr id="33" name="Text 31"/>
          <p:cNvSpPr/>
          <p:nvPr/>
        </p:nvSpPr>
        <p:spPr>
          <a:xfrm>
            <a:off x="7680960" y="2706624"/>
            <a:ext cx="1828800" cy="548640"/>
          </a:xfrm>
          <a:prstGeom prst="rect">
            <a:avLst/>
          </a:prstGeom>
          <a:noFill/>
          <a:ln/>
        </p:spPr>
        <p:txBody>
          <a:bodyPr wrap="square" rtlCol="0" anchor="ctr"/>
          <a:lstStyle/>
          <a:p>
            <a:pPr algn="ctr" indent="0" marL="0">
              <a:buNone/>
            </a:pPr>
            <a:r>
              <a:rPr lang="en-US" sz="1300" dirty="0">
                <a:solidFill>
                  <a:srgbClr val="16A34A"/>
                </a:solidFill>
                <a:latin typeface="Calibri" pitchFamily="34" charset="0"/>
                <a:ea typeface="Calibri" pitchFamily="34" charset="-122"/>
                <a:cs typeface="Calibri" pitchFamily="34" charset="-120"/>
              </a:rPr>
              <a:t>✓ Yes</a:t>
            </a:r>
            <a:endParaRPr lang="en-US" sz="1300" dirty="0"/>
          </a:p>
        </p:txBody>
      </p:sp>
      <p:sp>
        <p:nvSpPr>
          <p:cNvPr id="34" name="Shape 32"/>
          <p:cNvSpPr/>
          <p:nvPr/>
        </p:nvSpPr>
        <p:spPr>
          <a:xfrm>
            <a:off x="9601200" y="2706624"/>
            <a:ext cx="1828800" cy="548640"/>
          </a:xfrm>
          <a:prstGeom prst="roundRect">
            <a:avLst>
              <a:gd name="adj" fmla="val 6667"/>
            </a:avLst>
          </a:prstGeom>
          <a:solidFill>
            <a:srgbClr val="FFFFFF"/>
          </a:solidFill>
          <a:ln w="6350">
            <a:solidFill>
              <a:srgbClr val="CBD5E1"/>
            </a:solidFill>
            <a:prstDash val="solid"/>
          </a:ln>
        </p:spPr>
      </p:sp>
      <p:sp>
        <p:nvSpPr>
          <p:cNvPr id="35" name="Text 33"/>
          <p:cNvSpPr/>
          <p:nvPr/>
        </p:nvSpPr>
        <p:spPr>
          <a:xfrm>
            <a:off x="9601200" y="2706624"/>
            <a:ext cx="1828800" cy="548640"/>
          </a:xfrm>
          <a:prstGeom prst="rect">
            <a:avLst/>
          </a:prstGeom>
          <a:noFill/>
          <a:ln/>
        </p:spPr>
        <p:txBody>
          <a:bodyPr wrap="square" rtlCol="0" anchor="ctr"/>
          <a:lstStyle/>
          <a:p>
            <a:pPr algn="ctr" indent="0" marL="0">
              <a:buNone/>
            </a:pPr>
            <a:r>
              <a:rPr lang="en-US" sz="1300" dirty="0">
                <a:solidFill>
                  <a:srgbClr val="DC2626"/>
                </a:solidFill>
                <a:latin typeface="Calibri" pitchFamily="34" charset="0"/>
                <a:ea typeface="Calibri" pitchFamily="34" charset="-122"/>
                <a:cs typeface="Calibri" pitchFamily="34" charset="-120"/>
              </a:rPr>
              <a:t>✗ No</a:t>
            </a:r>
            <a:endParaRPr lang="en-US" sz="1300" dirty="0"/>
          </a:p>
        </p:txBody>
      </p:sp>
      <p:sp>
        <p:nvSpPr>
          <p:cNvPr id="36" name="Shape 34"/>
          <p:cNvSpPr/>
          <p:nvPr/>
        </p:nvSpPr>
        <p:spPr>
          <a:xfrm>
            <a:off x="548640" y="3328416"/>
            <a:ext cx="3200400" cy="548640"/>
          </a:xfrm>
          <a:prstGeom prst="roundRect">
            <a:avLst>
              <a:gd name="adj" fmla="val 6667"/>
            </a:avLst>
          </a:prstGeom>
          <a:solidFill>
            <a:srgbClr val="F1F5F9"/>
          </a:solidFill>
          <a:ln w="6350">
            <a:solidFill>
              <a:srgbClr val="CBD5E1"/>
            </a:solidFill>
            <a:prstDash val="solid"/>
          </a:ln>
        </p:spPr>
      </p:sp>
      <p:sp>
        <p:nvSpPr>
          <p:cNvPr id="37" name="Text 35"/>
          <p:cNvSpPr/>
          <p:nvPr/>
        </p:nvSpPr>
        <p:spPr>
          <a:xfrm>
            <a:off x="548640" y="3328416"/>
            <a:ext cx="3200400" cy="548640"/>
          </a:xfrm>
          <a:prstGeom prst="rect">
            <a:avLst/>
          </a:prstGeom>
          <a:noFill/>
          <a:ln/>
        </p:spPr>
        <p:txBody>
          <a:bodyPr wrap="square" rtlCol="0" anchor="ctr"/>
          <a:lstStyle/>
          <a:p>
            <a:pPr algn="ctr" indent="0" marL="0">
              <a:buNone/>
            </a:pPr>
            <a:r>
              <a:rPr lang="en-US" sz="1300" b="1" dirty="0">
                <a:solidFill>
                  <a:srgbClr val="1E3A5F"/>
                </a:solidFill>
                <a:latin typeface="Calibri" pitchFamily="34" charset="0"/>
                <a:ea typeface="Calibri" pitchFamily="34" charset="-122"/>
                <a:cs typeface="Calibri" pitchFamily="34" charset="-120"/>
              </a:rPr>
              <a:t>Select drafts</a:t>
            </a:r>
            <a:endParaRPr lang="en-US" sz="1300" dirty="0"/>
          </a:p>
        </p:txBody>
      </p:sp>
      <p:sp>
        <p:nvSpPr>
          <p:cNvPr id="38" name="Shape 36"/>
          <p:cNvSpPr/>
          <p:nvPr/>
        </p:nvSpPr>
        <p:spPr>
          <a:xfrm>
            <a:off x="3840480" y="3328416"/>
            <a:ext cx="1828800" cy="548640"/>
          </a:xfrm>
          <a:prstGeom prst="roundRect">
            <a:avLst>
              <a:gd name="adj" fmla="val 6667"/>
            </a:avLst>
          </a:prstGeom>
          <a:solidFill>
            <a:srgbClr val="F1F5F9"/>
          </a:solidFill>
          <a:ln w="6350">
            <a:solidFill>
              <a:srgbClr val="CBD5E1"/>
            </a:solidFill>
            <a:prstDash val="solid"/>
          </a:ln>
        </p:spPr>
      </p:sp>
      <p:sp>
        <p:nvSpPr>
          <p:cNvPr id="39" name="Text 37"/>
          <p:cNvSpPr/>
          <p:nvPr/>
        </p:nvSpPr>
        <p:spPr>
          <a:xfrm>
            <a:off x="3840480" y="3328416"/>
            <a:ext cx="1828800" cy="548640"/>
          </a:xfrm>
          <a:prstGeom prst="rect">
            <a:avLst/>
          </a:prstGeom>
          <a:noFill/>
          <a:ln/>
        </p:spPr>
        <p:txBody>
          <a:bodyPr wrap="square" rtlCol="0" anchor="ctr"/>
          <a:lstStyle/>
          <a:p>
            <a:pPr algn="ctr" indent="0" marL="0">
              <a:buNone/>
            </a:pPr>
            <a:r>
              <a:rPr lang="en-US" sz="1300" dirty="0">
                <a:solidFill>
                  <a:srgbClr val="16A34A"/>
                </a:solidFill>
                <a:latin typeface="Calibri" pitchFamily="34" charset="0"/>
                <a:ea typeface="Calibri" pitchFamily="34" charset="-122"/>
                <a:cs typeface="Calibri" pitchFamily="34" charset="-120"/>
              </a:rPr>
              <a:t>✓ Yes</a:t>
            </a:r>
            <a:endParaRPr lang="en-US" sz="1300" dirty="0"/>
          </a:p>
        </p:txBody>
      </p:sp>
      <p:sp>
        <p:nvSpPr>
          <p:cNvPr id="40" name="Shape 38"/>
          <p:cNvSpPr/>
          <p:nvPr/>
        </p:nvSpPr>
        <p:spPr>
          <a:xfrm>
            <a:off x="5760720" y="3328416"/>
            <a:ext cx="1828800" cy="548640"/>
          </a:xfrm>
          <a:prstGeom prst="roundRect">
            <a:avLst>
              <a:gd name="adj" fmla="val 6667"/>
            </a:avLst>
          </a:prstGeom>
          <a:solidFill>
            <a:srgbClr val="F1F5F9"/>
          </a:solidFill>
          <a:ln w="6350">
            <a:solidFill>
              <a:srgbClr val="CBD5E1"/>
            </a:solidFill>
            <a:prstDash val="solid"/>
          </a:ln>
        </p:spPr>
      </p:sp>
      <p:sp>
        <p:nvSpPr>
          <p:cNvPr id="41" name="Text 39"/>
          <p:cNvSpPr/>
          <p:nvPr/>
        </p:nvSpPr>
        <p:spPr>
          <a:xfrm>
            <a:off x="5760720" y="3328416"/>
            <a:ext cx="1828800" cy="548640"/>
          </a:xfrm>
          <a:prstGeom prst="rect">
            <a:avLst/>
          </a:prstGeom>
          <a:noFill/>
          <a:ln/>
        </p:spPr>
        <p:txBody>
          <a:bodyPr wrap="square" rtlCol="0" anchor="ctr"/>
          <a:lstStyle/>
          <a:p>
            <a:pPr algn="ctr" indent="0" marL="0">
              <a:buNone/>
            </a:pPr>
            <a:r>
              <a:rPr lang="en-US" sz="1300" dirty="0">
                <a:solidFill>
                  <a:srgbClr val="16A34A"/>
                </a:solidFill>
                <a:latin typeface="Calibri" pitchFamily="34" charset="0"/>
                <a:ea typeface="Calibri" pitchFamily="34" charset="-122"/>
                <a:cs typeface="Calibri" pitchFamily="34" charset="-120"/>
              </a:rPr>
              <a:t>✓ Yes</a:t>
            </a:r>
            <a:endParaRPr lang="en-US" sz="1300" dirty="0"/>
          </a:p>
        </p:txBody>
      </p:sp>
      <p:sp>
        <p:nvSpPr>
          <p:cNvPr id="42" name="Shape 40"/>
          <p:cNvSpPr/>
          <p:nvPr/>
        </p:nvSpPr>
        <p:spPr>
          <a:xfrm>
            <a:off x="7680960" y="3328416"/>
            <a:ext cx="1828800" cy="548640"/>
          </a:xfrm>
          <a:prstGeom prst="roundRect">
            <a:avLst>
              <a:gd name="adj" fmla="val 6667"/>
            </a:avLst>
          </a:prstGeom>
          <a:solidFill>
            <a:srgbClr val="F1F5F9"/>
          </a:solidFill>
          <a:ln w="6350">
            <a:solidFill>
              <a:srgbClr val="CBD5E1"/>
            </a:solidFill>
            <a:prstDash val="solid"/>
          </a:ln>
        </p:spPr>
      </p:sp>
      <p:sp>
        <p:nvSpPr>
          <p:cNvPr id="43" name="Text 41"/>
          <p:cNvSpPr/>
          <p:nvPr/>
        </p:nvSpPr>
        <p:spPr>
          <a:xfrm>
            <a:off x="7680960" y="3328416"/>
            <a:ext cx="1828800" cy="548640"/>
          </a:xfrm>
          <a:prstGeom prst="rect">
            <a:avLst/>
          </a:prstGeom>
          <a:noFill/>
          <a:ln/>
        </p:spPr>
        <p:txBody>
          <a:bodyPr wrap="square" rtlCol="0" anchor="ctr"/>
          <a:lstStyle/>
          <a:p>
            <a:pPr algn="ctr" indent="0" marL="0">
              <a:buNone/>
            </a:pPr>
            <a:r>
              <a:rPr lang="en-US" sz="1300" dirty="0">
                <a:solidFill>
                  <a:srgbClr val="16A34A"/>
                </a:solidFill>
                <a:latin typeface="Calibri" pitchFamily="34" charset="0"/>
                <a:ea typeface="Calibri" pitchFamily="34" charset="-122"/>
                <a:cs typeface="Calibri" pitchFamily="34" charset="-120"/>
              </a:rPr>
              <a:t>✓ Yes</a:t>
            </a:r>
            <a:endParaRPr lang="en-US" sz="1300" dirty="0"/>
          </a:p>
        </p:txBody>
      </p:sp>
      <p:sp>
        <p:nvSpPr>
          <p:cNvPr id="44" name="Shape 42"/>
          <p:cNvSpPr/>
          <p:nvPr/>
        </p:nvSpPr>
        <p:spPr>
          <a:xfrm>
            <a:off x="9601200" y="3328416"/>
            <a:ext cx="1828800" cy="548640"/>
          </a:xfrm>
          <a:prstGeom prst="roundRect">
            <a:avLst>
              <a:gd name="adj" fmla="val 6667"/>
            </a:avLst>
          </a:prstGeom>
          <a:solidFill>
            <a:srgbClr val="F1F5F9"/>
          </a:solidFill>
          <a:ln w="6350">
            <a:solidFill>
              <a:srgbClr val="CBD5E1"/>
            </a:solidFill>
            <a:prstDash val="solid"/>
          </a:ln>
        </p:spPr>
      </p:sp>
      <p:sp>
        <p:nvSpPr>
          <p:cNvPr id="45" name="Text 43"/>
          <p:cNvSpPr/>
          <p:nvPr/>
        </p:nvSpPr>
        <p:spPr>
          <a:xfrm>
            <a:off x="9601200" y="3328416"/>
            <a:ext cx="1828800" cy="548640"/>
          </a:xfrm>
          <a:prstGeom prst="rect">
            <a:avLst/>
          </a:prstGeom>
          <a:noFill/>
          <a:ln/>
        </p:spPr>
        <p:txBody>
          <a:bodyPr wrap="square" rtlCol="0" anchor="ctr"/>
          <a:lstStyle/>
          <a:p>
            <a:pPr algn="ctr" indent="0" marL="0">
              <a:buNone/>
            </a:pPr>
            <a:r>
              <a:rPr lang="en-US" sz="1300" dirty="0">
                <a:solidFill>
                  <a:srgbClr val="DC2626"/>
                </a:solidFill>
                <a:latin typeface="Calibri" pitchFamily="34" charset="0"/>
                <a:ea typeface="Calibri" pitchFamily="34" charset="-122"/>
                <a:cs typeface="Calibri" pitchFamily="34" charset="-120"/>
              </a:rPr>
              <a:t>✗ No</a:t>
            </a:r>
            <a:endParaRPr lang="en-US" sz="1300" dirty="0"/>
          </a:p>
        </p:txBody>
      </p:sp>
      <p:sp>
        <p:nvSpPr>
          <p:cNvPr id="46" name="Shape 44"/>
          <p:cNvSpPr/>
          <p:nvPr/>
        </p:nvSpPr>
        <p:spPr>
          <a:xfrm>
            <a:off x="548640" y="3950208"/>
            <a:ext cx="3200400" cy="548640"/>
          </a:xfrm>
          <a:prstGeom prst="roundRect">
            <a:avLst>
              <a:gd name="adj" fmla="val 6667"/>
            </a:avLst>
          </a:prstGeom>
          <a:solidFill>
            <a:srgbClr val="FFFFFF"/>
          </a:solidFill>
          <a:ln w="6350">
            <a:solidFill>
              <a:srgbClr val="CBD5E1"/>
            </a:solidFill>
            <a:prstDash val="solid"/>
          </a:ln>
        </p:spPr>
      </p:sp>
      <p:sp>
        <p:nvSpPr>
          <p:cNvPr id="47" name="Text 45"/>
          <p:cNvSpPr/>
          <p:nvPr/>
        </p:nvSpPr>
        <p:spPr>
          <a:xfrm>
            <a:off x="548640" y="3950208"/>
            <a:ext cx="3200400" cy="548640"/>
          </a:xfrm>
          <a:prstGeom prst="rect">
            <a:avLst/>
          </a:prstGeom>
          <a:noFill/>
          <a:ln/>
        </p:spPr>
        <p:txBody>
          <a:bodyPr wrap="square" rtlCol="0" anchor="ctr"/>
          <a:lstStyle/>
          <a:p>
            <a:pPr algn="ctr" indent="0" marL="0">
              <a:buNone/>
            </a:pPr>
            <a:r>
              <a:rPr lang="en-US" sz="1300" b="1" dirty="0">
                <a:solidFill>
                  <a:srgbClr val="1E3A5F"/>
                </a:solidFill>
                <a:latin typeface="Calibri" pitchFamily="34" charset="0"/>
                <a:ea typeface="Calibri" pitchFamily="34" charset="-122"/>
                <a:cs typeface="Calibri" pitchFamily="34" charset="-120"/>
              </a:rPr>
              <a:t>Approve &amp; Publish</a:t>
            </a:r>
            <a:endParaRPr lang="en-US" sz="1300" dirty="0"/>
          </a:p>
        </p:txBody>
      </p:sp>
      <p:sp>
        <p:nvSpPr>
          <p:cNvPr id="48" name="Shape 46"/>
          <p:cNvSpPr/>
          <p:nvPr/>
        </p:nvSpPr>
        <p:spPr>
          <a:xfrm>
            <a:off x="3840480" y="3950208"/>
            <a:ext cx="1828800" cy="548640"/>
          </a:xfrm>
          <a:prstGeom prst="roundRect">
            <a:avLst>
              <a:gd name="adj" fmla="val 6667"/>
            </a:avLst>
          </a:prstGeom>
          <a:solidFill>
            <a:srgbClr val="FFFFFF"/>
          </a:solidFill>
          <a:ln w="6350">
            <a:solidFill>
              <a:srgbClr val="CBD5E1"/>
            </a:solidFill>
            <a:prstDash val="solid"/>
          </a:ln>
        </p:spPr>
      </p:sp>
      <p:sp>
        <p:nvSpPr>
          <p:cNvPr id="49" name="Text 47"/>
          <p:cNvSpPr/>
          <p:nvPr/>
        </p:nvSpPr>
        <p:spPr>
          <a:xfrm>
            <a:off x="3840480" y="3950208"/>
            <a:ext cx="1828800" cy="548640"/>
          </a:xfrm>
          <a:prstGeom prst="rect">
            <a:avLst/>
          </a:prstGeom>
          <a:noFill/>
          <a:ln/>
        </p:spPr>
        <p:txBody>
          <a:bodyPr wrap="square" rtlCol="0" anchor="ctr"/>
          <a:lstStyle/>
          <a:p>
            <a:pPr algn="ctr" indent="0" marL="0">
              <a:buNone/>
            </a:pPr>
            <a:r>
              <a:rPr lang="en-US" sz="1300" dirty="0">
                <a:solidFill>
                  <a:srgbClr val="16A34A"/>
                </a:solidFill>
                <a:latin typeface="Calibri" pitchFamily="34" charset="0"/>
                <a:ea typeface="Calibri" pitchFamily="34" charset="-122"/>
                <a:cs typeface="Calibri" pitchFamily="34" charset="-120"/>
              </a:rPr>
              <a:t>✓ Yes</a:t>
            </a:r>
            <a:endParaRPr lang="en-US" sz="1300" dirty="0"/>
          </a:p>
        </p:txBody>
      </p:sp>
      <p:sp>
        <p:nvSpPr>
          <p:cNvPr id="50" name="Shape 48"/>
          <p:cNvSpPr/>
          <p:nvPr/>
        </p:nvSpPr>
        <p:spPr>
          <a:xfrm>
            <a:off x="5760720" y="3950208"/>
            <a:ext cx="1828800" cy="548640"/>
          </a:xfrm>
          <a:prstGeom prst="roundRect">
            <a:avLst>
              <a:gd name="adj" fmla="val 6667"/>
            </a:avLst>
          </a:prstGeom>
          <a:solidFill>
            <a:srgbClr val="FFFFFF"/>
          </a:solidFill>
          <a:ln w="6350">
            <a:solidFill>
              <a:srgbClr val="CBD5E1"/>
            </a:solidFill>
            <a:prstDash val="solid"/>
          </a:ln>
        </p:spPr>
      </p:sp>
      <p:sp>
        <p:nvSpPr>
          <p:cNvPr id="51" name="Text 49"/>
          <p:cNvSpPr/>
          <p:nvPr/>
        </p:nvSpPr>
        <p:spPr>
          <a:xfrm>
            <a:off x="5760720" y="3950208"/>
            <a:ext cx="1828800" cy="548640"/>
          </a:xfrm>
          <a:prstGeom prst="rect">
            <a:avLst/>
          </a:prstGeom>
          <a:noFill/>
          <a:ln/>
        </p:spPr>
        <p:txBody>
          <a:bodyPr wrap="square" rtlCol="0" anchor="ctr"/>
          <a:lstStyle/>
          <a:p>
            <a:pPr algn="ctr" indent="0" marL="0">
              <a:buNone/>
            </a:pPr>
            <a:r>
              <a:rPr lang="en-US" sz="1300" dirty="0">
                <a:solidFill>
                  <a:srgbClr val="16A34A"/>
                </a:solidFill>
                <a:latin typeface="Calibri" pitchFamily="34" charset="0"/>
                <a:ea typeface="Calibri" pitchFamily="34" charset="-122"/>
                <a:cs typeface="Calibri" pitchFamily="34" charset="-120"/>
              </a:rPr>
              <a:t>✓ Yes</a:t>
            </a:r>
            <a:endParaRPr lang="en-US" sz="1300" dirty="0"/>
          </a:p>
        </p:txBody>
      </p:sp>
      <p:sp>
        <p:nvSpPr>
          <p:cNvPr id="52" name="Shape 50"/>
          <p:cNvSpPr/>
          <p:nvPr/>
        </p:nvSpPr>
        <p:spPr>
          <a:xfrm>
            <a:off x="7680960" y="3950208"/>
            <a:ext cx="1828800" cy="548640"/>
          </a:xfrm>
          <a:prstGeom prst="roundRect">
            <a:avLst>
              <a:gd name="adj" fmla="val 6667"/>
            </a:avLst>
          </a:prstGeom>
          <a:solidFill>
            <a:srgbClr val="FFFFFF"/>
          </a:solidFill>
          <a:ln w="6350">
            <a:solidFill>
              <a:srgbClr val="CBD5E1"/>
            </a:solidFill>
            <a:prstDash val="solid"/>
          </a:ln>
        </p:spPr>
      </p:sp>
      <p:sp>
        <p:nvSpPr>
          <p:cNvPr id="53" name="Text 51"/>
          <p:cNvSpPr/>
          <p:nvPr/>
        </p:nvSpPr>
        <p:spPr>
          <a:xfrm>
            <a:off x="7680960" y="3950208"/>
            <a:ext cx="1828800" cy="548640"/>
          </a:xfrm>
          <a:prstGeom prst="rect">
            <a:avLst/>
          </a:prstGeom>
          <a:noFill/>
          <a:ln/>
        </p:spPr>
        <p:txBody>
          <a:bodyPr wrap="square" rtlCol="0" anchor="ctr"/>
          <a:lstStyle/>
          <a:p>
            <a:pPr algn="ctr" indent="0" marL="0">
              <a:buNone/>
            </a:pPr>
            <a:r>
              <a:rPr lang="en-US" sz="1300" dirty="0">
                <a:solidFill>
                  <a:srgbClr val="DC2626"/>
                </a:solidFill>
                <a:latin typeface="Calibri" pitchFamily="34" charset="0"/>
                <a:ea typeface="Calibri" pitchFamily="34" charset="-122"/>
                <a:cs typeface="Calibri" pitchFamily="34" charset="-120"/>
              </a:rPr>
              <a:t>✗ No</a:t>
            </a:r>
            <a:endParaRPr lang="en-US" sz="1300" dirty="0"/>
          </a:p>
        </p:txBody>
      </p:sp>
      <p:sp>
        <p:nvSpPr>
          <p:cNvPr id="54" name="Shape 52"/>
          <p:cNvSpPr/>
          <p:nvPr/>
        </p:nvSpPr>
        <p:spPr>
          <a:xfrm>
            <a:off x="9601200" y="3950208"/>
            <a:ext cx="1828800" cy="548640"/>
          </a:xfrm>
          <a:prstGeom prst="roundRect">
            <a:avLst>
              <a:gd name="adj" fmla="val 6667"/>
            </a:avLst>
          </a:prstGeom>
          <a:solidFill>
            <a:srgbClr val="FFFFFF"/>
          </a:solidFill>
          <a:ln w="6350">
            <a:solidFill>
              <a:srgbClr val="CBD5E1"/>
            </a:solidFill>
            <a:prstDash val="solid"/>
          </a:ln>
        </p:spPr>
      </p:sp>
      <p:sp>
        <p:nvSpPr>
          <p:cNvPr id="55" name="Text 53"/>
          <p:cNvSpPr/>
          <p:nvPr/>
        </p:nvSpPr>
        <p:spPr>
          <a:xfrm>
            <a:off x="9601200" y="3950208"/>
            <a:ext cx="1828800" cy="548640"/>
          </a:xfrm>
          <a:prstGeom prst="rect">
            <a:avLst/>
          </a:prstGeom>
          <a:noFill/>
          <a:ln/>
        </p:spPr>
        <p:txBody>
          <a:bodyPr wrap="square" rtlCol="0" anchor="ctr"/>
          <a:lstStyle/>
          <a:p>
            <a:pPr algn="ctr" indent="0" marL="0">
              <a:buNone/>
            </a:pPr>
            <a:r>
              <a:rPr lang="en-US" sz="1300" dirty="0">
                <a:solidFill>
                  <a:srgbClr val="DC2626"/>
                </a:solidFill>
                <a:latin typeface="Calibri" pitchFamily="34" charset="0"/>
                <a:ea typeface="Calibri" pitchFamily="34" charset="-122"/>
                <a:cs typeface="Calibri" pitchFamily="34" charset="-120"/>
              </a:rPr>
              <a:t>✗ No</a:t>
            </a:r>
            <a:endParaRPr lang="en-US" sz="1300" dirty="0"/>
          </a:p>
        </p:txBody>
      </p:sp>
      <p:sp>
        <p:nvSpPr>
          <p:cNvPr id="56" name="Shape 54"/>
          <p:cNvSpPr/>
          <p:nvPr/>
        </p:nvSpPr>
        <p:spPr>
          <a:xfrm>
            <a:off x="548640" y="4572000"/>
            <a:ext cx="3200400" cy="548640"/>
          </a:xfrm>
          <a:prstGeom prst="roundRect">
            <a:avLst>
              <a:gd name="adj" fmla="val 6667"/>
            </a:avLst>
          </a:prstGeom>
          <a:solidFill>
            <a:srgbClr val="F1F5F9"/>
          </a:solidFill>
          <a:ln w="6350">
            <a:solidFill>
              <a:srgbClr val="CBD5E1"/>
            </a:solidFill>
            <a:prstDash val="solid"/>
          </a:ln>
        </p:spPr>
      </p:sp>
      <p:sp>
        <p:nvSpPr>
          <p:cNvPr id="57" name="Text 55"/>
          <p:cNvSpPr/>
          <p:nvPr/>
        </p:nvSpPr>
        <p:spPr>
          <a:xfrm>
            <a:off x="548640" y="4572000"/>
            <a:ext cx="3200400" cy="548640"/>
          </a:xfrm>
          <a:prstGeom prst="rect">
            <a:avLst/>
          </a:prstGeom>
          <a:noFill/>
          <a:ln/>
        </p:spPr>
        <p:txBody>
          <a:bodyPr wrap="square" rtlCol="0" anchor="ctr"/>
          <a:lstStyle/>
          <a:p>
            <a:pPr algn="ctr" indent="0" marL="0">
              <a:buNone/>
            </a:pPr>
            <a:r>
              <a:rPr lang="en-US" sz="1300" b="1" dirty="0">
                <a:solidFill>
                  <a:srgbClr val="1E3A5F"/>
                </a:solidFill>
                <a:latin typeface="Calibri" pitchFamily="34" charset="0"/>
                <a:ea typeface="Calibri" pitchFamily="34" charset="-122"/>
                <a:cs typeface="Calibri" pitchFamily="34" charset="-120"/>
              </a:rPr>
              <a:t>Manage team</a:t>
            </a:r>
            <a:endParaRPr lang="en-US" sz="1300" dirty="0"/>
          </a:p>
        </p:txBody>
      </p:sp>
      <p:sp>
        <p:nvSpPr>
          <p:cNvPr id="58" name="Shape 56"/>
          <p:cNvSpPr/>
          <p:nvPr/>
        </p:nvSpPr>
        <p:spPr>
          <a:xfrm>
            <a:off x="3840480" y="4572000"/>
            <a:ext cx="1828800" cy="548640"/>
          </a:xfrm>
          <a:prstGeom prst="roundRect">
            <a:avLst>
              <a:gd name="adj" fmla="val 6667"/>
            </a:avLst>
          </a:prstGeom>
          <a:solidFill>
            <a:srgbClr val="F1F5F9"/>
          </a:solidFill>
          <a:ln w="6350">
            <a:solidFill>
              <a:srgbClr val="CBD5E1"/>
            </a:solidFill>
            <a:prstDash val="solid"/>
          </a:ln>
        </p:spPr>
      </p:sp>
      <p:sp>
        <p:nvSpPr>
          <p:cNvPr id="59" name="Text 57"/>
          <p:cNvSpPr/>
          <p:nvPr/>
        </p:nvSpPr>
        <p:spPr>
          <a:xfrm>
            <a:off x="3840480" y="4572000"/>
            <a:ext cx="1828800" cy="548640"/>
          </a:xfrm>
          <a:prstGeom prst="rect">
            <a:avLst/>
          </a:prstGeom>
          <a:noFill/>
          <a:ln/>
        </p:spPr>
        <p:txBody>
          <a:bodyPr wrap="square" rtlCol="0" anchor="ctr"/>
          <a:lstStyle/>
          <a:p>
            <a:pPr algn="ctr" indent="0" marL="0">
              <a:buNone/>
            </a:pPr>
            <a:r>
              <a:rPr lang="en-US" sz="1300" dirty="0">
                <a:solidFill>
                  <a:srgbClr val="16A34A"/>
                </a:solidFill>
                <a:latin typeface="Calibri" pitchFamily="34" charset="0"/>
                <a:ea typeface="Calibri" pitchFamily="34" charset="-122"/>
                <a:cs typeface="Calibri" pitchFamily="34" charset="-120"/>
              </a:rPr>
              <a:t>✓ Yes</a:t>
            </a:r>
            <a:endParaRPr lang="en-US" sz="1300" dirty="0"/>
          </a:p>
        </p:txBody>
      </p:sp>
      <p:sp>
        <p:nvSpPr>
          <p:cNvPr id="60" name="Shape 58"/>
          <p:cNvSpPr/>
          <p:nvPr/>
        </p:nvSpPr>
        <p:spPr>
          <a:xfrm>
            <a:off x="5760720" y="4572000"/>
            <a:ext cx="1828800" cy="548640"/>
          </a:xfrm>
          <a:prstGeom prst="roundRect">
            <a:avLst>
              <a:gd name="adj" fmla="val 6667"/>
            </a:avLst>
          </a:prstGeom>
          <a:solidFill>
            <a:srgbClr val="F1F5F9"/>
          </a:solidFill>
          <a:ln w="6350">
            <a:solidFill>
              <a:srgbClr val="CBD5E1"/>
            </a:solidFill>
            <a:prstDash val="solid"/>
          </a:ln>
        </p:spPr>
      </p:sp>
      <p:sp>
        <p:nvSpPr>
          <p:cNvPr id="61" name="Text 59"/>
          <p:cNvSpPr/>
          <p:nvPr/>
        </p:nvSpPr>
        <p:spPr>
          <a:xfrm>
            <a:off x="5760720" y="4572000"/>
            <a:ext cx="1828800" cy="548640"/>
          </a:xfrm>
          <a:prstGeom prst="rect">
            <a:avLst/>
          </a:prstGeom>
          <a:noFill/>
          <a:ln/>
        </p:spPr>
        <p:txBody>
          <a:bodyPr wrap="square" rtlCol="0" anchor="ctr"/>
          <a:lstStyle/>
          <a:p>
            <a:pPr algn="ctr" indent="0" marL="0">
              <a:buNone/>
            </a:pPr>
            <a:r>
              <a:rPr lang="en-US" sz="1300" dirty="0">
                <a:solidFill>
                  <a:srgbClr val="16A34A"/>
                </a:solidFill>
                <a:latin typeface="Calibri" pitchFamily="34" charset="0"/>
                <a:ea typeface="Calibri" pitchFamily="34" charset="-122"/>
                <a:cs typeface="Calibri" pitchFamily="34" charset="-120"/>
              </a:rPr>
              <a:t>✓ Yes</a:t>
            </a:r>
            <a:endParaRPr lang="en-US" sz="1300" dirty="0"/>
          </a:p>
        </p:txBody>
      </p:sp>
      <p:sp>
        <p:nvSpPr>
          <p:cNvPr id="62" name="Shape 60"/>
          <p:cNvSpPr/>
          <p:nvPr/>
        </p:nvSpPr>
        <p:spPr>
          <a:xfrm>
            <a:off x="7680960" y="4572000"/>
            <a:ext cx="1828800" cy="548640"/>
          </a:xfrm>
          <a:prstGeom prst="roundRect">
            <a:avLst>
              <a:gd name="adj" fmla="val 6667"/>
            </a:avLst>
          </a:prstGeom>
          <a:solidFill>
            <a:srgbClr val="F1F5F9"/>
          </a:solidFill>
          <a:ln w="6350">
            <a:solidFill>
              <a:srgbClr val="CBD5E1"/>
            </a:solidFill>
            <a:prstDash val="solid"/>
          </a:ln>
        </p:spPr>
      </p:sp>
      <p:sp>
        <p:nvSpPr>
          <p:cNvPr id="63" name="Text 61"/>
          <p:cNvSpPr/>
          <p:nvPr/>
        </p:nvSpPr>
        <p:spPr>
          <a:xfrm>
            <a:off x="7680960" y="4572000"/>
            <a:ext cx="1828800" cy="548640"/>
          </a:xfrm>
          <a:prstGeom prst="rect">
            <a:avLst/>
          </a:prstGeom>
          <a:noFill/>
          <a:ln/>
        </p:spPr>
        <p:txBody>
          <a:bodyPr wrap="square" rtlCol="0" anchor="ctr"/>
          <a:lstStyle/>
          <a:p>
            <a:pPr algn="ctr" indent="0" marL="0">
              <a:buNone/>
            </a:pPr>
            <a:r>
              <a:rPr lang="en-US" sz="1300" dirty="0">
                <a:solidFill>
                  <a:srgbClr val="DC2626"/>
                </a:solidFill>
                <a:latin typeface="Calibri" pitchFamily="34" charset="0"/>
                <a:ea typeface="Calibri" pitchFamily="34" charset="-122"/>
                <a:cs typeface="Calibri" pitchFamily="34" charset="-120"/>
              </a:rPr>
              <a:t>✗ No</a:t>
            </a:r>
            <a:endParaRPr lang="en-US" sz="1300" dirty="0"/>
          </a:p>
        </p:txBody>
      </p:sp>
      <p:sp>
        <p:nvSpPr>
          <p:cNvPr id="64" name="Shape 62"/>
          <p:cNvSpPr/>
          <p:nvPr/>
        </p:nvSpPr>
        <p:spPr>
          <a:xfrm>
            <a:off x="9601200" y="4572000"/>
            <a:ext cx="1828800" cy="548640"/>
          </a:xfrm>
          <a:prstGeom prst="roundRect">
            <a:avLst>
              <a:gd name="adj" fmla="val 6667"/>
            </a:avLst>
          </a:prstGeom>
          <a:solidFill>
            <a:srgbClr val="F1F5F9"/>
          </a:solidFill>
          <a:ln w="6350">
            <a:solidFill>
              <a:srgbClr val="CBD5E1"/>
            </a:solidFill>
            <a:prstDash val="solid"/>
          </a:ln>
        </p:spPr>
      </p:sp>
      <p:sp>
        <p:nvSpPr>
          <p:cNvPr id="65" name="Text 63"/>
          <p:cNvSpPr/>
          <p:nvPr/>
        </p:nvSpPr>
        <p:spPr>
          <a:xfrm>
            <a:off x="9601200" y="4572000"/>
            <a:ext cx="1828800" cy="548640"/>
          </a:xfrm>
          <a:prstGeom prst="rect">
            <a:avLst/>
          </a:prstGeom>
          <a:noFill/>
          <a:ln/>
        </p:spPr>
        <p:txBody>
          <a:bodyPr wrap="square" rtlCol="0" anchor="ctr"/>
          <a:lstStyle/>
          <a:p>
            <a:pPr algn="ctr" indent="0" marL="0">
              <a:buNone/>
            </a:pPr>
            <a:r>
              <a:rPr lang="en-US" sz="1300" dirty="0">
                <a:solidFill>
                  <a:srgbClr val="DC2626"/>
                </a:solidFill>
                <a:latin typeface="Calibri" pitchFamily="34" charset="0"/>
                <a:ea typeface="Calibri" pitchFamily="34" charset="-122"/>
                <a:cs typeface="Calibri" pitchFamily="34" charset="-120"/>
              </a:rPr>
              <a:t>✗ No</a:t>
            </a:r>
            <a:endParaRPr lang="en-US" sz="1300" dirty="0"/>
          </a:p>
        </p:txBody>
      </p:sp>
      <p:sp>
        <p:nvSpPr>
          <p:cNvPr id="66" name="Shape 64"/>
          <p:cNvSpPr/>
          <p:nvPr/>
        </p:nvSpPr>
        <p:spPr>
          <a:xfrm>
            <a:off x="548640" y="5193792"/>
            <a:ext cx="3200400" cy="548640"/>
          </a:xfrm>
          <a:prstGeom prst="roundRect">
            <a:avLst>
              <a:gd name="adj" fmla="val 6667"/>
            </a:avLst>
          </a:prstGeom>
          <a:solidFill>
            <a:srgbClr val="FFFFFF"/>
          </a:solidFill>
          <a:ln w="6350">
            <a:solidFill>
              <a:srgbClr val="CBD5E1"/>
            </a:solidFill>
            <a:prstDash val="solid"/>
          </a:ln>
        </p:spPr>
      </p:sp>
      <p:sp>
        <p:nvSpPr>
          <p:cNvPr id="67" name="Text 65"/>
          <p:cNvSpPr/>
          <p:nvPr/>
        </p:nvSpPr>
        <p:spPr>
          <a:xfrm>
            <a:off x="548640" y="5193792"/>
            <a:ext cx="3200400" cy="548640"/>
          </a:xfrm>
          <a:prstGeom prst="rect">
            <a:avLst/>
          </a:prstGeom>
          <a:noFill/>
          <a:ln/>
        </p:spPr>
        <p:txBody>
          <a:bodyPr wrap="square" rtlCol="0" anchor="ctr"/>
          <a:lstStyle/>
          <a:p>
            <a:pPr algn="ctr" indent="0" marL="0">
              <a:buNone/>
            </a:pPr>
            <a:r>
              <a:rPr lang="en-US" sz="1300" b="1" dirty="0">
                <a:solidFill>
                  <a:srgbClr val="1E3A5F"/>
                </a:solidFill>
                <a:latin typeface="Calibri" pitchFamily="34" charset="0"/>
                <a:ea typeface="Calibri" pitchFamily="34" charset="-122"/>
                <a:cs typeface="Calibri" pitchFamily="34" charset="-120"/>
              </a:rPr>
              <a:t>Connect platforms</a:t>
            </a:r>
            <a:endParaRPr lang="en-US" sz="1300" dirty="0"/>
          </a:p>
        </p:txBody>
      </p:sp>
      <p:sp>
        <p:nvSpPr>
          <p:cNvPr id="68" name="Shape 66"/>
          <p:cNvSpPr/>
          <p:nvPr/>
        </p:nvSpPr>
        <p:spPr>
          <a:xfrm>
            <a:off x="3840480" y="5193792"/>
            <a:ext cx="1828800" cy="548640"/>
          </a:xfrm>
          <a:prstGeom prst="roundRect">
            <a:avLst>
              <a:gd name="adj" fmla="val 6667"/>
            </a:avLst>
          </a:prstGeom>
          <a:solidFill>
            <a:srgbClr val="FFFFFF"/>
          </a:solidFill>
          <a:ln w="6350">
            <a:solidFill>
              <a:srgbClr val="CBD5E1"/>
            </a:solidFill>
            <a:prstDash val="solid"/>
          </a:ln>
        </p:spPr>
      </p:sp>
      <p:sp>
        <p:nvSpPr>
          <p:cNvPr id="69" name="Text 67"/>
          <p:cNvSpPr/>
          <p:nvPr/>
        </p:nvSpPr>
        <p:spPr>
          <a:xfrm>
            <a:off x="3840480" y="5193792"/>
            <a:ext cx="1828800" cy="548640"/>
          </a:xfrm>
          <a:prstGeom prst="rect">
            <a:avLst/>
          </a:prstGeom>
          <a:noFill/>
          <a:ln/>
        </p:spPr>
        <p:txBody>
          <a:bodyPr wrap="square" rtlCol="0" anchor="ctr"/>
          <a:lstStyle/>
          <a:p>
            <a:pPr algn="ctr" indent="0" marL="0">
              <a:buNone/>
            </a:pPr>
            <a:r>
              <a:rPr lang="en-US" sz="1300" dirty="0">
                <a:solidFill>
                  <a:srgbClr val="16A34A"/>
                </a:solidFill>
                <a:latin typeface="Calibri" pitchFamily="34" charset="0"/>
                <a:ea typeface="Calibri" pitchFamily="34" charset="-122"/>
                <a:cs typeface="Calibri" pitchFamily="34" charset="-120"/>
              </a:rPr>
              <a:t>✓ Yes</a:t>
            </a:r>
            <a:endParaRPr lang="en-US" sz="1300" dirty="0"/>
          </a:p>
        </p:txBody>
      </p:sp>
      <p:sp>
        <p:nvSpPr>
          <p:cNvPr id="70" name="Shape 68"/>
          <p:cNvSpPr/>
          <p:nvPr/>
        </p:nvSpPr>
        <p:spPr>
          <a:xfrm>
            <a:off x="5760720" y="5193792"/>
            <a:ext cx="1828800" cy="548640"/>
          </a:xfrm>
          <a:prstGeom prst="roundRect">
            <a:avLst>
              <a:gd name="adj" fmla="val 6667"/>
            </a:avLst>
          </a:prstGeom>
          <a:solidFill>
            <a:srgbClr val="FFFFFF"/>
          </a:solidFill>
          <a:ln w="6350">
            <a:solidFill>
              <a:srgbClr val="CBD5E1"/>
            </a:solidFill>
            <a:prstDash val="solid"/>
          </a:ln>
        </p:spPr>
      </p:sp>
      <p:sp>
        <p:nvSpPr>
          <p:cNvPr id="71" name="Text 69"/>
          <p:cNvSpPr/>
          <p:nvPr/>
        </p:nvSpPr>
        <p:spPr>
          <a:xfrm>
            <a:off x="5760720" y="5193792"/>
            <a:ext cx="1828800" cy="548640"/>
          </a:xfrm>
          <a:prstGeom prst="rect">
            <a:avLst/>
          </a:prstGeom>
          <a:noFill/>
          <a:ln/>
        </p:spPr>
        <p:txBody>
          <a:bodyPr wrap="square" rtlCol="0" anchor="ctr"/>
          <a:lstStyle/>
          <a:p>
            <a:pPr algn="ctr" indent="0" marL="0">
              <a:buNone/>
            </a:pPr>
            <a:r>
              <a:rPr lang="en-US" sz="1300" dirty="0">
                <a:solidFill>
                  <a:srgbClr val="DC2626"/>
                </a:solidFill>
                <a:latin typeface="Calibri" pitchFamily="34" charset="0"/>
                <a:ea typeface="Calibri" pitchFamily="34" charset="-122"/>
                <a:cs typeface="Calibri" pitchFamily="34" charset="-120"/>
              </a:rPr>
              <a:t>✗ No</a:t>
            </a:r>
            <a:endParaRPr lang="en-US" sz="1300" dirty="0"/>
          </a:p>
        </p:txBody>
      </p:sp>
      <p:sp>
        <p:nvSpPr>
          <p:cNvPr id="72" name="Shape 70"/>
          <p:cNvSpPr/>
          <p:nvPr/>
        </p:nvSpPr>
        <p:spPr>
          <a:xfrm>
            <a:off x="7680960" y="5193792"/>
            <a:ext cx="1828800" cy="548640"/>
          </a:xfrm>
          <a:prstGeom prst="roundRect">
            <a:avLst>
              <a:gd name="adj" fmla="val 6667"/>
            </a:avLst>
          </a:prstGeom>
          <a:solidFill>
            <a:srgbClr val="FFFFFF"/>
          </a:solidFill>
          <a:ln w="6350">
            <a:solidFill>
              <a:srgbClr val="CBD5E1"/>
            </a:solidFill>
            <a:prstDash val="solid"/>
          </a:ln>
        </p:spPr>
      </p:sp>
      <p:sp>
        <p:nvSpPr>
          <p:cNvPr id="73" name="Text 71"/>
          <p:cNvSpPr/>
          <p:nvPr/>
        </p:nvSpPr>
        <p:spPr>
          <a:xfrm>
            <a:off x="7680960" y="5193792"/>
            <a:ext cx="1828800" cy="548640"/>
          </a:xfrm>
          <a:prstGeom prst="rect">
            <a:avLst/>
          </a:prstGeom>
          <a:noFill/>
          <a:ln/>
        </p:spPr>
        <p:txBody>
          <a:bodyPr wrap="square" rtlCol="0" anchor="ctr"/>
          <a:lstStyle/>
          <a:p>
            <a:pPr algn="ctr" indent="0" marL="0">
              <a:buNone/>
            </a:pPr>
            <a:r>
              <a:rPr lang="en-US" sz="1300" dirty="0">
                <a:solidFill>
                  <a:srgbClr val="DC2626"/>
                </a:solidFill>
                <a:latin typeface="Calibri" pitchFamily="34" charset="0"/>
                <a:ea typeface="Calibri" pitchFamily="34" charset="-122"/>
                <a:cs typeface="Calibri" pitchFamily="34" charset="-120"/>
              </a:rPr>
              <a:t>✗ No</a:t>
            </a:r>
            <a:endParaRPr lang="en-US" sz="1300" dirty="0"/>
          </a:p>
        </p:txBody>
      </p:sp>
      <p:sp>
        <p:nvSpPr>
          <p:cNvPr id="74" name="Shape 72"/>
          <p:cNvSpPr/>
          <p:nvPr/>
        </p:nvSpPr>
        <p:spPr>
          <a:xfrm>
            <a:off x="9601200" y="5193792"/>
            <a:ext cx="1828800" cy="548640"/>
          </a:xfrm>
          <a:prstGeom prst="roundRect">
            <a:avLst>
              <a:gd name="adj" fmla="val 6667"/>
            </a:avLst>
          </a:prstGeom>
          <a:solidFill>
            <a:srgbClr val="FFFFFF"/>
          </a:solidFill>
          <a:ln w="6350">
            <a:solidFill>
              <a:srgbClr val="CBD5E1"/>
            </a:solidFill>
            <a:prstDash val="solid"/>
          </a:ln>
        </p:spPr>
      </p:sp>
      <p:sp>
        <p:nvSpPr>
          <p:cNvPr id="75" name="Text 73"/>
          <p:cNvSpPr/>
          <p:nvPr/>
        </p:nvSpPr>
        <p:spPr>
          <a:xfrm>
            <a:off x="9601200" y="5193792"/>
            <a:ext cx="1828800" cy="548640"/>
          </a:xfrm>
          <a:prstGeom prst="rect">
            <a:avLst/>
          </a:prstGeom>
          <a:noFill/>
          <a:ln/>
        </p:spPr>
        <p:txBody>
          <a:bodyPr wrap="square" rtlCol="0" anchor="ctr"/>
          <a:lstStyle/>
          <a:p>
            <a:pPr algn="ctr" indent="0" marL="0">
              <a:buNone/>
            </a:pPr>
            <a:r>
              <a:rPr lang="en-US" sz="1300" dirty="0">
                <a:solidFill>
                  <a:srgbClr val="DC2626"/>
                </a:solidFill>
                <a:latin typeface="Calibri" pitchFamily="34" charset="0"/>
                <a:ea typeface="Calibri" pitchFamily="34" charset="-122"/>
                <a:cs typeface="Calibri" pitchFamily="34" charset="-120"/>
              </a:rPr>
              <a:t>✗ No</a:t>
            </a:r>
            <a:endParaRPr lang="en-US" sz="1300" dirty="0"/>
          </a:p>
        </p:txBody>
      </p:sp>
      <p:sp>
        <p:nvSpPr>
          <p:cNvPr id="76" name="Shape 74"/>
          <p:cNvSpPr/>
          <p:nvPr/>
        </p:nvSpPr>
        <p:spPr>
          <a:xfrm>
            <a:off x="1371600" y="5577840"/>
            <a:ext cx="9418320" cy="457200"/>
          </a:xfrm>
          <a:prstGeom prst="roundRect">
            <a:avLst>
              <a:gd name="adj" fmla="val 20000"/>
            </a:avLst>
          </a:prstGeom>
          <a:solidFill>
            <a:srgbClr val="2563EB"/>
          </a:solidFill>
          <a:ln/>
        </p:spPr>
      </p:sp>
      <p:sp>
        <p:nvSpPr>
          <p:cNvPr id="77" name="Text 75"/>
          <p:cNvSpPr/>
          <p:nvPr/>
        </p:nvSpPr>
        <p:spPr>
          <a:xfrm>
            <a:off x="1371600" y="5577840"/>
            <a:ext cx="941832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Enforced at database level via Supabase RLS  |  Frontend enforces UI restrictions as secondary check</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1E3A5F"/>
          </a:solidFill>
          <a:ln/>
        </p:spPr>
      </p:sp>
      <p:sp>
        <p:nvSpPr>
          <p:cNvPr id="3" name="Text 1"/>
          <p:cNvSpPr/>
          <p:nvPr/>
        </p:nvSpPr>
        <p:spPr>
          <a:xfrm>
            <a:off x="548640" y="182880"/>
            <a:ext cx="10972800" cy="6400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Edge Cases &amp; Error Handling</a:t>
            </a:r>
            <a:endParaRPr lang="en-US" sz="2800" dirty="0"/>
          </a:p>
        </p:txBody>
      </p:sp>
      <p:sp>
        <p:nvSpPr>
          <p:cNvPr id="4" name="Shape 2"/>
          <p:cNvSpPr/>
          <p:nvPr/>
        </p:nvSpPr>
        <p:spPr>
          <a:xfrm>
            <a:off x="0" y="1005840"/>
            <a:ext cx="12192000" cy="54864"/>
          </a:xfrm>
          <a:prstGeom prst="rect">
            <a:avLst/>
          </a:prstGeom>
          <a:solidFill>
            <a:srgbClr val="2563EB"/>
          </a:solidFill>
          <a:ln/>
        </p:spPr>
      </p:sp>
      <p:sp>
        <p:nvSpPr>
          <p:cNvPr id="5" name="Text 3"/>
          <p:cNvSpPr/>
          <p:nvPr/>
        </p:nvSpPr>
        <p:spPr>
          <a:xfrm>
            <a:off x="548640" y="6309360"/>
            <a:ext cx="10972800" cy="36576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Ayodele Oluwafimidaraayo</a:t>
            </a:r>
            <a:pPr indent="0" marL="0">
              <a:buNone/>
            </a:pPr>
            <a:r>
              <a:rPr lang="en-US" sz="1000" dirty="0">
                <a:solidFill>
                  <a:srgbClr val="64748B"/>
                </a:solidFill>
                <a:latin typeface="Calibri" pitchFamily="34" charset="0"/>
                <a:ea typeface="Calibri" pitchFamily="34" charset="-122"/>
                <a:cs typeface="Calibri" pitchFamily="34" charset="-120"/>
              </a:rPr>
              <a:t>   |   Slide 11 of 17</a:t>
            </a:r>
            <a:endParaRPr lang="en-US" sz="1000" dirty="0"/>
          </a:p>
        </p:txBody>
      </p:sp>
      <p:sp>
        <p:nvSpPr>
          <p:cNvPr id="6" name="Shape 4"/>
          <p:cNvSpPr/>
          <p:nvPr/>
        </p:nvSpPr>
        <p:spPr>
          <a:xfrm>
            <a:off x="548640" y="1371600"/>
            <a:ext cx="4114800" cy="457200"/>
          </a:xfrm>
          <a:prstGeom prst="roundRect">
            <a:avLst>
              <a:gd name="adj" fmla="val 12000"/>
            </a:avLst>
          </a:prstGeom>
          <a:solidFill>
            <a:srgbClr val="1E3A5F"/>
          </a:solidFill>
          <a:ln/>
        </p:spPr>
      </p:sp>
      <p:sp>
        <p:nvSpPr>
          <p:cNvPr id="7" name="Text 5"/>
          <p:cNvSpPr/>
          <p:nvPr/>
        </p:nvSpPr>
        <p:spPr>
          <a:xfrm>
            <a:off x="548640" y="1371600"/>
            <a:ext cx="411480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Edge Case</a:t>
            </a:r>
            <a:endParaRPr lang="en-US" sz="1400" dirty="0"/>
          </a:p>
        </p:txBody>
      </p:sp>
      <p:sp>
        <p:nvSpPr>
          <p:cNvPr id="8" name="Shape 6"/>
          <p:cNvSpPr/>
          <p:nvPr/>
        </p:nvSpPr>
        <p:spPr>
          <a:xfrm>
            <a:off x="4846320" y="1371600"/>
            <a:ext cx="6766560" cy="457200"/>
          </a:xfrm>
          <a:prstGeom prst="roundRect">
            <a:avLst>
              <a:gd name="adj" fmla="val 12000"/>
            </a:avLst>
          </a:prstGeom>
          <a:solidFill>
            <a:srgbClr val="1E3A5F"/>
          </a:solidFill>
          <a:ln/>
        </p:spPr>
      </p:sp>
      <p:sp>
        <p:nvSpPr>
          <p:cNvPr id="9" name="Text 7"/>
          <p:cNvSpPr/>
          <p:nvPr/>
        </p:nvSpPr>
        <p:spPr>
          <a:xfrm>
            <a:off x="4846320" y="1371600"/>
            <a:ext cx="676656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How It's Handled</a:t>
            </a:r>
            <a:endParaRPr lang="en-US" sz="1400" dirty="0"/>
          </a:p>
        </p:txBody>
      </p:sp>
      <p:sp>
        <p:nvSpPr>
          <p:cNvPr id="10" name="Shape 8"/>
          <p:cNvSpPr/>
          <p:nvPr/>
        </p:nvSpPr>
        <p:spPr>
          <a:xfrm>
            <a:off x="548640" y="1965960"/>
            <a:ext cx="4114800" cy="438912"/>
          </a:xfrm>
          <a:prstGeom prst="roundRect">
            <a:avLst>
              <a:gd name="adj" fmla="val 8333"/>
            </a:avLst>
          </a:prstGeom>
          <a:solidFill>
            <a:srgbClr val="F1F5F9"/>
          </a:solidFill>
          <a:ln/>
        </p:spPr>
      </p:sp>
      <p:sp>
        <p:nvSpPr>
          <p:cNvPr id="11" name="Shape 9"/>
          <p:cNvSpPr/>
          <p:nvPr/>
        </p:nvSpPr>
        <p:spPr>
          <a:xfrm>
            <a:off x="548640" y="2020824"/>
            <a:ext cx="73152" cy="329184"/>
          </a:xfrm>
          <a:prstGeom prst="rect">
            <a:avLst/>
          </a:prstGeom>
          <a:solidFill>
            <a:srgbClr val="DC2626"/>
          </a:solidFill>
          <a:ln/>
        </p:spPr>
      </p:sp>
      <p:sp>
        <p:nvSpPr>
          <p:cNvPr id="12" name="Text 10"/>
          <p:cNvSpPr/>
          <p:nvPr/>
        </p:nvSpPr>
        <p:spPr>
          <a:xfrm>
            <a:off x="777240" y="1965960"/>
            <a:ext cx="3840480" cy="438912"/>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Input validation</a:t>
            </a:r>
            <a:endParaRPr lang="en-US" sz="1200" dirty="0"/>
          </a:p>
        </p:txBody>
      </p:sp>
      <p:sp>
        <p:nvSpPr>
          <p:cNvPr id="13" name="Text 11"/>
          <p:cNvSpPr/>
          <p:nvPr/>
        </p:nvSpPr>
        <p:spPr>
          <a:xfrm>
            <a:off x="4480560" y="1965960"/>
            <a:ext cx="457200" cy="438912"/>
          </a:xfrm>
          <a:prstGeom prst="rect">
            <a:avLst/>
          </a:prstGeom>
          <a:noFill/>
          <a:ln/>
        </p:spPr>
        <p:txBody>
          <a:bodyPr wrap="square" rtlCol="0" anchor="ctr"/>
          <a:lstStyle/>
          <a:p>
            <a:pPr algn="ctr" indent="0" marL="0">
              <a:buNone/>
            </a:pPr>
            <a:r>
              <a:rPr lang="en-US" sz="1600" dirty="0">
                <a:solidFill>
                  <a:srgbClr val="2563EB"/>
                </a:solidFill>
              </a:rPr>
              <a:t>➜</a:t>
            </a:r>
            <a:endParaRPr lang="en-US" sz="1600" dirty="0"/>
          </a:p>
        </p:txBody>
      </p:sp>
      <p:sp>
        <p:nvSpPr>
          <p:cNvPr id="14" name="Shape 12"/>
          <p:cNvSpPr/>
          <p:nvPr/>
        </p:nvSpPr>
        <p:spPr>
          <a:xfrm>
            <a:off x="4846320" y="1965960"/>
            <a:ext cx="6766560" cy="438912"/>
          </a:xfrm>
          <a:prstGeom prst="roundRect">
            <a:avLst>
              <a:gd name="adj" fmla="val 8333"/>
            </a:avLst>
          </a:prstGeom>
          <a:solidFill>
            <a:srgbClr val="F1F5F9"/>
          </a:solidFill>
          <a:ln/>
        </p:spPr>
      </p:sp>
      <p:sp>
        <p:nvSpPr>
          <p:cNvPr id="15" name="Text 13"/>
          <p:cNvSpPr/>
          <p:nvPr/>
        </p:nvSpPr>
        <p:spPr>
          <a:xfrm>
            <a:off x="5029200" y="1965960"/>
            <a:ext cx="6400800" cy="438912"/>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Payload size limits, unicode handling, injection protection</a:t>
            </a:r>
            <a:endParaRPr lang="en-US" sz="1100" dirty="0"/>
          </a:p>
        </p:txBody>
      </p:sp>
      <p:sp>
        <p:nvSpPr>
          <p:cNvPr id="16" name="Shape 14"/>
          <p:cNvSpPr/>
          <p:nvPr/>
        </p:nvSpPr>
        <p:spPr>
          <a:xfrm>
            <a:off x="548640" y="2496312"/>
            <a:ext cx="4114800" cy="438912"/>
          </a:xfrm>
          <a:prstGeom prst="roundRect">
            <a:avLst>
              <a:gd name="adj" fmla="val 8333"/>
            </a:avLst>
          </a:prstGeom>
          <a:solidFill>
            <a:srgbClr val="F1F5F9"/>
          </a:solidFill>
          <a:ln/>
        </p:spPr>
      </p:sp>
      <p:sp>
        <p:nvSpPr>
          <p:cNvPr id="17" name="Shape 15"/>
          <p:cNvSpPr/>
          <p:nvPr/>
        </p:nvSpPr>
        <p:spPr>
          <a:xfrm>
            <a:off x="548640" y="2551176"/>
            <a:ext cx="73152" cy="329184"/>
          </a:xfrm>
          <a:prstGeom prst="rect">
            <a:avLst/>
          </a:prstGeom>
          <a:solidFill>
            <a:srgbClr val="EA580C"/>
          </a:solidFill>
          <a:ln/>
        </p:spPr>
      </p:sp>
      <p:sp>
        <p:nvSpPr>
          <p:cNvPr id="18" name="Text 16"/>
          <p:cNvSpPr/>
          <p:nvPr/>
        </p:nvSpPr>
        <p:spPr>
          <a:xfrm>
            <a:off x="777240" y="2496312"/>
            <a:ext cx="3840480" cy="438912"/>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Duplicate detection</a:t>
            </a:r>
            <a:endParaRPr lang="en-US" sz="1200" dirty="0"/>
          </a:p>
        </p:txBody>
      </p:sp>
      <p:sp>
        <p:nvSpPr>
          <p:cNvPr id="19" name="Text 17"/>
          <p:cNvSpPr/>
          <p:nvPr/>
        </p:nvSpPr>
        <p:spPr>
          <a:xfrm>
            <a:off x="4480560" y="2496312"/>
            <a:ext cx="457200" cy="438912"/>
          </a:xfrm>
          <a:prstGeom prst="rect">
            <a:avLst/>
          </a:prstGeom>
          <a:noFill/>
          <a:ln/>
        </p:spPr>
        <p:txBody>
          <a:bodyPr wrap="square" rtlCol="0" anchor="ctr"/>
          <a:lstStyle/>
          <a:p>
            <a:pPr algn="ctr" indent="0" marL="0">
              <a:buNone/>
            </a:pPr>
            <a:r>
              <a:rPr lang="en-US" sz="1600" dirty="0">
                <a:solidFill>
                  <a:srgbClr val="2563EB"/>
                </a:solidFill>
              </a:rPr>
              <a:t>➜</a:t>
            </a:r>
            <a:endParaRPr lang="en-US" sz="1600" dirty="0"/>
          </a:p>
        </p:txBody>
      </p:sp>
      <p:sp>
        <p:nvSpPr>
          <p:cNvPr id="20" name="Shape 18"/>
          <p:cNvSpPr/>
          <p:nvPr/>
        </p:nvSpPr>
        <p:spPr>
          <a:xfrm>
            <a:off x="4846320" y="2496312"/>
            <a:ext cx="6766560" cy="438912"/>
          </a:xfrm>
          <a:prstGeom prst="roundRect">
            <a:avLst>
              <a:gd name="adj" fmla="val 8333"/>
            </a:avLst>
          </a:prstGeom>
          <a:solidFill>
            <a:srgbClr val="F1F5F9"/>
          </a:solidFill>
          <a:ln/>
        </p:spPr>
      </p:sp>
      <p:sp>
        <p:nvSpPr>
          <p:cNvPr id="21" name="Text 19"/>
          <p:cNvSpPr/>
          <p:nvPr/>
        </p:nvSpPr>
        <p:spPr>
          <a:xfrm>
            <a:off x="5029200" y="2496312"/>
            <a:ext cx="6400800" cy="438912"/>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Content hash + 10-min dedup window (409 Conflict)</a:t>
            </a:r>
            <a:endParaRPr lang="en-US" sz="1100" dirty="0"/>
          </a:p>
        </p:txBody>
      </p:sp>
      <p:sp>
        <p:nvSpPr>
          <p:cNvPr id="22" name="Shape 20"/>
          <p:cNvSpPr/>
          <p:nvPr/>
        </p:nvSpPr>
        <p:spPr>
          <a:xfrm>
            <a:off x="548640" y="3026664"/>
            <a:ext cx="4114800" cy="438912"/>
          </a:xfrm>
          <a:prstGeom prst="roundRect">
            <a:avLst>
              <a:gd name="adj" fmla="val 8333"/>
            </a:avLst>
          </a:prstGeom>
          <a:solidFill>
            <a:srgbClr val="F1F5F9"/>
          </a:solidFill>
          <a:ln/>
        </p:spPr>
      </p:sp>
      <p:sp>
        <p:nvSpPr>
          <p:cNvPr id="23" name="Shape 21"/>
          <p:cNvSpPr/>
          <p:nvPr/>
        </p:nvSpPr>
        <p:spPr>
          <a:xfrm>
            <a:off x="548640" y="3081528"/>
            <a:ext cx="73152" cy="329184"/>
          </a:xfrm>
          <a:prstGeom prst="rect">
            <a:avLst/>
          </a:prstGeom>
          <a:solidFill>
            <a:srgbClr val="CA8A04"/>
          </a:solidFill>
          <a:ln/>
        </p:spPr>
      </p:sp>
      <p:sp>
        <p:nvSpPr>
          <p:cNvPr id="24" name="Text 22"/>
          <p:cNvSpPr/>
          <p:nvPr/>
        </p:nvSpPr>
        <p:spPr>
          <a:xfrm>
            <a:off x="777240" y="3026664"/>
            <a:ext cx="3840480" cy="438912"/>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AI API failure</a:t>
            </a:r>
            <a:endParaRPr lang="en-US" sz="1200" dirty="0"/>
          </a:p>
        </p:txBody>
      </p:sp>
      <p:sp>
        <p:nvSpPr>
          <p:cNvPr id="25" name="Text 23"/>
          <p:cNvSpPr/>
          <p:nvPr/>
        </p:nvSpPr>
        <p:spPr>
          <a:xfrm>
            <a:off x="4480560" y="3026664"/>
            <a:ext cx="457200" cy="438912"/>
          </a:xfrm>
          <a:prstGeom prst="rect">
            <a:avLst/>
          </a:prstGeom>
          <a:noFill/>
          <a:ln/>
        </p:spPr>
        <p:txBody>
          <a:bodyPr wrap="square" rtlCol="0" anchor="ctr"/>
          <a:lstStyle/>
          <a:p>
            <a:pPr algn="ctr" indent="0" marL="0">
              <a:buNone/>
            </a:pPr>
            <a:r>
              <a:rPr lang="en-US" sz="1600" dirty="0">
                <a:solidFill>
                  <a:srgbClr val="2563EB"/>
                </a:solidFill>
              </a:rPr>
              <a:t>➜</a:t>
            </a:r>
            <a:endParaRPr lang="en-US" sz="1600" dirty="0"/>
          </a:p>
        </p:txBody>
      </p:sp>
      <p:sp>
        <p:nvSpPr>
          <p:cNvPr id="26" name="Shape 24"/>
          <p:cNvSpPr/>
          <p:nvPr/>
        </p:nvSpPr>
        <p:spPr>
          <a:xfrm>
            <a:off x="4846320" y="3026664"/>
            <a:ext cx="6766560" cy="438912"/>
          </a:xfrm>
          <a:prstGeom prst="roundRect">
            <a:avLst>
              <a:gd name="adj" fmla="val 8333"/>
            </a:avLst>
          </a:prstGeom>
          <a:solidFill>
            <a:srgbClr val="F1F5F9"/>
          </a:solidFill>
          <a:ln/>
        </p:spPr>
      </p:sp>
      <p:sp>
        <p:nvSpPr>
          <p:cNvPr id="27" name="Text 25"/>
          <p:cNvSpPr/>
          <p:nvPr/>
        </p:nvSpPr>
        <p:spPr>
          <a:xfrm>
            <a:off x="5029200" y="3026664"/>
            <a:ext cx="6400800" cy="438912"/>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3x exponential backoff (1s, 2s, 4s), then graceful error</a:t>
            </a:r>
            <a:endParaRPr lang="en-US" sz="1100" dirty="0"/>
          </a:p>
        </p:txBody>
      </p:sp>
      <p:sp>
        <p:nvSpPr>
          <p:cNvPr id="28" name="Shape 26"/>
          <p:cNvSpPr/>
          <p:nvPr/>
        </p:nvSpPr>
        <p:spPr>
          <a:xfrm>
            <a:off x="548640" y="3557016"/>
            <a:ext cx="4114800" cy="438912"/>
          </a:xfrm>
          <a:prstGeom prst="roundRect">
            <a:avLst>
              <a:gd name="adj" fmla="val 8333"/>
            </a:avLst>
          </a:prstGeom>
          <a:solidFill>
            <a:srgbClr val="F1F5F9"/>
          </a:solidFill>
          <a:ln/>
        </p:spPr>
      </p:sp>
      <p:sp>
        <p:nvSpPr>
          <p:cNvPr id="29" name="Shape 27"/>
          <p:cNvSpPr/>
          <p:nvPr/>
        </p:nvSpPr>
        <p:spPr>
          <a:xfrm>
            <a:off x="548640" y="3611880"/>
            <a:ext cx="73152" cy="329184"/>
          </a:xfrm>
          <a:prstGeom prst="rect">
            <a:avLst/>
          </a:prstGeom>
          <a:solidFill>
            <a:srgbClr val="2563EB"/>
          </a:solidFill>
          <a:ln/>
        </p:spPr>
      </p:sp>
      <p:sp>
        <p:nvSpPr>
          <p:cNvPr id="30" name="Text 28"/>
          <p:cNvSpPr/>
          <p:nvPr/>
        </p:nvSpPr>
        <p:spPr>
          <a:xfrm>
            <a:off x="777240" y="3557016"/>
            <a:ext cx="3840480" cy="438912"/>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Partial publish failure</a:t>
            </a:r>
            <a:endParaRPr lang="en-US" sz="1200" dirty="0"/>
          </a:p>
        </p:txBody>
      </p:sp>
      <p:sp>
        <p:nvSpPr>
          <p:cNvPr id="31" name="Text 29"/>
          <p:cNvSpPr/>
          <p:nvPr/>
        </p:nvSpPr>
        <p:spPr>
          <a:xfrm>
            <a:off x="4480560" y="3557016"/>
            <a:ext cx="457200" cy="438912"/>
          </a:xfrm>
          <a:prstGeom prst="rect">
            <a:avLst/>
          </a:prstGeom>
          <a:noFill/>
          <a:ln/>
        </p:spPr>
        <p:txBody>
          <a:bodyPr wrap="square" rtlCol="0" anchor="ctr"/>
          <a:lstStyle/>
          <a:p>
            <a:pPr algn="ctr" indent="0" marL="0">
              <a:buNone/>
            </a:pPr>
            <a:r>
              <a:rPr lang="en-US" sz="1600" dirty="0">
                <a:solidFill>
                  <a:srgbClr val="2563EB"/>
                </a:solidFill>
              </a:rPr>
              <a:t>➜</a:t>
            </a:r>
            <a:endParaRPr lang="en-US" sz="1600" dirty="0"/>
          </a:p>
        </p:txBody>
      </p:sp>
      <p:sp>
        <p:nvSpPr>
          <p:cNvPr id="32" name="Shape 30"/>
          <p:cNvSpPr/>
          <p:nvPr/>
        </p:nvSpPr>
        <p:spPr>
          <a:xfrm>
            <a:off x="4846320" y="3557016"/>
            <a:ext cx="6766560" cy="438912"/>
          </a:xfrm>
          <a:prstGeom prst="roundRect">
            <a:avLst>
              <a:gd name="adj" fmla="val 8333"/>
            </a:avLst>
          </a:prstGeom>
          <a:solidFill>
            <a:srgbClr val="F1F5F9"/>
          </a:solidFill>
          <a:ln/>
        </p:spPr>
      </p:sp>
      <p:sp>
        <p:nvSpPr>
          <p:cNvPr id="33" name="Text 31"/>
          <p:cNvSpPr/>
          <p:nvPr/>
        </p:nvSpPr>
        <p:spPr>
          <a:xfrm>
            <a:off x="5029200" y="3557016"/>
            <a:ext cx="6400800" cy="438912"/>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Per-platform error handling, others continue</a:t>
            </a:r>
            <a:endParaRPr lang="en-US" sz="1100" dirty="0"/>
          </a:p>
        </p:txBody>
      </p:sp>
      <p:sp>
        <p:nvSpPr>
          <p:cNvPr id="34" name="Shape 32"/>
          <p:cNvSpPr/>
          <p:nvPr/>
        </p:nvSpPr>
        <p:spPr>
          <a:xfrm>
            <a:off x="548640" y="4087368"/>
            <a:ext cx="4114800" cy="438912"/>
          </a:xfrm>
          <a:prstGeom prst="roundRect">
            <a:avLst>
              <a:gd name="adj" fmla="val 8333"/>
            </a:avLst>
          </a:prstGeom>
          <a:solidFill>
            <a:srgbClr val="F1F5F9"/>
          </a:solidFill>
          <a:ln/>
        </p:spPr>
      </p:sp>
      <p:sp>
        <p:nvSpPr>
          <p:cNvPr id="35" name="Shape 33"/>
          <p:cNvSpPr/>
          <p:nvPr/>
        </p:nvSpPr>
        <p:spPr>
          <a:xfrm>
            <a:off x="548640" y="4142232"/>
            <a:ext cx="73152" cy="329184"/>
          </a:xfrm>
          <a:prstGeom prst="rect">
            <a:avLst/>
          </a:prstGeom>
          <a:solidFill>
            <a:srgbClr val="7C3AED"/>
          </a:solidFill>
          <a:ln/>
        </p:spPr>
      </p:sp>
      <p:sp>
        <p:nvSpPr>
          <p:cNvPr id="36" name="Text 34"/>
          <p:cNvSpPr/>
          <p:nvPr/>
        </p:nvSpPr>
        <p:spPr>
          <a:xfrm>
            <a:off x="777240" y="4087368"/>
            <a:ext cx="3840480" cy="438912"/>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Mid-execution recovery</a:t>
            </a:r>
            <a:endParaRPr lang="en-US" sz="1200" dirty="0"/>
          </a:p>
        </p:txBody>
      </p:sp>
      <p:sp>
        <p:nvSpPr>
          <p:cNvPr id="37" name="Text 35"/>
          <p:cNvSpPr/>
          <p:nvPr/>
        </p:nvSpPr>
        <p:spPr>
          <a:xfrm>
            <a:off x="4480560" y="4087368"/>
            <a:ext cx="457200" cy="438912"/>
          </a:xfrm>
          <a:prstGeom prst="rect">
            <a:avLst/>
          </a:prstGeom>
          <a:noFill/>
          <a:ln/>
        </p:spPr>
        <p:txBody>
          <a:bodyPr wrap="square" rtlCol="0" anchor="ctr"/>
          <a:lstStyle/>
          <a:p>
            <a:pPr algn="ctr" indent="0" marL="0">
              <a:buNone/>
            </a:pPr>
            <a:r>
              <a:rPr lang="en-US" sz="1600" dirty="0">
                <a:solidFill>
                  <a:srgbClr val="2563EB"/>
                </a:solidFill>
              </a:rPr>
              <a:t>➜</a:t>
            </a:r>
            <a:endParaRPr lang="en-US" sz="1600" dirty="0"/>
          </a:p>
        </p:txBody>
      </p:sp>
      <p:sp>
        <p:nvSpPr>
          <p:cNvPr id="38" name="Shape 36"/>
          <p:cNvSpPr/>
          <p:nvPr/>
        </p:nvSpPr>
        <p:spPr>
          <a:xfrm>
            <a:off x="4846320" y="4087368"/>
            <a:ext cx="6766560" cy="438912"/>
          </a:xfrm>
          <a:prstGeom prst="roundRect">
            <a:avLst>
              <a:gd name="adj" fmla="val 8333"/>
            </a:avLst>
          </a:prstGeom>
          <a:solidFill>
            <a:srgbClr val="F1F5F9"/>
          </a:solidFill>
          <a:ln/>
        </p:spPr>
      </p:sp>
      <p:sp>
        <p:nvSpPr>
          <p:cNvPr id="39" name="Text 37"/>
          <p:cNvSpPr/>
          <p:nvPr/>
        </p:nvSpPr>
        <p:spPr>
          <a:xfrm>
            <a:off x="5029200" y="4087368"/>
            <a:ext cx="6400800" cy="438912"/>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Stale submission cleanup for abandoned workflows</a:t>
            </a:r>
            <a:endParaRPr lang="en-US" sz="1100" dirty="0"/>
          </a:p>
        </p:txBody>
      </p:sp>
      <p:sp>
        <p:nvSpPr>
          <p:cNvPr id="40" name="Shape 38"/>
          <p:cNvSpPr/>
          <p:nvPr/>
        </p:nvSpPr>
        <p:spPr>
          <a:xfrm>
            <a:off x="548640" y="4617720"/>
            <a:ext cx="4114800" cy="438912"/>
          </a:xfrm>
          <a:prstGeom prst="roundRect">
            <a:avLst>
              <a:gd name="adj" fmla="val 8333"/>
            </a:avLst>
          </a:prstGeom>
          <a:solidFill>
            <a:srgbClr val="F1F5F9"/>
          </a:solidFill>
          <a:ln/>
        </p:spPr>
      </p:sp>
      <p:sp>
        <p:nvSpPr>
          <p:cNvPr id="41" name="Shape 39"/>
          <p:cNvSpPr/>
          <p:nvPr/>
        </p:nvSpPr>
        <p:spPr>
          <a:xfrm>
            <a:off x="548640" y="4672584"/>
            <a:ext cx="73152" cy="329184"/>
          </a:xfrm>
          <a:prstGeom prst="rect">
            <a:avLst/>
          </a:prstGeom>
          <a:solidFill>
            <a:srgbClr val="059669"/>
          </a:solidFill>
          <a:ln/>
        </p:spPr>
      </p:sp>
      <p:sp>
        <p:nvSpPr>
          <p:cNvPr id="42" name="Text 40"/>
          <p:cNvSpPr/>
          <p:nvPr/>
        </p:nvSpPr>
        <p:spPr>
          <a:xfrm>
            <a:off x="777240" y="4617720"/>
            <a:ext cx="3840480" cy="438912"/>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Token expiry</a:t>
            </a:r>
            <a:endParaRPr lang="en-US" sz="1200" dirty="0"/>
          </a:p>
        </p:txBody>
      </p:sp>
      <p:sp>
        <p:nvSpPr>
          <p:cNvPr id="43" name="Text 41"/>
          <p:cNvSpPr/>
          <p:nvPr/>
        </p:nvSpPr>
        <p:spPr>
          <a:xfrm>
            <a:off x="4480560" y="4617720"/>
            <a:ext cx="457200" cy="438912"/>
          </a:xfrm>
          <a:prstGeom prst="rect">
            <a:avLst/>
          </a:prstGeom>
          <a:noFill/>
          <a:ln/>
        </p:spPr>
        <p:txBody>
          <a:bodyPr wrap="square" rtlCol="0" anchor="ctr"/>
          <a:lstStyle/>
          <a:p>
            <a:pPr algn="ctr" indent="0" marL="0">
              <a:buNone/>
            </a:pPr>
            <a:r>
              <a:rPr lang="en-US" sz="1600" dirty="0">
                <a:solidFill>
                  <a:srgbClr val="2563EB"/>
                </a:solidFill>
              </a:rPr>
              <a:t>➜</a:t>
            </a:r>
            <a:endParaRPr lang="en-US" sz="1600" dirty="0"/>
          </a:p>
        </p:txBody>
      </p:sp>
      <p:sp>
        <p:nvSpPr>
          <p:cNvPr id="44" name="Shape 42"/>
          <p:cNvSpPr/>
          <p:nvPr/>
        </p:nvSpPr>
        <p:spPr>
          <a:xfrm>
            <a:off x="4846320" y="4617720"/>
            <a:ext cx="6766560" cy="438912"/>
          </a:xfrm>
          <a:prstGeom prst="roundRect">
            <a:avLst>
              <a:gd name="adj" fmla="val 8333"/>
            </a:avLst>
          </a:prstGeom>
          <a:solidFill>
            <a:srgbClr val="F1F5F9"/>
          </a:solidFill>
          <a:ln/>
        </p:spPr>
      </p:sp>
      <p:sp>
        <p:nvSpPr>
          <p:cNvPr id="45" name="Text 43"/>
          <p:cNvSpPr/>
          <p:nvPr/>
        </p:nvSpPr>
        <p:spPr>
          <a:xfrm>
            <a:off x="5029200" y="4617720"/>
            <a:ext cx="6400800" cy="438912"/>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Automatic OAuth token refresh before publishing</a:t>
            </a:r>
            <a:endParaRPr lang="en-US" sz="1100" dirty="0"/>
          </a:p>
        </p:txBody>
      </p:sp>
      <p:sp>
        <p:nvSpPr>
          <p:cNvPr id="46" name="Shape 44"/>
          <p:cNvSpPr/>
          <p:nvPr/>
        </p:nvSpPr>
        <p:spPr>
          <a:xfrm>
            <a:off x="548640" y="5148072"/>
            <a:ext cx="4114800" cy="438912"/>
          </a:xfrm>
          <a:prstGeom prst="roundRect">
            <a:avLst>
              <a:gd name="adj" fmla="val 8333"/>
            </a:avLst>
          </a:prstGeom>
          <a:solidFill>
            <a:srgbClr val="F1F5F9"/>
          </a:solidFill>
          <a:ln/>
        </p:spPr>
      </p:sp>
      <p:sp>
        <p:nvSpPr>
          <p:cNvPr id="47" name="Shape 45"/>
          <p:cNvSpPr/>
          <p:nvPr/>
        </p:nvSpPr>
        <p:spPr>
          <a:xfrm>
            <a:off x="548640" y="5202936"/>
            <a:ext cx="73152" cy="329184"/>
          </a:xfrm>
          <a:prstGeom prst="rect">
            <a:avLst/>
          </a:prstGeom>
          <a:solidFill>
            <a:srgbClr val="0891B2"/>
          </a:solidFill>
          <a:ln/>
        </p:spPr>
      </p:sp>
      <p:sp>
        <p:nvSpPr>
          <p:cNvPr id="48" name="Text 46"/>
          <p:cNvSpPr/>
          <p:nvPr/>
        </p:nvSpPr>
        <p:spPr>
          <a:xfrm>
            <a:off x="777240" y="5148072"/>
            <a:ext cx="3840480" cy="438912"/>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X/Twitter overflow</a:t>
            </a:r>
            <a:endParaRPr lang="en-US" sz="1200" dirty="0"/>
          </a:p>
        </p:txBody>
      </p:sp>
      <p:sp>
        <p:nvSpPr>
          <p:cNvPr id="49" name="Text 47"/>
          <p:cNvSpPr/>
          <p:nvPr/>
        </p:nvSpPr>
        <p:spPr>
          <a:xfrm>
            <a:off x="4480560" y="5148072"/>
            <a:ext cx="457200" cy="438912"/>
          </a:xfrm>
          <a:prstGeom prst="rect">
            <a:avLst/>
          </a:prstGeom>
          <a:noFill/>
          <a:ln/>
        </p:spPr>
        <p:txBody>
          <a:bodyPr wrap="square" rtlCol="0" anchor="ctr"/>
          <a:lstStyle/>
          <a:p>
            <a:pPr algn="ctr" indent="0" marL="0">
              <a:buNone/>
            </a:pPr>
            <a:r>
              <a:rPr lang="en-US" sz="1600" dirty="0">
                <a:solidFill>
                  <a:srgbClr val="2563EB"/>
                </a:solidFill>
              </a:rPr>
              <a:t>➜</a:t>
            </a:r>
            <a:endParaRPr lang="en-US" sz="1600" dirty="0"/>
          </a:p>
        </p:txBody>
      </p:sp>
      <p:sp>
        <p:nvSpPr>
          <p:cNvPr id="50" name="Shape 48"/>
          <p:cNvSpPr/>
          <p:nvPr/>
        </p:nvSpPr>
        <p:spPr>
          <a:xfrm>
            <a:off x="4846320" y="5148072"/>
            <a:ext cx="6766560" cy="438912"/>
          </a:xfrm>
          <a:prstGeom prst="roundRect">
            <a:avLst>
              <a:gd name="adj" fmla="val 8333"/>
            </a:avLst>
          </a:prstGeom>
          <a:solidFill>
            <a:srgbClr val="F1F5F9"/>
          </a:solidFill>
          <a:ln/>
        </p:spPr>
      </p:sp>
      <p:sp>
        <p:nvSpPr>
          <p:cNvPr id="51" name="Text 49"/>
          <p:cNvSpPr/>
          <p:nvPr/>
        </p:nvSpPr>
        <p:spPr>
          <a:xfrm>
            <a:off x="5029200" y="5148072"/>
            <a:ext cx="6400800" cy="438912"/>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Smart truncation at nearest sentence boundary</a:t>
            </a:r>
            <a:endParaRPr lang="en-US" sz="1100" dirty="0"/>
          </a:p>
        </p:txBody>
      </p:sp>
      <p:sp>
        <p:nvSpPr>
          <p:cNvPr id="52" name="Shape 50"/>
          <p:cNvSpPr/>
          <p:nvPr/>
        </p:nvSpPr>
        <p:spPr>
          <a:xfrm>
            <a:off x="548640" y="5678424"/>
            <a:ext cx="4114800" cy="438912"/>
          </a:xfrm>
          <a:prstGeom prst="roundRect">
            <a:avLst>
              <a:gd name="adj" fmla="val 8333"/>
            </a:avLst>
          </a:prstGeom>
          <a:solidFill>
            <a:srgbClr val="F1F5F9"/>
          </a:solidFill>
          <a:ln/>
        </p:spPr>
      </p:sp>
      <p:sp>
        <p:nvSpPr>
          <p:cNvPr id="53" name="Shape 51"/>
          <p:cNvSpPr/>
          <p:nvPr/>
        </p:nvSpPr>
        <p:spPr>
          <a:xfrm>
            <a:off x="548640" y="5733288"/>
            <a:ext cx="73152" cy="329184"/>
          </a:xfrm>
          <a:prstGeom prst="rect">
            <a:avLst/>
          </a:prstGeom>
          <a:solidFill>
            <a:srgbClr val="6D28D9"/>
          </a:solidFill>
          <a:ln/>
        </p:spPr>
      </p:sp>
      <p:sp>
        <p:nvSpPr>
          <p:cNvPr id="54" name="Text 52"/>
          <p:cNvSpPr/>
          <p:nvPr/>
        </p:nvSpPr>
        <p:spPr>
          <a:xfrm>
            <a:off x="777240" y="5678424"/>
            <a:ext cx="3840480" cy="438912"/>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Concurrent access</a:t>
            </a:r>
            <a:endParaRPr lang="en-US" sz="1200" dirty="0"/>
          </a:p>
        </p:txBody>
      </p:sp>
      <p:sp>
        <p:nvSpPr>
          <p:cNvPr id="55" name="Text 53"/>
          <p:cNvSpPr/>
          <p:nvPr/>
        </p:nvSpPr>
        <p:spPr>
          <a:xfrm>
            <a:off x="4480560" y="5678424"/>
            <a:ext cx="457200" cy="438912"/>
          </a:xfrm>
          <a:prstGeom prst="rect">
            <a:avLst/>
          </a:prstGeom>
          <a:noFill/>
          <a:ln/>
        </p:spPr>
        <p:txBody>
          <a:bodyPr wrap="square" rtlCol="0" anchor="ctr"/>
          <a:lstStyle/>
          <a:p>
            <a:pPr algn="ctr" indent="0" marL="0">
              <a:buNone/>
            </a:pPr>
            <a:r>
              <a:rPr lang="en-US" sz="1600" dirty="0">
                <a:solidFill>
                  <a:srgbClr val="2563EB"/>
                </a:solidFill>
              </a:rPr>
              <a:t>➜</a:t>
            </a:r>
            <a:endParaRPr lang="en-US" sz="1600" dirty="0"/>
          </a:p>
        </p:txBody>
      </p:sp>
      <p:sp>
        <p:nvSpPr>
          <p:cNvPr id="56" name="Shape 54"/>
          <p:cNvSpPr/>
          <p:nvPr/>
        </p:nvSpPr>
        <p:spPr>
          <a:xfrm>
            <a:off x="4846320" y="5678424"/>
            <a:ext cx="6766560" cy="438912"/>
          </a:xfrm>
          <a:prstGeom prst="roundRect">
            <a:avLst>
              <a:gd name="adj" fmla="val 8333"/>
            </a:avLst>
          </a:prstGeom>
          <a:solidFill>
            <a:srgbClr val="F1F5F9"/>
          </a:solidFill>
          <a:ln/>
        </p:spPr>
      </p:sp>
      <p:sp>
        <p:nvSpPr>
          <p:cNvPr id="57" name="Text 55"/>
          <p:cNvSpPr/>
          <p:nvPr/>
        </p:nvSpPr>
        <p:spPr>
          <a:xfrm>
            <a:off x="5029200" y="5678424"/>
            <a:ext cx="6400800" cy="438912"/>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Optimistic locking prevents race conditions</a:t>
            </a:r>
            <a:endParaRPr lang="en-US" sz="1100" dirty="0"/>
          </a:p>
        </p:txBody>
      </p:sp>
      <p:sp>
        <p:nvSpPr>
          <p:cNvPr id="58" name="Text 56"/>
          <p:cNvSpPr/>
          <p:nvPr/>
        </p:nvSpPr>
        <p:spPr>
          <a:xfrm>
            <a:off x="548640" y="5852160"/>
            <a:ext cx="10972800" cy="274320"/>
          </a:xfrm>
          <a:prstGeom prst="rect">
            <a:avLst/>
          </a:prstGeom>
          <a:noFill/>
          <a:ln/>
        </p:spPr>
        <p:txBody>
          <a:bodyPr wrap="square"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Dedicated error-trigger workflow captures and logs all failures gracefully</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1E3A5F"/>
          </a:solidFill>
          <a:ln/>
        </p:spPr>
      </p:sp>
      <p:sp>
        <p:nvSpPr>
          <p:cNvPr id="3" name="Text 1"/>
          <p:cNvSpPr/>
          <p:nvPr/>
        </p:nvSpPr>
        <p:spPr>
          <a:xfrm>
            <a:off x="548640" y="182880"/>
            <a:ext cx="10972800" cy="6400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Pressure Testing Results</a:t>
            </a:r>
            <a:endParaRPr lang="en-US" sz="2800" dirty="0"/>
          </a:p>
        </p:txBody>
      </p:sp>
      <p:sp>
        <p:nvSpPr>
          <p:cNvPr id="4" name="Shape 2"/>
          <p:cNvSpPr/>
          <p:nvPr/>
        </p:nvSpPr>
        <p:spPr>
          <a:xfrm>
            <a:off x="0" y="1005840"/>
            <a:ext cx="12192000" cy="54864"/>
          </a:xfrm>
          <a:prstGeom prst="rect">
            <a:avLst/>
          </a:prstGeom>
          <a:solidFill>
            <a:srgbClr val="2563EB"/>
          </a:solidFill>
          <a:ln/>
        </p:spPr>
      </p:sp>
      <p:sp>
        <p:nvSpPr>
          <p:cNvPr id="5" name="Text 3"/>
          <p:cNvSpPr/>
          <p:nvPr/>
        </p:nvSpPr>
        <p:spPr>
          <a:xfrm>
            <a:off x="548640" y="6309360"/>
            <a:ext cx="10972800" cy="36576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Ayodele Oluwafimidaraayo</a:t>
            </a:r>
            <a:pPr indent="0" marL="0">
              <a:buNone/>
            </a:pPr>
            <a:r>
              <a:rPr lang="en-US" sz="1000" dirty="0">
                <a:solidFill>
                  <a:srgbClr val="64748B"/>
                </a:solidFill>
                <a:latin typeface="Calibri" pitchFamily="34" charset="0"/>
                <a:ea typeface="Calibri" pitchFamily="34" charset="-122"/>
                <a:cs typeface="Calibri" pitchFamily="34" charset="-120"/>
              </a:rPr>
              <a:t>   |   Slide 12 of 17</a:t>
            </a:r>
            <a:endParaRPr lang="en-US" sz="1000" dirty="0"/>
          </a:p>
        </p:txBody>
      </p:sp>
      <p:sp>
        <p:nvSpPr>
          <p:cNvPr id="6" name="Shape 4"/>
          <p:cNvSpPr/>
          <p:nvPr/>
        </p:nvSpPr>
        <p:spPr>
          <a:xfrm>
            <a:off x="548640" y="1463040"/>
            <a:ext cx="2743200" cy="548640"/>
          </a:xfrm>
          <a:prstGeom prst="roundRect">
            <a:avLst>
              <a:gd name="adj" fmla="val 10000"/>
            </a:avLst>
          </a:prstGeom>
          <a:solidFill>
            <a:srgbClr val="1E3A5F"/>
          </a:solidFill>
          <a:ln/>
        </p:spPr>
      </p:sp>
      <p:sp>
        <p:nvSpPr>
          <p:cNvPr id="7" name="Text 5"/>
          <p:cNvSpPr/>
          <p:nvPr/>
        </p:nvSpPr>
        <p:spPr>
          <a:xfrm>
            <a:off x="548640" y="1463040"/>
            <a:ext cx="2743200" cy="54864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Test Scenario</a:t>
            </a:r>
            <a:endParaRPr lang="en-US" sz="1500" dirty="0"/>
          </a:p>
        </p:txBody>
      </p:sp>
      <p:sp>
        <p:nvSpPr>
          <p:cNvPr id="8" name="Shape 6"/>
          <p:cNvSpPr/>
          <p:nvPr/>
        </p:nvSpPr>
        <p:spPr>
          <a:xfrm>
            <a:off x="3383280" y="1463040"/>
            <a:ext cx="3657600" cy="548640"/>
          </a:xfrm>
          <a:prstGeom prst="roundRect">
            <a:avLst>
              <a:gd name="adj" fmla="val 10000"/>
            </a:avLst>
          </a:prstGeom>
          <a:solidFill>
            <a:srgbClr val="1E3A5F"/>
          </a:solidFill>
          <a:ln/>
        </p:spPr>
      </p:sp>
      <p:sp>
        <p:nvSpPr>
          <p:cNvPr id="9" name="Text 7"/>
          <p:cNvSpPr/>
          <p:nvPr/>
        </p:nvSpPr>
        <p:spPr>
          <a:xfrm>
            <a:off x="3383280" y="1463040"/>
            <a:ext cx="3657600" cy="54864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Details</a:t>
            </a:r>
            <a:endParaRPr lang="en-US" sz="1500" dirty="0"/>
          </a:p>
        </p:txBody>
      </p:sp>
      <p:sp>
        <p:nvSpPr>
          <p:cNvPr id="10" name="Shape 8"/>
          <p:cNvSpPr/>
          <p:nvPr/>
        </p:nvSpPr>
        <p:spPr>
          <a:xfrm>
            <a:off x="7132320" y="1463040"/>
            <a:ext cx="4114800" cy="548640"/>
          </a:xfrm>
          <a:prstGeom prst="roundRect">
            <a:avLst>
              <a:gd name="adj" fmla="val 10000"/>
            </a:avLst>
          </a:prstGeom>
          <a:solidFill>
            <a:srgbClr val="1E3A5F"/>
          </a:solidFill>
          <a:ln/>
        </p:spPr>
      </p:sp>
      <p:sp>
        <p:nvSpPr>
          <p:cNvPr id="11" name="Text 9"/>
          <p:cNvSpPr/>
          <p:nvPr/>
        </p:nvSpPr>
        <p:spPr>
          <a:xfrm>
            <a:off x="7132320" y="1463040"/>
            <a:ext cx="4114800" cy="54864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Result</a:t>
            </a:r>
            <a:endParaRPr lang="en-US" sz="1500" dirty="0"/>
          </a:p>
        </p:txBody>
      </p:sp>
      <p:sp>
        <p:nvSpPr>
          <p:cNvPr id="12" name="Shape 10"/>
          <p:cNvSpPr/>
          <p:nvPr/>
        </p:nvSpPr>
        <p:spPr>
          <a:xfrm>
            <a:off x="548640" y="2194560"/>
            <a:ext cx="2743200" cy="548640"/>
          </a:xfrm>
          <a:prstGeom prst="roundRect">
            <a:avLst>
              <a:gd name="adj" fmla="val 6667"/>
            </a:avLst>
          </a:prstGeom>
          <a:solidFill>
            <a:srgbClr val="F1F5F9"/>
          </a:solidFill>
          <a:ln w="6350">
            <a:solidFill>
              <a:srgbClr val="CBD5E1"/>
            </a:solidFill>
            <a:prstDash val="solid"/>
          </a:ln>
        </p:spPr>
      </p:sp>
      <p:sp>
        <p:nvSpPr>
          <p:cNvPr id="13" name="Text 11"/>
          <p:cNvSpPr/>
          <p:nvPr/>
        </p:nvSpPr>
        <p:spPr>
          <a:xfrm>
            <a:off x="731520" y="2194560"/>
            <a:ext cx="2377440" cy="548640"/>
          </a:xfrm>
          <a:prstGeom prst="rect">
            <a:avLst/>
          </a:prstGeom>
          <a:noFill/>
          <a:ln/>
        </p:spPr>
        <p:txBody>
          <a:bodyPr wrap="square"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Burst Load</a:t>
            </a:r>
            <a:endParaRPr lang="en-US" sz="1400" dirty="0"/>
          </a:p>
        </p:txBody>
      </p:sp>
      <p:sp>
        <p:nvSpPr>
          <p:cNvPr id="14" name="Shape 12"/>
          <p:cNvSpPr/>
          <p:nvPr/>
        </p:nvSpPr>
        <p:spPr>
          <a:xfrm>
            <a:off x="3383280" y="2194560"/>
            <a:ext cx="3657600" cy="548640"/>
          </a:xfrm>
          <a:prstGeom prst="roundRect">
            <a:avLst>
              <a:gd name="adj" fmla="val 6667"/>
            </a:avLst>
          </a:prstGeom>
          <a:solidFill>
            <a:srgbClr val="F1F5F9"/>
          </a:solidFill>
          <a:ln w="6350">
            <a:solidFill>
              <a:srgbClr val="CBD5E1"/>
            </a:solidFill>
            <a:prstDash val="solid"/>
          </a:ln>
        </p:spPr>
      </p:sp>
      <p:sp>
        <p:nvSpPr>
          <p:cNvPr id="15" name="Text 13"/>
          <p:cNvSpPr/>
          <p:nvPr/>
        </p:nvSpPr>
        <p:spPr>
          <a:xfrm>
            <a:off x="3566160" y="2194560"/>
            <a:ext cx="3291840" cy="548640"/>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20 concurrent submissions</a:t>
            </a:r>
            <a:endParaRPr lang="en-US" sz="1300" dirty="0"/>
          </a:p>
        </p:txBody>
      </p:sp>
      <p:sp>
        <p:nvSpPr>
          <p:cNvPr id="16" name="Shape 14"/>
          <p:cNvSpPr/>
          <p:nvPr/>
        </p:nvSpPr>
        <p:spPr>
          <a:xfrm>
            <a:off x="7132320" y="2194560"/>
            <a:ext cx="4114800" cy="548640"/>
          </a:xfrm>
          <a:prstGeom prst="roundRect">
            <a:avLst>
              <a:gd name="adj" fmla="val 6667"/>
            </a:avLst>
          </a:prstGeom>
          <a:solidFill>
            <a:srgbClr val="F1F5F9"/>
          </a:solidFill>
          <a:ln w="6350">
            <a:solidFill>
              <a:srgbClr val="CBD5E1"/>
            </a:solidFill>
            <a:prstDash val="solid"/>
          </a:ln>
        </p:spPr>
      </p:sp>
      <p:sp>
        <p:nvSpPr>
          <p:cNvPr id="17" name="Text 15"/>
          <p:cNvSpPr/>
          <p:nvPr/>
        </p:nvSpPr>
        <p:spPr>
          <a:xfrm>
            <a:off x="7315200" y="2194560"/>
            <a:ext cx="3749040" cy="548640"/>
          </a:xfrm>
          <a:prstGeom prst="rect">
            <a:avLst/>
          </a:prstGeom>
          <a:noFill/>
          <a:ln/>
        </p:spPr>
        <p:txBody>
          <a:bodyPr wrap="square" rtlCol="0" anchor="ctr"/>
          <a:lstStyle/>
          <a:p>
            <a:pPr algn="ctr" indent="0" marL="0">
              <a:buNone/>
            </a:pPr>
            <a:r>
              <a:rPr lang="en-US" sz="1400" b="1" dirty="0">
                <a:solidFill>
                  <a:srgbClr val="16A34A"/>
                </a:solidFill>
                <a:latin typeface="Calibri" pitchFamily="34" charset="0"/>
                <a:ea typeface="Calibri" pitchFamily="34" charset="-122"/>
                <a:cs typeface="Calibri" pitchFamily="34" charset="-120"/>
              </a:rPr>
              <a:t>90% success</a:t>
            </a:r>
            <a:endParaRPr lang="en-US" sz="1400" dirty="0"/>
          </a:p>
        </p:txBody>
      </p:sp>
      <p:sp>
        <p:nvSpPr>
          <p:cNvPr id="18" name="Shape 16"/>
          <p:cNvSpPr/>
          <p:nvPr/>
        </p:nvSpPr>
        <p:spPr>
          <a:xfrm>
            <a:off x="548640" y="2880360"/>
            <a:ext cx="2743200" cy="548640"/>
          </a:xfrm>
          <a:prstGeom prst="roundRect">
            <a:avLst>
              <a:gd name="adj" fmla="val 6667"/>
            </a:avLst>
          </a:prstGeom>
          <a:solidFill>
            <a:srgbClr val="FFFFFF"/>
          </a:solidFill>
          <a:ln w="6350">
            <a:solidFill>
              <a:srgbClr val="CBD5E1"/>
            </a:solidFill>
            <a:prstDash val="solid"/>
          </a:ln>
        </p:spPr>
      </p:sp>
      <p:sp>
        <p:nvSpPr>
          <p:cNvPr id="19" name="Text 17"/>
          <p:cNvSpPr/>
          <p:nvPr/>
        </p:nvSpPr>
        <p:spPr>
          <a:xfrm>
            <a:off x="731520" y="2880360"/>
            <a:ext cx="2377440" cy="548640"/>
          </a:xfrm>
          <a:prstGeom prst="rect">
            <a:avLst/>
          </a:prstGeom>
          <a:noFill/>
          <a:ln/>
        </p:spPr>
        <p:txBody>
          <a:bodyPr wrap="square"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Sustained Load</a:t>
            </a:r>
            <a:endParaRPr lang="en-US" sz="1400" dirty="0"/>
          </a:p>
        </p:txBody>
      </p:sp>
      <p:sp>
        <p:nvSpPr>
          <p:cNvPr id="20" name="Shape 18"/>
          <p:cNvSpPr/>
          <p:nvPr/>
        </p:nvSpPr>
        <p:spPr>
          <a:xfrm>
            <a:off x="3383280" y="2880360"/>
            <a:ext cx="3657600" cy="548640"/>
          </a:xfrm>
          <a:prstGeom prst="roundRect">
            <a:avLst>
              <a:gd name="adj" fmla="val 6667"/>
            </a:avLst>
          </a:prstGeom>
          <a:solidFill>
            <a:srgbClr val="FFFFFF"/>
          </a:solidFill>
          <a:ln w="6350">
            <a:solidFill>
              <a:srgbClr val="CBD5E1"/>
            </a:solidFill>
            <a:prstDash val="solid"/>
          </a:ln>
        </p:spPr>
      </p:sp>
      <p:sp>
        <p:nvSpPr>
          <p:cNvPr id="21" name="Text 19"/>
          <p:cNvSpPr/>
          <p:nvPr/>
        </p:nvSpPr>
        <p:spPr>
          <a:xfrm>
            <a:off x="3566160" y="2880360"/>
            <a:ext cx="3291840" cy="548640"/>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100 over 60 seconds</a:t>
            </a:r>
            <a:endParaRPr lang="en-US" sz="1300" dirty="0"/>
          </a:p>
        </p:txBody>
      </p:sp>
      <p:sp>
        <p:nvSpPr>
          <p:cNvPr id="22" name="Shape 20"/>
          <p:cNvSpPr/>
          <p:nvPr/>
        </p:nvSpPr>
        <p:spPr>
          <a:xfrm>
            <a:off x="7132320" y="2880360"/>
            <a:ext cx="4114800" cy="548640"/>
          </a:xfrm>
          <a:prstGeom prst="roundRect">
            <a:avLst>
              <a:gd name="adj" fmla="val 6667"/>
            </a:avLst>
          </a:prstGeom>
          <a:solidFill>
            <a:srgbClr val="FFFFFF"/>
          </a:solidFill>
          <a:ln w="6350">
            <a:solidFill>
              <a:srgbClr val="CBD5E1"/>
            </a:solidFill>
            <a:prstDash val="solid"/>
          </a:ln>
        </p:spPr>
      </p:sp>
      <p:sp>
        <p:nvSpPr>
          <p:cNvPr id="23" name="Text 21"/>
          <p:cNvSpPr/>
          <p:nvPr/>
        </p:nvSpPr>
        <p:spPr>
          <a:xfrm>
            <a:off x="7315200" y="2880360"/>
            <a:ext cx="3749040" cy="548640"/>
          </a:xfrm>
          <a:prstGeom prst="rect">
            <a:avLst/>
          </a:prstGeom>
          <a:noFill/>
          <a:ln/>
        </p:spPr>
        <p:txBody>
          <a:bodyPr wrap="square" rtlCol="0" anchor="ctr"/>
          <a:lstStyle/>
          <a:p>
            <a:pPr algn="ctr" indent="0" marL="0">
              <a:buNone/>
            </a:pPr>
            <a:r>
              <a:rPr lang="en-US" sz="1400" b="1" dirty="0">
                <a:solidFill>
                  <a:srgbClr val="16A34A"/>
                </a:solidFill>
                <a:latin typeface="Calibri" pitchFamily="34" charset="0"/>
                <a:ea typeface="Calibri" pitchFamily="34" charset="-122"/>
                <a:cs typeface="Calibri" pitchFamily="34" charset="-120"/>
              </a:rPr>
              <a:t>93% success</a:t>
            </a:r>
            <a:endParaRPr lang="en-US" sz="1400" dirty="0"/>
          </a:p>
        </p:txBody>
      </p:sp>
      <p:sp>
        <p:nvSpPr>
          <p:cNvPr id="24" name="Shape 22"/>
          <p:cNvSpPr/>
          <p:nvPr/>
        </p:nvSpPr>
        <p:spPr>
          <a:xfrm>
            <a:off x="548640" y="3566160"/>
            <a:ext cx="2743200" cy="548640"/>
          </a:xfrm>
          <a:prstGeom prst="roundRect">
            <a:avLst>
              <a:gd name="adj" fmla="val 6667"/>
            </a:avLst>
          </a:prstGeom>
          <a:solidFill>
            <a:srgbClr val="F1F5F9"/>
          </a:solidFill>
          <a:ln w="6350">
            <a:solidFill>
              <a:srgbClr val="CBD5E1"/>
            </a:solidFill>
            <a:prstDash val="solid"/>
          </a:ln>
        </p:spPr>
      </p:sp>
      <p:sp>
        <p:nvSpPr>
          <p:cNvPr id="25" name="Text 23"/>
          <p:cNvSpPr/>
          <p:nvPr/>
        </p:nvSpPr>
        <p:spPr>
          <a:xfrm>
            <a:off x="731520" y="3566160"/>
            <a:ext cx="2377440" cy="548640"/>
          </a:xfrm>
          <a:prstGeom prst="rect">
            <a:avLst/>
          </a:prstGeom>
          <a:noFill/>
          <a:ln/>
        </p:spPr>
        <p:txBody>
          <a:bodyPr wrap="square"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Poison Payloads</a:t>
            </a:r>
            <a:endParaRPr lang="en-US" sz="1400" dirty="0"/>
          </a:p>
        </p:txBody>
      </p:sp>
      <p:sp>
        <p:nvSpPr>
          <p:cNvPr id="26" name="Shape 24"/>
          <p:cNvSpPr/>
          <p:nvPr/>
        </p:nvSpPr>
        <p:spPr>
          <a:xfrm>
            <a:off x="3383280" y="3566160"/>
            <a:ext cx="3657600" cy="548640"/>
          </a:xfrm>
          <a:prstGeom prst="roundRect">
            <a:avLst>
              <a:gd name="adj" fmla="val 6667"/>
            </a:avLst>
          </a:prstGeom>
          <a:solidFill>
            <a:srgbClr val="F1F5F9"/>
          </a:solidFill>
          <a:ln w="6350">
            <a:solidFill>
              <a:srgbClr val="CBD5E1"/>
            </a:solidFill>
            <a:prstDash val="solid"/>
          </a:ln>
        </p:spPr>
      </p:sp>
      <p:sp>
        <p:nvSpPr>
          <p:cNvPr id="27" name="Text 25"/>
          <p:cNvSpPr/>
          <p:nvPr/>
        </p:nvSpPr>
        <p:spPr>
          <a:xfrm>
            <a:off x="3566160" y="3566160"/>
            <a:ext cx="3291840" cy="548640"/>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15 adversarial inputs</a:t>
            </a:r>
            <a:endParaRPr lang="en-US" sz="1300" dirty="0"/>
          </a:p>
        </p:txBody>
      </p:sp>
      <p:sp>
        <p:nvSpPr>
          <p:cNvPr id="28" name="Shape 26"/>
          <p:cNvSpPr/>
          <p:nvPr/>
        </p:nvSpPr>
        <p:spPr>
          <a:xfrm>
            <a:off x="7132320" y="3566160"/>
            <a:ext cx="4114800" cy="548640"/>
          </a:xfrm>
          <a:prstGeom prst="roundRect">
            <a:avLst>
              <a:gd name="adj" fmla="val 6667"/>
            </a:avLst>
          </a:prstGeom>
          <a:solidFill>
            <a:srgbClr val="F1F5F9"/>
          </a:solidFill>
          <a:ln w="6350">
            <a:solidFill>
              <a:srgbClr val="CBD5E1"/>
            </a:solidFill>
            <a:prstDash val="solid"/>
          </a:ln>
        </p:spPr>
      </p:sp>
      <p:sp>
        <p:nvSpPr>
          <p:cNvPr id="29" name="Text 27"/>
          <p:cNvSpPr/>
          <p:nvPr/>
        </p:nvSpPr>
        <p:spPr>
          <a:xfrm>
            <a:off x="7315200" y="3566160"/>
            <a:ext cx="3749040" cy="548640"/>
          </a:xfrm>
          <a:prstGeom prst="rect">
            <a:avLst/>
          </a:prstGeom>
          <a:noFill/>
          <a:ln/>
        </p:spPr>
        <p:txBody>
          <a:bodyPr wrap="square" rtlCol="0" anchor="ctr"/>
          <a:lstStyle/>
          <a:p>
            <a:pPr algn="ctr" indent="0" marL="0">
              <a:buNone/>
            </a:pPr>
            <a:r>
              <a:rPr lang="en-US" sz="1400" b="1" dirty="0">
                <a:solidFill>
                  <a:srgbClr val="16A34A"/>
                </a:solidFill>
                <a:latin typeface="Calibri" pitchFamily="34" charset="0"/>
                <a:ea typeface="Calibri" pitchFamily="34" charset="-122"/>
                <a:cs typeface="Calibri" pitchFamily="34" charset="-120"/>
              </a:rPr>
              <a:t>100% handled</a:t>
            </a:r>
            <a:endParaRPr lang="en-US" sz="1400" dirty="0"/>
          </a:p>
        </p:txBody>
      </p:sp>
      <p:sp>
        <p:nvSpPr>
          <p:cNvPr id="30" name="Shape 28"/>
          <p:cNvSpPr/>
          <p:nvPr/>
        </p:nvSpPr>
        <p:spPr>
          <a:xfrm>
            <a:off x="548640" y="4251960"/>
            <a:ext cx="2743200" cy="548640"/>
          </a:xfrm>
          <a:prstGeom prst="roundRect">
            <a:avLst>
              <a:gd name="adj" fmla="val 6667"/>
            </a:avLst>
          </a:prstGeom>
          <a:solidFill>
            <a:srgbClr val="FFFFFF"/>
          </a:solidFill>
          <a:ln w="6350">
            <a:solidFill>
              <a:srgbClr val="CBD5E1"/>
            </a:solidFill>
            <a:prstDash val="solid"/>
          </a:ln>
        </p:spPr>
      </p:sp>
      <p:sp>
        <p:nvSpPr>
          <p:cNvPr id="31" name="Text 29"/>
          <p:cNvSpPr/>
          <p:nvPr/>
        </p:nvSpPr>
        <p:spPr>
          <a:xfrm>
            <a:off x="731520" y="4251960"/>
            <a:ext cx="2377440" cy="548640"/>
          </a:xfrm>
          <a:prstGeom prst="rect">
            <a:avLst/>
          </a:prstGeom>
          <a:noFill/>
          <a:ln/>
        </p:spPr>
        <p:txBody>
          <a:bodyPr wrap="square"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Cascading Failure</a:t>
            </a:r>
            <a:endParaRPr lang="en-US" sz="1400" dirty="0"/>
          </a:p>
        </p:txBody>
      </p:sp>
      <p:sp>
        <p:nvSpPr>
          <p:cNvPr id="32" name="Shape 30"/>
          <p:cNvSpPr/>
          <p:nvPr/>
        </p:nvSpPr>
        <p:spPr>
          <a:xfrm>
            <a:off x="3383280" y="4251960"/>
            <a:ext cx="3657600" cy="548640"/>
          </a:xfrm>
          <a:prstGeom prst="roundRect">
            <a:avLst>
              <a:gd name="adj" fmla="val 6667"/>
            </a:avLst>
          </a:prstGeom>
          <a:solidFill>
            <a:srgbClr val="FFFFFF"/>
          </a:solidFill>
          <a:ln w="6350">
            <a:solidFill>
              <a:srgbClr val="CBD5E1"/>
            </a:solidFill>
            <a:prstDash val="solid"/>
          </a:ln>
        </p:spPr>
      </p:sp>
      <p:sp>
        <p:nvSpPr>
          <p:cNvPr id="33" name="Text 31"/>
          <p:cNvSpPr/>
          <p:nvPr/>
        </p:nvSpPr>
        <p:spPr>
          <a:xfrm>
            <a:off x="3566160" y="4251960"/>
            <a:ext cx="3291840" cy="548640"/>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Platform API outage</a:t>
            </a:r>
            <a:endParaRPr lang="en-US" sz="1300" dirty="0"/>
          </a:p>
        </p:txBody>
      </p:sp>
      <p:sp>
        <p:nvSpPr>
          <p:cNvPr id="34" name="Shape 32"/>
          <p:cNvSpPr/>
          <p:nvPr/>
        </p:nvSpPr>
        <p:spPr>
          <a:xfrm>
            <a:off x="7132320" y="4251960"/>
            <a:ext cx="4114800" cy="548640"/>
          </a:xfrm>
          <a:prstGeom prst="roundRect">
            <a:avLst>
              <a:gd name="adj" fmla="val 6667"/>
            </a:avLst>
          </a:prstGeom>
          <a:solidFill>
            <a:srgbClr val="FFFFFF"/>
          </a:solidFill>
          <a:ln w="6350">
            <a:solidFill>
              <a:srgbClr val="CBD5E1"/>
            </a:solidFill>
            <a:prstDash val="solid"/>
          </a:ln>
        </p:spPr>
      </p:sp>
      <p:sp>
        <p:nvSpPr>
          <p:cNvPr id="35" name="Text 33"/>
          <p:cNvSpPr/>
          <p:nvPr/>
        </p:nvSpPr>
        <p:spPr>
          <a:xfrm>
            <a:off x="7315200" y="4251960"/>
            <a:ext cx="3749040" cy="548640"/>
          </a:xfrm>
          <a:prstGeom prst="rect">
            <a:avLst/>
          </a:prstGeom>
          <a:noFill/>
          <a:ln/>
        </p:spPr>
        <p:txBody>
          <a:bodyPr wrap="square" rtlCol="0" anchor="ctr"/>
          <a:lstStyle/>
          <a:p>
            <a:pPr algn="ctr" indent="0" marL="0">
              <a:buNone/>
            </a:pPr>
            <a:r>
              <a:rPr lang="en-US" sz="1400" b="1" dirty="0">
                <a:solidFill>
                  <a:srgbClr val="CA8A04"/>
                </a:solidFill>
                <a:latin typeface="Calibri" pitchFamily="34" charset="0"/>
                <a:ea typeface="Calibri" pitchFamily="34" charset="-122"/>
                <a:cs typeface="Calibri" pitchFamily="34" charset="-120"/>
              </a:rPr>
              <a:t>Partial success preserved</a:t>
            </a:r>
            <a:endParaRPr lang="en-US" sz="1400" dirty="0"/>
          </a:p>
        </p:txBody>
      </p:sp>
      <p:sp>
        <p:nvSpPr>
          <p:cNvPr id="36" name="Shape 34"/>
          <p:cNvSpPr/>
          <p:nvPr/>
        </p:nvSpPr>
        <p:spPr>
          <a:xfrm>
            <a:off x="548640" y="4937760"/>
            <a:ext cx="2743200" cy="548640"/>
          </a:xfrm>
          <a:prstGeom prst="roundRect">
            <a:avLst>
              <a:gd name="adj" fmla="val 6667"/>
            </a:avLst>
          </a:prstGeom>
          <a:solidFill>
            <a:srgbClr val="F1F5F9"/>
          </a:solidFill>
          <a:ln w="6350">
            <a:solidFill>
              <a:srgbClr val="CBD5E1"/>
            </a:solidFill>
            <a:prstDash val="solid"/>
          </a:ln>
        </p:spPr>
      </p:sp>
      <p:sp>
        <p:nvSpPr>
          <p:cNvPr id="37" name="Text 35"/>
          <p:cNvSpPr/>
          <p:nvPr/>
        </p:nvSpPr>
        <p:spPr>
          <a:xfrm>
            <a:off x="731520" y="4937760"/>
            <a:ext cx="2377440" cy="548640"/>
          </a:xfrm>
          <a:prstGeom prst="rect">
            <a:avLst/>
          </a:prstGeom>
          <a:noFill/>
          <a:ln/>
        </p:spPr>
        <p:txBody>
          <a:bodyPr wrap="square"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Data Integrity</a:t>
            </a:r>
            <a:endParaRPr lang="en-US" sz="1400" dirty="0"/>
          </a:p>
        </p:txBody>
      </p:sp>
      <p:sp>
        <p:nvSpPr>
          <p:cNvPr id="38" name="Shape 36"/>
          <p:cNvSpPr/>
          <p:nvPr/>
        </p:nvSpPr>
        <p:spPr>
          <a:xfrm>
            <a:off x="3383280" y="4937760"/>
            <a:ext cx="3657600" cy="548640"/>
          </a:xfrm>
          <a:prstGeom prst="roundRect">
            <a:avLst>
              <a:gd name="adj" fmla="val 6667"/>
            </a:avLst>
          </a:prstGeom>
          <a:solidFill>
            <a:srgbClr val="F1F5F9"/>
          </a:solidFill>
          <a:ln w="6350">
            <a:solidFill>
              <a:srgbClr val="CBD5E1"/>
            </a:solidFill>
            <a:prstDash val="solid"/>
          </a:ln>
        </p:spPr>
      </p:sp>
      <p:sp>
        <p:nvSpPr>
          <p:cNvPr id="39" name="Text 37"/>
          <p:cNvSpPr/>
          <p:nvPr/>
        </p:nvSpPr>
        <p:spPr>
          <a:xfrm>
            <a:off x="3566160" y="4937760"/>
            <a:ext cx="3291840" cy="548640"/>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All scenarios combined</a:t>
            </a:r>
            <a:endParaRPr lang="en-US" sz="1300" dirty="0"/>
          </a:p>
        </p:txBody>
      </p:sp>
      <p:sp>
        <p:nvSpPr>
          <p:cNvPr id="40" name="Shape 38"/>
          <p:cNvSpPr/>
          <p:nvPr/>
        </p:nvSpPr>
        <p:spPr>
          <a:xfrm>
            <a:off x="7132320" y="4937760"/>
            <a:ext cx="4114800" cy="548640"/>
          </a:xfrm>
          <a:prstGeom prst="roundRect">
            <a:avLst>
              <a:gd name="adj" fmla="val 6667"/>
            </a:avLst>
          </a:prstGeom>
          <a:solidFill>
            <a:srgbClr val="F1F5F9"/>
          </a:solidFill>
          <a:ln w="6350">
            <a:solidFill>
              <a:srgbClr val="CBD5E1"/>
            </a:solidFill>
            <a:prstDash val="solid"/>
          </a:ln>
        </p:spPr>
      </p:sp>
      <p:sp>
        <p:nvSpPr>
          <p:cNvPr id="41" name="Text 39"/>
          <p:cNvSpPr/>
          <p:nvPr/>
        </p:nvSpPr>
        <p:spPr>
          <a:xfrm>
            <a:off x="7315200" y="4937760"/>
            <a:ext cx="3749040" cy="548640"/>
          </a:xfrm>
          <a:prstGeom prst="rect">
            <a:avLst/>
          </a:prstGeom>
          <a:noFill/>
          <a:ln/>
        </p:spPr>
        <p:txBody>
          <a:bodyPr wrap="square" rtlCol="0" anchor="ctr"/>
          <a:lstStyle/>
          <a:p>
            <a:pPr algn="ctr" indent="0" marL="0">
              <a:buNone/>
            </a:pPr>
            <a:r>
              <a:rPr lang="en-US" sz="1400" b="1" dirty="0">
                <a:solidFill>
                  <a:srgbClr val="16A34A"/>
                </a:solidFill>
                <a:latin typeface="Calibri" pitchFamily="34" charset="0"/>
                <a:ea typeface="Calibri" pitchFamily="34" charset="-122"/>
                <a:cs typeface="Calibri" pitchFamily="34" charset="-120"/>
              </a:rPr>
              <a:t>No corruption</a:t>
            </a:r>
            <a:endParaRPr lang="en-US" sz="1400" dirty="0"/>
          </a:p>
        </p:txBody>
      </p:sp>
      <p:sp>
        <p:nvSpPr>
          <p:cNvPr id="42" name="Shape 40"/>
          <p:cNvSpPr/>
          <p:nvPr/>
        </p:nvSpPr>
        <p:spPr>
          <a:xfrm>
            <a:off x="1371600" y="5577840"/>
            <a:ext cx="9418320" cy="457200"/>
          </a:xfrm>
          <a:prstGeom prst="roundRect">
            <a:avLst>
              <a:gd name="adj" fmla="val 20000"/>
            </a:avLst>
          </a:prstGeom>
          <a:solidFill>
            <a:srgbClr val="2563EB"/>
          </a:solidFill>
          <a:ln/>
        </p:spPr>
      </p:sp>
      <p:sp>
        <p:nvSpPr>
          <p:cNvPr id="43" name="Text 41"/>
          <p:cNvSpPr/>
          <p:nvPr/>
        </p:nvSpPr>
        <p:spPr>
          <a:xfrm>
            <a:off x="1371600" y="5577840"/>
            <a:ext cx="941832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27 test cases passing  |  System degrades gracefully  |  Zero data corruption</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1E3A5F"/>
          </a:solidFill>
          <a:ln/>
        </p:spPr>
      </p:sp>
      <p:sp>
        <p:nvSpPr>
          <p:cNvPr id="3" name="Text 1"/>
          <p:cNvSpPr/>
          <p:nvPr/>
        </p:nvSpPr>
        <p:spPr>
          <a:xfrm>
            <a:off x="548640" y="182880"/>
            <a:ext cx="10972800" cy="6400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Tech Stack</a:t>
            </a:r>
            <a:endParaRPr lang="en-US" sz="2800" dirty="0"/>
          </a:p>
        </p:txBody>
      </p:sp>
      <p:sp>
        <p:nvSpPr>
          <p:cNvPr id="4" name="Shape 2"/>
          <p:cNvSpPr/>
          <p:nvPr/>
        </p:nvSpPr>
        <p:spPr>
          <a:xfrm>
            <a:off x="0" y="1005840"/>
            <a:ext cx="12192000" cy="54864"/>
          </a:xfrm>
          <a:prstGeom prst="rect">
            <a:avLst/>
          </a:prstGeom>
          <a:solidFill>
            <a:srgbClr val="2563EB"/>
          </a:solidFill>
          <a:ln/>
        </p:spPr>
      </p:sp>
      <p:sp>
        <p:nvSpPr>
          <p:cNvPr id="5" name="Text 3"/>
          <p:cNvSpPr/>
          <p:nvPr/>
        </p:nvSpPr>
        <p:spPr>
          <a:xfrm>
            <a:off x="548640" y="6309360"/>
            <a:ext cx="10972800" cy="36576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Ayodele Oluwafimidaraayo</a:t>
            </a:r>
            <a:pPr indent="0" marL="0">
              <a:buNone/>
            </a:pPr>
            <a:r>
              <a:rPr lang="en-US" sz="1000" dirty="0">
                <a:solidFill>
                  <a:srgbClr val="64748B"/>
                </a:solidFill>
                <a:latin typeface="Calibri" pitchFamily="34" charset="0"/>
                <a:ea typeface="Calibri" pitchFamily="34" charset="-122"/>
                <a:cs typeface="Calibri" pitchFamily="34" charset="-120"/>
              </a:rPr>
              <a:t>   |   Slide 13 of 17</a:t>
            </a:r>
            <a:endParaRPr lang="en-US" sz="1000" dirty="0"/>
          </a:p>
        </p:txBody>
      </p:sp>
      <p:sp>
        <p:nvSpPr>
          <p:cNvPr id="6" name="Shape 4"/>
          <p:cNvSpPr/>
          <p:nvPr/>
        </p:nvSpPr>
        <p:spPr>
          <a:xfrm>
            <a:off x="731520" y="1417320"/>
            <a:ext cx="2286000" cy="594360"/>
          </a:xfrm>
          <a:prstGeom prst="roundRect">
            <a:avLst>
              <a:gd name="adj" fmla="val 12308"/>
            </a:avLst>
          </a:prstGeom>
          <a:solidFill>
            <a:srgbClr val="2563EB"/>
          </a:solidFill>
          <a:ln/>
        </p:spPr>
      </p:sp>
      <p:sp>
        <p:nvSpPr>
          <p:cNvPr id="7" name="Text 5"/>
          <p:cNvSpPr/>
          <p:nvPr/>
        </p:nvSpPr>
        <p:spPr>
          <a:xfrm>
            <a:off x="731520" y="1417320"/>
            <a:ext cx="2286000" cy="59436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Frontend</a:t>
            </a:r>
            <a:endParaRPr lang="en-US" sz="1600" dirty="0"/>
          </a:p>
        </p:txBody>
      </p:sp>
      <p:sp>
        <p:nvSpPr>
          <p:cNvPr id="8" name="Text 6"/>
          <p:cNvSpPr/>
          <p:nvPr/>
        </p:nvSpPr>
        <p:spPr>
          <a:xfrm>
            <a:off x="3108960" y="1417320"/>
            <a:ext cx="548640" cy="594360"/>
          </a:xfrm>
          <a:prstGeom prst="rect">
            <a:avLst/>
          </a:prstGeom>
          <a:noFill/>
          <a:ln/>
        </p:spPr>
        <p:txBody>
          <a:bodyPr wrap="square" rtlCol="0" anchor="ctr"/>
          <a:lstStyle/>
          <a:p>
            <a:pPr algn="ctr" indent="0" marL="0">
              <a:buNone/>
            </a:pPr>
            <a:r>
              <a:rPr lang="en-US" sz="2000" dirty="0">
                <a:solidFill>
                  <a:srgbClr val="2563EB"/>
                </a:solidFill>
              </a:rPr>
              <a:t>➜</a:t>
            </a:r>
            <a:endParaRPr lang="en-US" sz="2000" dirty="0"/>
          </a:p>
        </p:txBody>
      </p:sp>
      <p:sp>
        <p:nvSpPr>
          <p:cNvPr id="9" name="Shape 7"/>
          <p:cNvSpPr/>
          <p:nvPr/>
        </p:nvSpPr>
        <p:spPr>
          <a:xfrm>
            <a:off x="3749040" y="1417320"/>
            <a:ext cx="7863840" cy="594360"/>
          </a:xfrm>
          <a:prstGeom prst="roundRect">
            <a:avLst>
              <a:gd name="adj" fmla="val 12308"/>
            </a:avLst>
          </a:prstGeom>
          <a:solidFill>
            <a:srgbClr val="F1F5F9"/>
          </a:solidFill>
          <a:ln/>
        </p:spPr>
      </p:sp>
      <p:sp>
        <p:nvSpPr>
          <p:cNvPr id="10" name="Text 8"/>
          <p:cNvSpPr/>
          <p:nvPr/>
        </p:nvSpPr>
        <p:spPr>
          <a:xfrm>
            <a:off x="3931920" y="1417320"/>
            <a:ext cx="7498080" cy="594360"/>
          </a:xfrm>
          <a:prstGeom prst="rect">
            <a:avLst/>
          </a:prstGeom>
          <a:noFill/>
          <a:ln/>
        </p:spPr>
        <p:txBody>
          <a:bodyPr wrap="square" rtlCol="0" anchor="ctr"/>
          <a:lstStyle/>
          <a:p>
            <a:pPr indent="0" marL="0">
              <a:buNone/>
            </a:pPr>
            <a:r>
              <a:rPr lang="en-US" sz="1500" dirty="0">
                <a:solidFill>
                  <a:srgbClr val="1E293B"/>
                </a:solidFill>
                <a:latin typeface="Calibri" pitchFamily="34" charset="0"/>
                <a:ea typeface="Calibri" pitchFamily="34" charset="-122"/>
                <a:cs typeface="Calibri" pitchFamily="34" charset="-120"/>
              </a:rPr>
              <a:t>React 18, Tailwind CSS, Vite, React Router</a:t>
            </a:r>
            <a:endParaRPr lang="en-US" sz="1500" dirty="0"/>
          </a:p>
        </p:txBody>
      </p:sp>
      <p:sp>
        <p:nvSpPr>
          <p:cNvPr id="11" name="Shape 9"/>
          <p:cNvSpPr/>
          <p:nvPr/>
        </p:nvSpPr>
        <p:spPr>
          <a:xfrm>
            <a:off x="731520" y="2221992"/>
            <a:ext cx="2286000" cy="594360"/>
          </a:xfrm>
          <a:prstGeom prst="roundRect">
            <a:avLst>
              <a:gd name="adj" fmla="val 12308"/>
            </a:avLst>
          </a:prstGeom>
          <a:solidFill>
            <a:srgbClr val="1E3A5F"/>
          </a:solidFill>
          <a:ln/>
        </p:spPr>
      </p:sp>
      <p:sp>
        <p:nvSpPr>
          <p:cNvPr id="12" name="Text 10"/>
          <p:cNvSpPr/>
          <p:nvPr/>
        </p:nvSpPr>
        <p:spPr>
          <a:xfrm>
            <a:off x="731520" y="2221992"/>
            <a:ext cx="2286000" cy="59436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Automation</a:t>
            </a:r>
            <a:endParaRPr lang="en-US" sz="1600" dirty="0"/>
          </a:p>
        </p:txBody>
      </p:sp>
      <p:sp>
        <p:nvSpPr>
          <p:cNvPr id="13" name="Text 11"/>
          <p:cNvSpPr/>
          <p:nvPr/>
        </p:nvSpPr>
        <p:spPr>
          <a:xfrm>
            <a:off x="3108960" y="2221992"/>
            <a:ext cx="548640" cy="594360"/>
          </a:xfrm>
          <a:prstGeom prst="rect">
            <a:avLst/>
          </a:prstGeom>
          <a:noFill/>
          <a:ln/>
        </p:spPr>
        <p:txBody>
          <a:bodyPr wrap="square" rtlCol="0" anchor="ctr"/>
          <a:lstStyle/>
          <a:p>
            <a:pPr algn="ctr" indent="0" marL="0">
              <a:buNone/>
            </a:pPr>
            <a:r>
              <a:rPr lang="en-US" sz="2000" dirty="0">
                <a:solidFill>
                  <a:srgbClr val="2563EB"/>
                </a:solidFill>
              </a:rPr>
              <a:t>➜</a:t>
            </a:r>
            <a:endParaRPr lang="en-US" sz="2000" dirty="0"/>
          </a:p>
        </p:txBody>
      </p:sp>
      <p:sp>
        <p:nvSpPr>
          <p:cNvPr id="14" name="Shape 12"/>
          <p:cNvSpPr/>
          <p:nvPr/>
        </p:nvSpPr>
        <p:spPr>
          <a:xfrm>
            <a:off x="3749040" y="2221992"/>
            <a:ext cx="7863840" cy="594360"/>
          </a:xfrm>
          <a:prstGeom prst="roundRect">
            <a:avLst>
              <a:gd name="adj" fmla="val 12308"/>
            </a:avLst>
          </a:prstGeom>
          <a:solidFill>
            <a:srgbClr val="F1F5F9"/>
          </a:solidFill>
          <a:ln/>
        </p:spPr>
      </p:sp>
      <p:sp>
        <p:nvSpPr>
          <p:cNvPr id="15" name="Text 13"/>
          <p:cNvSpPr/>
          <p:nvPr/>
        </p:nvSpPr>
        <p:spPr>
          <a:xfrm>
            <a:off x="3931920" y="2221992"/>
            <a:ext cx="7498080" cy="594360"/>
          </a:xfrm>
          <a:prstGeom prst="rect">
            <a:avLst/>
          </a:prstGeom>
          <a:noFill/>
          <a:ln/>
        </p:spPr>
        <p:txBody>
          <a:bodyPr wrap="square" rtlCol="0" anchor="ctr"/>
          <a:lstStyle/>
          <a:p>
            <a:pPr indent="0" marL="0">
              <a:buNone/>
            </a:pPr>
            <a:r>
              <a:rPr lang="en-US" sz="1500" dirty="0">
                <a:solidFill>
                  <a:srgbClr val="1E293B"/>
                </a:solidFill>
                <a:latin typeface="Calibri" pitchFamily="34" charset="0"/>
                <a:ea typeface="Calibri" pitchFamily="34" charset="-122"/>
                <a:cs typeface="Calibri" pitchFamily="34" charset="-120"/>
              </a:rPr>
              <a:t>n8n (2 workflows, 107+ nodes)</a:t>
            </a:r>
            <a:endParaRPr lang="en-US" sz="1500" dirty="0"/>
          </a:p>
        </p:txBody>
      </p:sp>
      <p:sp>
        <p:nvSpPr>
          <p:cNvPr id="16" name="Shape 14"/>
          <p:cNvSpPr/>
          <p:nvPr/>
        </p:nvSpPr>
        <p:spPr>
          <a:xfrm>
            <a:off x="731520" y="3026664"/>
            <a:ext cx="2286000" cy="594360"/>
          </a:xfrm>
          <a:prstGeom prst="roundRect">
            <a:avLst>
              <a:gd name="adj" fmla="val 12308"/>
            </a:avLst>
          </a:prstGeom>
          <a:solidFill>
            <a:srgbClr val="2563EB"/>
          </a:solidFill>
          <a:ln/>
        </p:spPr>
      </p:sp>
      <p:sp>
        <p:nvSpPr>
          <p:cNvPr id="17" name="Text 15"/>
          <p:cNvSpPr/>
          <p:nvPr/>
        </p:nvSpPr>
        <p:spPr>
          <a:xfrm>
            <a:off x="731520" y="3026664"/>
            <a:ext cx="2286000" cy="59436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Database</a:t>
            </a:r>
            <a:endParaRPr lang="en-US" sz="1600" dirty="0"/>
          </a:p>
        </p:txBody>
      </p:sp>
      <p:sp>
        <p:nvSpPr>
          <p:cNvPr id="18" name="Text 16"/>
          <p:cNvSpPr/>
          <p:nvPr/>
        </p:nvSpPr>
        <p:spPr>
          <a:xfrm>
            <a:off x="3108960" y="3026664"/>
            <a:ext cx="548640" cy="594360"/>
          </a:xfrm>
          <a:prstGeom prst="rect">
            <a:avLst/>
          </a:prstGeom>
          <a:noFill/>
          <a:ln/>
        </p:spPr>
        <p:txBody>
          <a:bodyPr wrap="square" rtlCol="0" anchor="ctr"/>
          <a:lstStyle/>
          <a:p>
            <a:pPr algn="ctr" indent="0" marL="0">
              <a:buNone/>
            </a:pPr>
            <a:r>
              <a:rPr lang="en-US" sz="2000" dirty="0">
                <a:solidFill>
                  <a:srgbClr val="2563EB"/>
                </a:solidFill>
              </a:rPr>
              <a:t>➜</a:t>
            </a:r>
            <a:endParaRPr lang="en-US" sz="2000" dirty="0"/>
          </a:p>
        </p:txBody>
      </p:sp>
      <p:sp>
        <p:nvSpPr>
          <p:cNvPr id="19" name="Shape 17"/>
          <p:cNvSpPr/>
          <p:nvPr/>
        </p:nvSpPr>
        <p:spPr>
          <a:xfrm>
            <a:off x="3749040" y="3026664"/>
            <a:ext cx="7863840" cy="594360"/>
          </a:xfrm>
          <a:prstGeom prst="roundRect">
            <a:avLst>
              <a:gd name="adj" fmla="val 12308"/>
            </a:avLst>
          </a:prstGeom>
          <a:solidFill>
            <a:srgbClr val="F1F5F9"/>
          </a:solidFill>
          <a:ln/>
        </p:spPr>
      </p:sp>
      <p:sp>
        <p:nvSpPr>
          <p:cNvPr id="20" name="Text 18"/>
          <p:cNvSpPr/>
          <p:nvPr/>
        </p:nvSpPr>
        <p:spPr>
          <a:xfrm>
            <a:off x="3931920" y="3026664"/>
            <a:ext cx="7498080" cy="594360"/>
          </a:xfrm>
          <a:prstGeom prst="rect">
            <a:avLst/>
          </a:prstGeom>
          <a:noFill/>
          <a:ln/>
        </p:spPr>
        <p:txBody>
          <a:bodyPr wrap="square" rtlCol="0" anchor="ctr"/>
          <a:lstStyle/>
          <a:p>
            <a:pPr indent="0" marL="0">
              <a:buNone/>
            </a:pPr>
            <a:r>
              <a:rPr lang="en-US" sz="1500" dirty="0">
                <a:solidFill>
                  <a:srgbClr val="1E293B"/>
                </a:solidFill>
                <a:latin typeface="Calibri" pitchFamily="34" charset="0"/>
                <a:ea typeface="Calibri" pitchFamily="34" charset="-122"/>
                <a:cs typeface="Calibri" pitchFamily="34" charset="-120"/>
              </a:rPr>
              <a:t>Supabase (PostgreSQL + Auth + RLS)</a:t>
            </a:r>
            <a:endParaRPr lang="en-US" sz="1500" dirty="0"/>
          </a:p>
        </p:txBody>
      </p:sp>
      <p:sp>
        <p:nvSpPr>
          <p:cNvPr id="21" name="Shape 19"/>
          <p:cNvSpPr/>
          <p:nvPr/>
        </p:nvSpPr>
        <p:spPr>
          <a:xfrm>
            <a:off x="731520" y="3831336"/>
            <a:ext cx="2286000" cy="594360"/>
          </a:xfrm>
          <a:prstGeom prst="roundRect">
            <a:avLst>
              <a:gd name="adj" fmla="val 12308"/>
            </a:avLst>
          </a:prstGeom>
          <a:solidFill>
            <a:srgbClr val="1E3A5F"/>
          </a:solidFill>
          <a:ln/>
        </p:spPr>
      </p:sp>
      <p:sp>
        <p:nvSpPr>
          <p:cNvPr id="22" name="Text 20"/>
          <p:cNvSpPr/>
          <p:nvPr/>
        </p:nvSpPr>
        <p:spPr>
          <a:xfrm>
            <a:off x="731520" y="3831336"/>
            <a:ext cx="2286000" cy="59436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AI</a:t>
            </a:r>
            <a:endParaRPr lang="en-US" sz="1600" dirty="0"/>
          </a:p>
        </p:txBody>
      </p:sp>
      <p:sp>
        <p:nvSpPr>
          <p:cNvPr id="23" name="Text 21"/>
          <p:cNvSpPr/>
          <p:nvPr/>
        </p:nvSpPr>
        <p:spPr>
          <a:xfrm>
            <a:off x="3108960" y="3831336"/>
            <a:ext cx="548640" cy="594360"/>
          </a:xfrm>
          <a:prstGeom prst="rect">
            <a:avLst/>
          </a:prstGeom>
          <a:noFill/>
          <a:ln/>
        </p:spPr>
        <p:txBody>
          <a:bodyPr wrap="square" rtlCol="0" anchor="ctr"/>
          <a:lstStyle/>
          <a:p>
            <a:pPr algn="ctr" indent="0" marL="0">
              <a:buNone/>
            </a:pPr>
            <a:r>
              <a:rPr lang="en-US" sz="2000" dirty="0">
                <a:solidFill>
                  <a:srgbClr val="2563EB"/>
                </a:solidFill>
              </a:rPr>
              <a:t>➜</a:t>
            </a:r>
            <a:endParaRPr lang="en-US" sz="2000" dirty="0"/>
          </a:p>
        </p:txBody>
      </p:sp>
      <p:sp>
        <p:nvSpPr>
          <p:cNvPr id="24" name="Shape 22"/>
          <p:cNvSpPr/>
          <p:nvPr/>
        </p:nvSpPr>
        <p:spPr>
          <a:xfrm>
            <a:off x="3749040" y="3831336"/>
            <a:ext cx="7863840" cy="594360"/>
          </a:xfrm>
          <a:prstGeom prst="roundRect">
            <a:avLst>
              <a:gd name="adj" fmla="val 12308"/>
            </a:avLst>
          </a:prstGeom>
          <a:solidFill>
            <a:srgbClr val="F1F5F9"/>
          </a:solidFill>
          <a:ln/>
        </p:spPr>
      </p:sp>
      <p:sp>
        <p:nvSpPr>
          <p:cNvPr id="25" name="Text 23"/>
          <p:cNvSpPr/>
          <p:nvPr/>
        </p:nvSpPr>
        <p:spPr>
          <a:xfrm>
            <a:off x="3931920" y="3831336"/>
            <a:ext cx="7498080" cy="594360"/>
          </a:xfrm>
          <a:prstGeom prst="rect">
            <a:avLst/>
          </a:prstGeom>
          <a:noFill/>
          <a:ln/>
        </p:spPr>
        <p:txBody>
          <a:bodyPr wrap="square" rtlCol="0" anchor="ctr"/>
          <a:lstStyle/>
          <a:p>
            <a:pPr indent="0" marL="0">
              <a:buNone/>
            </a:pPr>
            <a:r>
              <a:rPr lang="en-US" sz="1500" dirty="0">
                <a:solidFill>
                  <a:srgbClr val="1E293B"/>
                </a:solidFill>
                <a:latin typeface="Calibri" pitchFamily="34" charset="0"/>
                <a:ea typeface="Calibri" pitchFamily="34" charset="-122"/>
                <a:cs typeface="Calibri" pitchFamily="34" charset="-120"/>
              </a:rPr>
              <a:t>OpenAI GPT-4o-mini (cost-optimized)</a:t>
            </a:r>
            <a:endParaRPr lang="en-US" sz="1500" dirty="0"/>
          </a:p>
        </p:txBody>
      </p:sp>
      <p:sp>
        <p:nvSpPr>
          <p:cNvPr id="26" name="Shape 24"/>
          <p:cNvSpPr/>
          <p:nvPr/>
        </p:nvSpPr>
        <p:spPr>
          <a:xfrm>
            <a:off x="731520" y="4636008"/>
            <a:ext cx="2286000" cy="594360"/>
          </a:xfrm>
          <a:prstGeom prst="roundRect">
            <a:avLst>
              <a:gd name="adj" fmla="val 12308"/>
            </a:avLst>
          </a:prstGeom>
          <a:solidFill>
            <a:srgbClr val="2563EB"/>
          </a:solidFill>
          <a:ln/>
        </p:spPr>
      </p:sp>
      <p:sp>
        <p:nvSpPr>
          <p:cNvPr id="27" name="Text 25"/>
          <p:cNvSpPr/>
          <p:nvPr/>
        </p:nvSpPr>
        <p:spPr>
          <a:xfrm>
            <a:off x="731520" y="4636008"/>
            <a:ext cx="2286000" cy="59436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Publishing</a:t>
            </a:r>
            <a:endParaRPr lang="en-US" sz="1600" dirty="0"/>
          </a:p>
        </p:txBody>
      </p:sp>
      <p:sp>
        <p:nvSpPr>
          <p:cNvPr id="28" name="Text 26"/>
          <p:cNvSpPr/>
          <p:nvPr/>
        </p:nvSpPr>
        <p:spPr>
          <a:xfrm>
            <a:off x="3108960" y="4636008"/>
            <a:ext cx="548640" cy="594360"/>
          </a:xfrm>
          <a:prstGeom prst="rect">
            <a:avLst/>
          </a:prstGeom>
          <a:noFill/>
          <a:ln/>
        </p:spPr>
        <p:txBody>
          <a:bodyPr wrap="square" rtlCol="0" anchor="ctr"/>
          <a:lstStyle/>
          <a:p>
            <a:pPr algn="ctr" indent="0" marL="0">
              <a:buNone/>
            </a:pPr>
            <a:r>
              <a:rPr lang="en-US" sz="2000" dirty="0">
                <a:solidFill>
                  <a:srgbClr val="2563EB"/>
                </a:solidFill>
              </a:rPr>
              <a:t>➜</a:t>
            </a:r>
            <a:endParaRPr lang="en-US" sz="2000" dirty="0"/>
          </a:p>
        </p:txBody>
      </p:sp>
      <p:sp>
        <p:nvSpPr>
          <p:cNvPr id="29" name="Shape 27"/>
          <p:cNvSpPr/>
          <p:nvPr/>
        </p:nvSpPr>
        <p:spPr>
          <a:xfrm>
            <a:off x="3749040" y="4636008"/>
            <a:ext cx="7863840" cy="594360"/>
          </a:xfrm>
          <a:prstGeom prst="roundRect">
            <a:avLst>
              <a:gd name="adj" fmla="val 12308"/>
            </a:avLst>
          </a:prstGeom>
          <a:solidFill>
            <a:srgbClr val="F1F5F9"/>
          </a:solidFill>
          <a:ln/>
        </p:spPr>
      </p:sp>
      <p:sp>
        <p:nvSpPr>
          <p:cNvPr id="30" name="Text 28"/>
          <p:cNvSpPr/>
          <p:nvPr/>
        </p:nvSpPr>
        <p:spPr>
          <a:xfrm>
            <a:off x="3931920" y="4636008"/>
            <a:ext cx="7498080" cy="594360"/>
          </a:xfrm>
          <a:prstGeom prst="rect">
            <a:avLst/>
          </a:prstGeom>
          <a:noFill/>
          <a:ln/>
        </p:spPr>
        <p:txBody>
          <a:bodyPr wrap="square"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Twitter API v2, LinkedIn API, Resend</a:t>
            </a:r>
            <a:endParaRPr lang="en-US" sz="1500" dirty="0"/>
          </a:p>
        </p:txBody>
      </p:sp>
      <p:sp>
        <p:nvSpPr>
          <p:cNvPr id="31" name="Shape 29"/>
          <p:cNvSpPr/>
          <p:nvPr/>
        </p:nvSpPr>
        <p:spPr>
          <a:xfrm>
            <a:off x="731520" y="5440680"/>
            <a:ext cx="2286000" cy="594360"/>
          </a:xfrm>
          <a:prstGeom prst="roundRect">
            <a:avLst>
              <a:gd name="adj" fmla="val 12308"/>
            </a:avLst>
          </a:prstGeom>
          <a:solidFill>
            <a:srgbClr val="1E3A5F"/>
          </a:solidFill>
          <a:ln/>
        </p:spPr>
      </p:sp>
      <p:sp>
        <p:nvSpPr>
          <p:cNvPr id="32" name="Text 30"/>
          <p:cNvSpPr/>
          <p:nvPr/>
        </p:nvSpPr>
        <p:spPr>
          <a:xfrm>
            <a:off x="731520" y="5440680"/>
            <a:ext cx="2286000" cy="59436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Auth</a:t>
            </a:r>
            <a:endParaRPr lang="en-US" sz="1600" dirty="0"/>
          </a:p>
        </p:txBody>
      </p:sp>
      <p:sp>
        <p:nvSpPr>
          <p:cNvPr id="33" name="Text 31"/>
          <p:cNvSpPr/>
          <p:nvPr/>
        </p:nvSpPr>
        <p:spPr>
          <a:xfrm>
            <a:off x="3108960" y="5440680"/>
            <a:ext cx="548640" cy="594360"/>
          </a:xfrm>
          <a:prstGeom prst="rect">
            <a:avLst/>
          </a:prstGeom>
          <a:noFill/>
          <a:ln/>
        </p:spPr>
        <p:txBody>
          <a:bodyPr wrap="square" rtlCol="0" anchor="ctr"/>
          <a:lstStyle/>
          <a:p>
            <a:pPr algn="ctr" indent="0" marL="0">
              <a:buNone/>
            </a:pPr>
            <a:r>
              <a:rPr lang="en-US" sz="2000" dirty="0">
                <a:solidFill>
                  <a:srgbClr val="2563EB"/>
                </a:solidFill>
              </a:rPr>
              <a:t>➜</a:t>
            </a:r>
            <a:endParaRPr lang="en-US" sz="2000" dirty="0"/>
          </a:p>
        </p:txBody>
      </p:sp>
      <p:sp>
        <p:nvSpPr>
          <p:cNvPr id="34" name="Shape 32"/>
          <p:cNvSpPr/>
          <p:nvPr/>
        </p:nvSpPr>
        <p:spPr>
          <a:xfrm>
            <a:off x="3749040" y="5440680"/>
            <a:ext cx="7863840" cy="594360"/>
          </a:xfrm>
          <a:prstGeom prst="roundRect">
            <a:avLst>
              <a:gd name="adj" fmla="val 12308"/>
            </a:avLst>
          </a:prstGeom>
          <a:solidFill>
            <a:srgbClr val="F1F5F9"/>
          </a:solidFill>
          <a:ln/>
        </p:spPr>
      </p:sp>
      <p:sp>
        <p:nvSpPr>
          <p:cNvPr id="35" name="Text 33"/>
          <p:cNvSpPr/>
          <p:nvPr/>
        </p:nvSpPr>
        <p:spPr>
          <a:xfrm>
            <a:off x="3931920" y="5440680"/>
            <a:ext cx="7498080" cy="594360"/>
          </a:xfrm>
          <a:prstGeom prst="rect">
            <a:avLst/>
          </a:prstGeom>
          <a:noFill/>
          <a:ln/>
        </p:spPr>
        <p:txBody>
          <a:bodyPr wrap="square" rtlCol="0" anchor="ctr"/>
          <a:lstStyle/>
          <a:p>
            <a:pPr indent="0" marL="0">
              <a:buNone/>
            </a:pPr>
            <a:r>
              <a:rPr lang="en-US" sz="1500" dirty="0">
                <a:solidFill>
                  <a:srgbClr val="1E293B"/>
                </a:solidFill>
                <a:latin typeface="Calibri" pitchFamily="34" charset="0"/>
                <a:ea typeface="Calibri" pitchFamily="34" charset="-122"/>
                <a:cs typeface="Calibri" pitchFamily="34" charset="-120"/>
              </a:rPr>
              <a:t>Supabase Magic Links + custom RBAC</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1E3A5F"/>
          </a:solidFill>
          <a:ln/>
        </p:spPr>
      </p:sp>
      <p:sp>
        <p:nvSpPr>
          <p:cNvPr id="3" name="Text 1"/>
          <p:cNvSpPr/>
          <p:nvPr/>
        </p:nvSpPr>
        <p:spPr>
          <a:xfrm>
            <a:off x="548640" y="182880"/>
            <a:ext cx="10972800" cy="6400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What I Learned</a:t>
            </a:r>
            <a:endParaRPr lang="en-US" sz="2800" dirty="0"/>
          </a:p>
        </p:txBody>
      </p:sp>
      <p:sp>
        <p:nvSpPr>
          <p:cNvPr id="4" name="Shape 2"/>
          <p:cNvSpPr/>
          <p:nvPr/>
        </p:nvSpPr>
        <p:spPr>
          <a:xfrm>
            <a:off x="0" y="1005840"/>
            <a:ext cx="12192000" cy="54864"/>
          </a:xfrm>
          <a:prstGeom prst="rect">
            <a:avLst/>
          </a:prstGeom>
          <a:solidFill>
            <a:srgbClr val="2563EB"/>
          </a:solidFill>
          <a:ln/>
        </p:spPr>
      </p:sp>
      <p:sp>
        <p:nvSpPr>
          <p:cNvPr id="5" name="Text 3"/>
          <p:cNvSpPr/>
          <p:nvPr/>
        </p:nvSpPr>
        <p:spPr>
          <a:xfrm>
            <a:off x="548640" y="6309360"/>
            <a:ext cx="10972800" cy="36576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Ayodele Oluwafimidaraayo</a:t>
            </a:r>
            <a:pPr indent="0" marL="0">
              <a:buNone/>
            </a:pPr>
            <a:r>
              <a:rPr lang="en-US" sz="1000" dirty="0">
                <a:solidFill>
                  <a:srgbClr val="64748B"/>
                </a:solidFill>
                <a:latin typeface="Calibri" pitchFamily="34" charset="0"/>
                <a:ea typeface="Calibri" pitchFamily="34" charset="-122"/>
                <a:cs typeface="Calibri" pitchFamily="34" charset="-120"/>
              </a:rPr>
              <a:t>   |   Slide 14 of 17</a:t>
            </a:r>
            <a:endParaRPr lang="en-US" sz="1000" dirty="0"/>
          </a:p>
        </p:txBody>
      </p:sp>
      <p:sp>
        <p:nvSpPr>
          <p:cNvPr id="6" name="Shape 4"/>
          <p:cNvSpPr/>
          <p:nvPr/>
        </p:nvSpPr>
        <p:spPr>
          <a:xfrm>
            <a:off x="548640" y="1371600"/>
            <a:ext cx="11064240" cy="822960"/>
          </a:xfrm>
          <a:prstGeom prst="roundRect">
            <a:avLst>
              <a:gd name="adj" fmla="val 6667"/>
            </a:avLst>
          </a:prstGeom>
          <a:solidFill>
            <a:srgbClr val="F1F5F9"/>
          </a:solidFill>
          <a:ln w="6350">
            <a:solidFill>
              <a:srgbClr val="CBD5E1"/>
            </a:solidFill>
            <a:prstDash val="solid"/>
          </a:ln>
        </p:spPr>
      </p:sp>
      <p:sp>
        <p:nvSpPr>
          <p:cNvPr id="7" name="Shape 5"/>
          <p:cNvSpPr/>
          <p:nvPr/>
        </p:nvSpPr>
        <p:spPr>
          <a:xfrm>
            <a:off x="548640" y="1463040"/>
            <a:ext cx="91440" cy="640080"/>
          </a:xfrm>
          <a:prstGeom prst="rect">
            <a:avLst/>
          </a:prstGeom>
          <a:solidFill>
            <a:srgbClr val="2563EB"/>
          </a:solidFill>
          <a:ln/>
        </p:spPr>
      </p:sp>
      <p:sp>
        <p:nvSpPr>
          <p:cNvPr id="8" name="Text 6"/>
          <p:cNvSpPr/>
          <p:nvPr/>
        </p:nvSpPr>
        <p:spPr>
          <a:xfrm>
            <a:off x="822960" y="1389888"/>
            <a:ext cx="10515600" cy="347472"/>
          </a:xfrm>
          <a:prstGeom prst="rect">
            <a:avLst/>
          </a:prstGeom>
          <a:noFill/>
          <a:ln/>
        </p:spPr>
        <p:txBody>
          <a:bodyPr wrap="square" rtlCol="0" anchor="ctr"/>
          <a:lstStyle/>
          <a:p>
            <a:pPr indent="0" marL="0">
              <a:buNone/>
            </a:pPr>
            <a:r>
              <a:rPr lang="en-US" sz="1500" b="1" dirty="0">
                <a:solidFill>
                  <a:srgbClr val="1E3A5F"/>
                </a:solidFill>
                <a:latin typeface="Calibri" pitchFamily="34" charset="0"/>
                <a:ea typeface="Calibri" pitchFamily="34" charset="-122"/>
                <a:cs typeface="Calibri" pitchFamily="34" charset="-120"/>
              </a:rPr>
              <a:t>n8n Expression Syntax</a:t>
            </a:r>
            <a:endParaRPr lang="en-US" sz="1500" dirty="0"/>
          </a:p>
        </p:txBody>
      </p:sp>
      <p:sp>
        <p:nvSpPr>
          <p:cNvPr id="9" name="Text 7"/>
          <p:cNvSpPr/>
          <p:nvPr/>
        </p:nvSpPr>
        <p:spPr>
          <a:xfrm>
            <a:off x="822960" y="1755648"/>
            <a:ext cx="10515600" cy="384048"/>
          </a:xfrm>
          <a:prstGeom prst="rect">
            <a:avLst/>
          </a:prstGeom>
          <a:noFill/>
          <a:ln/>
        </p:spPr>
        <p:txBody>
          <a:bodyPr wrap="square" rtlCol="0" anchor="ctr"/>
          <a:lstStyle/>
          <a:p>
            <a:pPr indent="0" marL="0">
              <a:buNone/>
            </a:pPr>
            <a:r>
              <a:rPr lang="en-US" sz="1300" dirty="0">
                <a:solidFill>
                  <a:srgbClr val="64748B"/>
                </a:solidFill>
                <a:latin typeface="Calibri" pitchFamily="34" charset="0"/>
                <a:ea typeface="Calibri" pitchFamily="34" charset="-122"/>
                <a:cs typeface="Calibri" pitchFamily="34" charset="-120"/>
              </a:rPr>
              <a:t>JSON body construction and dynamic field mapping require careful escaping and testing across node boundaries</a:t>
            </a:r>
            <a:endParaRPr lang="en-US" sz="1300" dirty="0"/>
          </a:p>
        </p:txBody>
      </p:sp>
      <p:sp>
        <p:nvSpPr>
          <p:cNvPr id="10" name="Shape 8"/>
          <p:cNvSpPr/>
          <p:nvPr/>
        </p:nvSpPr>
        <p:spPr>
          <a:xfrm>
            <a:off x="548640" y="2331720"/>
            <a:ext cx="11064240" cy="822960"/>
          </a:xfrm>
          <a:prstGeom prst="roundRect">
            <a:avLst>
              <a:gd name="adj" fmla="val 6667"/>
            </a:avLst>
          </a:prstGeom>
          <a:solidFill>
            <a:srgbClr val="FFFFFF"/>
          </a:solidFill>
          <a:ln w="6350">
            <a:solidFill>
              <a:srgbClr val="CBD5E1"/>
            </a:solidFill>
            <a:prstDash val="solid"/>
          </a:ln>
        </p:spPr>
      </p:sp>
      <p:sp>
        <p:nvSpPr>
          <p:cNvPr id="11" name="Shape 9"/>
          <p:cNvSpPr/>
          <p:nvPr/>
        </p:nvSpPr>
        <p:spPr>
          <a:xfrm>
            <a:off x="548640" y="2423160"/>
            <a:ext cx="91440" cy="640080"/>
          </a:xfrm>
          <a:prstGeom prst="rect">
            <a:avLst/>
          </a:prstGeom>
          <a:solidFill>
            <a:srgbClr val="2563EB"/>
          </a:solidFill>
          <a:ln/>
        </p:spPr>
      </p:sp>
      <p:sp>
        <p:nvSpPr>
          <p:cNvPr id="12" name="Text 10"/>
          <p:cNvSpPr/>
          <p:nvPr/>
        </p:nvSpPr>
        <p:spPr>
          <a:xfrm>
            <a:off x="822960" y="2350008"/>
            <a:ext cx="10515600" cy="347472"/>
          </a:xfrm>
          <a:prstGeom prst="rect">
            <a:avLst/>
          </a:prstGeom>
          <a:noFill/>
          <a:ln/>
        </p:spPr>
        <p:txBody>
          <a:bodyPr wrap="square" rtlCol="0" anchor="ctr"/>
          <a:lstStyle/>
          <a:p>
            <a:pPr indent="0" marL="0">
              <a:buNone/>
            </a:pPr>
            <a:r>
              <a:rPr lang="en-US" sz="1500" b="1" dirty="0">
                <a:solidFill>
                  <a:srgbClr val="1E3A5F"/>
                </a:solidFill>
                <a:latin typeface="Calibri" pitchFamily="34" charset="0"/>
                <a:ea typeface="Calibri" pitchFamily="34" charset="-122"/>
                <a:cs typeface="Calibri" pitchFamily="34" charset="-120"/>
              </a:rPr>
              <a:t>OAuth 2.0 + PKCE</a:t>
            </a:r>
            <a:endParaRPr lang="en-US" sz="1500" dirty="0"/>
          </a:p>
        </p:txBody>
      </p:sp>
      <p:sp>
        <p:nvSpPr>
          <p:cNvPr id="13" name="Text 11"/>
          <p:cNvSpPr/>
          <p:nvPr/>
        </p:nvSpPr>
        <p:spPr>
          <a:xfrm>
            <a:off x="822960" y="2715768"/>
            <a:ext cx="10515600" cy="384048"/>
          </a:xfrm>
          <a:prstGeom prst="rect">
            <a:avLst/>
          </a:prstGeom>
          <a:noFill/>
          <a:ln/>
        </p:spPr>
        <p:txBody>
          <a:bodyPr wrap="square" rtlCol="0" anchor="ctr"/>
          <a:lstStyle/>
          <a:p>
            <a:pPr indent="0" marL="0">
              <a:buNone/>
            </a:pPr>
            <a:r>
              <a:rPr lang="en-US" sz="1300" dirty="0">
                <a:solidFill>
                  <a:srgbClr val="64748B"/>
                </a:solidFill>
                <a:latin typeface="Calibri" pitchFamily="34" charset="0"/>
                <a:ea typeface="Calibri" pitchFamily="34" charset="-122"/>
                <a:cs typeface="Calibri" pitchFamily="34" charset="-120"/>
              </a:rPr>
              <a:t>Twitter's PKCE flow adds real complexity vs LinkedIn's simpler authorization code flow</a:t>
            </a:r>
            <a:endParaRPr lang="en-US" sz="1300" dirty="0"/>
          </a:p>
        </p:txBody>
      </p:sp>
      <p:sp>
        <p:nvSpPr>
          <p:cNvPr id="14" name="Shape 12"/>
          <p:cNvSpPr/>
          <p:nvPr/>
        </p:nvSpPr>
        <p:spPr>
          <a:xfrm>
            <a:off x="548640" y="3291840"/>
            <a:ext cx="11064240" cy="822960"/>
          </a:xfrm>
          <a:prstGeom prst="roundRect">
            <a:avLst>
              <a:gd name="adj" fmla="val 6667"/>
            </a:avLst>
          </a:prstGeom>
          <a:solidFill>
            <a:srgbClr val="F1F5F9"/>
          </a:solidFill>
          <a:ln w="6350">
            <a:solidFill>
              <a:srgbClr val="CBD5E1"/>
            </a:solidFill>
            <a:prstDash val="solid"/>
          </a:ln>
        </p:spPr>
      </p:sp>
      <p:sp>
        <p:nvSpPr>
          <p:cNvPr id="15" name="Shape 13"/>
          <p:cNvSpPr/>
          <p:nvPr/>
        </p:nvSpPr>
        <p:spPr>
          <a:xfrm>
            <a:off x="548640" y="3383280"/>
            <a:ext cx="91440" cy="640080"/>
          </a:xfrm>
          <a:prstGeom prst="rect">
            <a:avLst/>
          </a:prstGeom>
          <a:solidFill>
            <a:srgbClr val="2563EB"/>
          </a:solidFill>
          <a:ln/>
        </p:spPr>
      </p:sp>
      <p:sp>
        <p:nvSpPr>
          <p:cNvPr id="16" name="Text 14"/>
          <p:cNvSpPr/>
          <p:nvPr/>
        </p:nvSpPr>
        <p:spPr>
          <a:xfrm>
            <a:off x="822960" y="3310128"/>
            <a:ext cx="10515600" cy="347472"/>
          </a:xfrm>
          <a:prstGeom prst="rect">
            <a:avLst/>
          </a:prstGeom>
          <a:noFill/>
          <a:ln/>
        </p:spPr>
        <p:txBody>
          <a:bodyPr wrap="square" rtlCol="0" anchor="ctr"/>
          <a:lstStyle/>
          <a:p>
            <a:pPr indent="0" marL="0">
              <a:buNone/>
            </a:pPr>
            <a:r>
              <a:rPr lang="en-US" sz="1500" b="1" dirty="0">
                <a:solidFill>
                  <a:srgbClr val="1E3A5F"/>
                </a:solidFill>
                <a:latin typeface="Calibri" pitchFamily="34" charset="0"/>
                <a:ea typeface="Calibri" pitchFamily="34" charset="-122"/>
                <a:cs typeface="Calibri" pitchFamily="34" charset="-120"/>
              </a:rPr>
              <a:t>Supabase RLS</a:t>
            </a:r>
            <a:endParaRPr lang="en-US" sz="1500" dirty="0"/>
          </a:p>
        </p:txBody>
      </p:sp>
      <p:sp>
        <p:nvSpPr>
          <p:cNvPr id="17" name="Text 15"/>
          <p:cNvSpPr/>
          <p:nvPr/>
        </p:nvSpPr>
        <p:spPr>
          <a:xfrm>
            <a:off x="822960" y="3675888"/>
            <a:ext cx="10515600" cy="384048"/>
          </a:xfrm>
          <a:prstGeom prst="rect">
            <a:avLst/>
          </a:prstGeom>
          <a:noFill/>
          <a:ln/>
        </p:spPr>
        <p:txBody>
          <a:bodyPr wrap="square" rtlCol="0" anchor="ctr"/>
          <a:lstStyle/>
          <a:p>
            <a:pPr indent="0" marL="0">
              <a:buNone/>
            </a:pPr>
            <a:r>
              <a:rPr lang="en-US" sz="1300" dirty="0">
                <a:solidFill>
                  <a:srgbClr val="64748B"/>
                </a:solidFill>
                <a:latin typeface="Calibri" pitchFamily="34" charset="0"/>
                <a:ea typeface="Calibri" pitchFamily="34" charset="-122"/>
                <a:cs typeface="Calibri" pitchFamily="34" charset="-120"/>
              </a:rPr>
              <a:t>Row Level Security enables role-based data access at the database level, eliminating backend middleware</a:t>
            </a:r>
            <a:endParaRPr lang="en-US" sz="1300" dirty="0"/>
          </a:p>
        </p:txBody>
      </p:sp>
      <p:sp>
        <p:nvSpPr>
          <p:cNvPr id="18" name="Shape 16"/>
          <p:cNvSpPr/>
          <p:nvPr/>
        </p:nvSpPr>
        <p:spPr>
          <a:xfrm>
            <a:off x="548640" y="4251960"/>
            <a:ext cx="11064240" cy="822960"/>
          </a:xfrm>
          <a:prstGeom prst="roundRect">
            <a:avLst>
              <a:gd name="adj" fmla="val 6667"/>
            </a:avLst>
          </a:prstGeom>
          <a:solidFill>
            <a:srgbClr val="FFFFFF"/>
          </a:solidFill>
          <a:ln w="6350">
            <a:solidFill>
              <a:srgbClr val="CBD5E1"/>
            </a:solidFill>
            <a:prstDash val="solid"/>
          </a:ln>
        </p:spPr>
      </p:sp>
      <p:sp>
        <p:nvSpPr>
          <p:cNvPr id="19" name="Shape 17"/>
          <p:cNvSpPr/>
          <p:nvPr/>
        </p:nvSpPr>
        <p:spPr>
          <a:xfrm>
            <a:off x="548640" y="4343400"/>
            <a:ext cx="91440" cy="640080"/>
          </a:xfrm>
          <a:prstGeom prst="rect">
            <a:avLst/>
          </a:prstGeom>
          <a:solidFill>
            <a:srgbClr val="2563EB"/>
          </a:solidFill>
          <a:ln/>
        </p:spPr>
      </p:sp>
      <p:sp>
        <p:nvSpPr>
          <p:cNvPr id="20" name="Text 18"/>
          <p:cNvSpPr/>
          <p:nvPr/>
        </p:nvSpPr>
        <p:spPr>
          <a:xfrm>
            <a:off x="822960" y="4270248"/>
            <a:ext cx="10515600" cy="347472"/>
          </a:xfrm>
          <a:prstGeom prst="rect">
            <a:avLst/>
          </a:prstGeom>
          <a:noFill/>
          <a:ln/>
        </p:spPr>
        <p:txBody>
          <a:bodyPr wrap="square" rtlCol="0" anchor="ctr"/>
          <a:lstStyle/>
          <a:p>
            <a:pPr indent="0" marL="0">
              <a:buNone/>
            </a:pPr>
            <a:r>
              <a:rPr lang="en-US" sz="1500" b="1" dirty="0">
                <a:solidFill>
                  <a:srgbClr val="1E3A5F"/>
                </a:solidFill>
                <a:latin typeface="Calibri" pitchFamily="34" charset="0"/>
                <a:ea typeface="Calibri" pitchFamily="34" charset="-122"/>
                <a:cs typeface="Calibri" pitchFamily="34" charset="-120"/>
              </a:rPr>
              <a:t>Sequential AI Generation</a:t>
            </a:r>
            <a:endParaRPr lang="en-US" sz="1500" dirty="0"/>
          </a:p>
        </p:txBody>
      </p:sp>
      <p:sp>
        <p:nvSpPr>
          <p:cNvPr id="21" name="Text 19"/>
          <p:cNvSpPr/>
          <p:nvPr/>
        </p:nvSpPr>
        <p:spPr>
          <a:xfrm>
            <a:off x="822960" y="4636008"/>
            <a:ext cx="10515600" cy="384048"/>
          </a:xfrm>
          <a:prstGeom prst="rect">
            <a:avLst/>
          </a:prstGeom>
          <a:noFill/>
          <a:ln/>
        </p:spPr>
        <p:txBody>
          <a:bodyPr wrap="square" rtlCol="0" anchor="ctr"/>
          <a:lstStyle/>
          <a:p>
            <a:pPr indent="0" marL="0">
              <a:buNone/>
            </a:pPr>
            <a:r>
              <a:rPr lang="en-US" sz="1300" dirty="0">
                <a:solidFill>
                  <a:srgbClr val="64748B"/>
                </a:solidFill>
                <a:latin typeface="Calibri" pitchFamily="34" charset="0"/>
                <a:ea typeface="Calibri" pitchFamily="34" charset="-122"/>
                <a:cs typeface="Calibri" pitchFamily="34" charset="-120"/>
              </a:rPr>
              <a:t>Generating drafts one at a time with context from previous outputs ensures genuine diversity</a:t>
            </a:r>
            <a:endParaRPr lang="en-US" sz="1300" dirty="0"/>
          </a:p>
        </p:txBody>
      </p:sp>
      <p:sp>
        <p:nvSpPr>
          <p:cNvPr id="22" name="Shape 20"/>
          <p:cNvSpPr/>
          <p:nvPr/>
        </p:nvSpPr>
        <p:spPr>
          <a:xfrm>
            <a:off x="548640" y="5212080"/>
            <a:ext cx="11064240" cy="822960"/>
          </a:xfrm>
          <a:prstGeom prst="roundRect">
            <a:avLst>
              <a:gd name="adj" fmla="val 6667"/>
            </a:avLst>
          </a:prstGeom>
          <a:solidFill>
            <a:srgbClr val="F1F5F9"/>
          </a:solidFill>
          <a:ln w="6350">
            <a:solidFill>
              <a:srgbClr val="CBD5E1"/>
            </a:solidFill>
            <a:prstDash val="solid"/>
          </a:ln>
        </p:spPr>
      </p:sp>
      <p:sp>
        <p:nvSpPr>
          <p:cNvPr id="23" name="Shape 21"/>
          <p:cNvSpPr/>
          <p:nvPr/>
        </p:nvSpPr>
        <p:spPr>
          <a:xfrm>
            <a:off x="548640" y="5303520"/>
            <a:ext cx="91440" cy="640080"/>
          </a:xfrm>
          <a:prstGeom prst="rect">
            <a:avLst/>
          </a:prstGeom>
          <a:solidFill>
            <a:srgbClr val="2563EB"/>
          </a:solidFill>
          <a:ln/>
        </p:spPr>
      </p:sp>
      <p:sp>
        <p:nvSpPr>
          <p:cNvPr id="24" name="Text 22"/>
          <p:cNvSpPr/>
          <p:nvPr/>
        </p:nvSpPr>
        <p:spPr>
          <a:xfrm>
            <a:off x="822960" y="5230368"/>
            <a:ext cx="10515600" cy="347472"/>
          </a:xfrm>
          <a:prstGeom prst="rect">
            <a:avLst/>
          </a:prstGeom>
          <a:noFill/>
          <a:ln/>
        </p:spPr>
        <p:txBody>
          <a:bodyPr wrap="square" rtlCol="0" anchor="ctr"/>
          <a:lstStyle/>
          <a:p>
            <a:pPr indent="0" marL="0">
              <a:buNone/>
            </a:pPr>
            <a:r>
              <a:rPr lang="en-US" sz="1500" b="1" dirty="0">
                <a:solidFill>
                  <a:srgbClr val="1E3A5F"/>
                </a:solidFill>
                <a:latin typeface="Calibri" pitchFamily="34" charset="0"/>
                <a:ea typeface="Calibri" pitchFamily="34" charset="-122"/>
                <a:cs typeface="Calibri" pitchFamily="34" charset="-120"/>
              </a:rPr>
              <a:t>End-to-End System Building</a:t>
            </a:r>
            <a:endParaRPr lang="en-US" sz="1500" dirty="0"/>
          </a:p>
        </p:txBody>
      </p:sp>
      <p:sp>
        <p:nvSpPr>
          <p:cNvPr id="25" name="Text 23"/>
          <p:cNvSpPr/>
          <p:nvPr/>
        </p:nvSpPr>
        <p:spPr>
          <a:xfrm>
            <a:off x="822960" y="5596128"/>
            <a:ext cx="10515600" cy="384048"/>
          </a:xfrm>
          <a:prstGeom prst="rect">
            <a:avLst/>
          </a:prstGeom>
          <a:noFill/>
          <a:ln/>
        </p:spPr>
        <p:txBody>
          <a:bodyPr wrap="square" rtlCol="0" anchor="ctr"/>
          <a:lstStyle/>
          <a:p>
            <a:pPr indent="0" marL="0">
              <a:buNone/>
            </a:pPr>
            <a:r>
              <a:rPr lang="en-US" sz="1300" dirty="0">
                <a:solidFill>
                  <a:srgbClr val="64748B"/>
                </a:solidFill>
                <a:latin typeface="Calibri" pitchFamily="34" charset="0"/>
                <a:ea typeface="Calibri" pitchFamily="34" charset="-122"/>
                <a:cs typeface="Calibri" pitchFamily="34" charset="-120"/>
              </a:rPr>
              <a:t>Connecting frontend, automation, database, and third-party APIs into a cohesive SaaS-like product</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1E3A5F"/>
          </a:solidFill>
          <a:ln/>
        </p:spPr>
      </p:sp>
      <p:sp>
        <p:nvSpPr>
          <p:cNvPr id="3" name="Text 1"/>
          <p:cNvSpPr/>
          <p:nvPr/>
        </p:nvSpPr>
        <p:spPr>
          <a:xfrm>
            <a:off x="548640" y="182880"/>
            <a:ext cx="10972800" cy="6400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Future Enhancements</a:t>
            </a:r>
            <a:endParaRPr lang="en-US" sz="2800" dirty="0"/>
          </a:p>
        </p:txBody>
      </p:sp>
      <p:sp>
        <p:nvSpPr>
          <p:cNvPr id="4" name="Shape 2"/>
          <p:cNvSpPr/>
          <p:nvPr/>
        </p:nvSpPr>
        <p:spPr>
          <a:xfrm>
            <a:off x="0" y="1005840"/>
            <a:ext cx="12192000" cy="54864"/>
          </a:xfrm>
          <a:prstGeom prst="rect">
            <a:avLst/>
          </a:prstGeom>
          <a:solidFill>
            <a:srgbClr val="2563EB"/>
          </a:solidFill>
          <a:ln/>
        </p:spPr>
      </p:sp>
      <p:sp>
        <p:nvSpPr>
          <p:cNvPr id="5" name="Text 3"/>
          <p:cNvSpPr/>
          <p:nvPr/>
        </p:nvSpPr>
        <p:spPr>
          <a:xfrm>
            <a:off x="548640" y="6309360"/>
            <a:ext cx="10972800" cy="36576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Ayodele Oluwafimidaraayo</a:t>
            </a:r>
            <a:pPr indent="0" marL="0">
              <a:buNone/>
            </a:pPr>
            <a:r>
              <a:rPr lang="en-US" sz="1000" dirty="0">
                <a:solidFill>
                  <a:srgbClr val="64748B"/>
                </a:solidFill>
                <a:latin typeface="Calibri" pitchFamily="34" charset="0"/>
                <a:ea typeface="Calibri" pitchFamily="34" charset="-122"/>
                <a:cs typeface="Calibri" pitchFamily="34" charset="-120"/>
              </a:rPr>
              <a:t>   |   Slide 15 of 17</a:t>
            </a:r>
            <a:endParaRPr lang="en-US" sz="1000" dirty="0"/>
          </a:p>
        </p:txBody>
      </p:sp>
      <p:sp>
        <p:nvSpPr>
          <p:cNvPr id="6" name="Shape 4"/>
          <p:cNvSpPr/>
          <p:nvPr/>
        </p:nvSpPr>
        <p:spPr>
          <a:xfrm>
            <a:off x="731520" y="1371600"/>
            <a:ext cx="10698480" cy="530352"/>
          </a:xfrm>
          <a:prstGeom prst="roundRect">
            <a:avLst>
              <a:gd name="adj" fmla="val 10345"/>
            </a:avLst>
          </a:prstGeom>
          <a:solidFill>
            <a:srgbClr val="F1F5F9"/>
          </a:solidFill>
          <a:ln/>
        </p:spPr>
      </p:sp>
      <p:sp>
        <p:nvSpPr>
          <p:cNvPr id="7" name="Text 5"/>
          <p:cNvSpPr/>
          <p:nvPr/>
        </p:nvSpPr>
        <p:spPr>
          <a:xfrm>
            <a:off x="868680" y="1371600"/>
            <a:ext cx="411480" cy="530352"/>
          </a:xfrm>
          <a:prstGeom prst="rect">
            <a:avLst/>
          </a:prstGeom>
          <a:noFill/>
          <a:ln/>
        </p:spPr>
        <p:txBody>
          <a:bodyPr wrap="square"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280160" y="1371600"/>
            <a:ext cx="2926080" cy="530352"/>
          </a:xfrm>
          <a:prstGeom prst="rect">
            <a:avLst/>
          </a:prstGeom>
          <a:noFill/>
          <a:ln/>
        </p:spPr>
        <p:txBody>
          <a:bodyPr wrap="square"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Content Scheduling</a:t>
            </a:r>
            <a:endParaRPr lang="en-US" sz="1400" dirty="0"/>
          </a:p>
        </p:txBody>
      </p:sp>
      <p:sp>
        <p:nvSpPr>
          <p:cNvPr id="9" name="Text 7"/>
          <p:cNvSpPr/>
          <p:nvPr/>
        </p:nvSpPr>
        <p:spPr>
          <a:xfrm>
            <a:off x="4206240" y="1371600"/>
            <a:ext cx="7040880" cy="530352"/>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Calendar view for planned publishing across platforms</a:t>
            </a:r>
            <a:endParaRPr lang="en-US" sz="1300" dirty="0"/>
          </a:p>
        </p:txBody>
      </p:sp>
      <p:sp>
        <p:nvSpPr>
          <p:cNvPr id="10" name="Shape 8"/>
          <p:cNvSpPr/>
          <p:nvPr/>
        </p:nvSpPr>
        <p:spPr>
          <a:xfrm>
            <a:off x="731520" y="2029968"/>
            <a:ext cx="10698480" cy="530352"/>
          </a:xfrm>
          <a:prstGeom prst="roundRect">
            <a:avLst>
              <a:gd name="adj" fmla="val 10345"/>
            </a:avLst>
          </a:prstGeom>
          <a:solidFill>
            <a:srgbClr val="F1F5F9"/>
          </a:solidFill>
          <a:ln/>
        </p:spPr>
      </p:sp>
      <p:sp>
        <p:nvSpPr>
          <p:cNvPr id="11" name="Text 9"/>
          <p:cNvSpPr/>
          <p:nvPr/>
        </p:nvSpPr>
        <p:spPr>
          <a:xfrm>
            <a:off x="868680" y="2029968"/>
            <a:ext cx="411480" cy="530352"/>
          </a:xfrm>
          <a:prstGeom prst="rect">
            <a:avLst/>
          </a:prstGeom>
          <a:noFill/>
          <a:ln/>
        </p:spPr>
        <p:txBody>
          <a:bodyPr wrap="square"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280160" y="2029968"/>
            <a:ext cx="2926080" cy="530352"/>
          </a:xfrm>
          <a:prstGeom prst="rect">
            <a:avLst/>
          </a:prstGeom>
          <a:noFill/>
          <a:ln/>
        </p:spPr>
        <p:txBody>
          <a:bodyPr wrap="square"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Analytics Dashboard</a:t>
            </a:r>
            <a:endParaRPr lang="en-US" sz="1400" dirty="0"/>
          </a:p>
        </p:txBody>
      </p:sp>
      <p:sp>
        <p:nvSpPr>
          <p:cNvPr id="13" name="Text 11"/>
          <p:cNvSpPr/>
          <p:nvPr/>
        </p:nvSpPr>
        <p:spPr>
          <a:xfrm>
            <a:off x="4206240" y="2029968"/>
            <a:ext cx="7040880" cy="530352"/>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Engagement metrics per platform (likes, shares, clicks)</a:t>
            </a:r>
            <a:endParaRPr lang="en-US" sz="1300" dirty="0"/>
          </a:p>
        </p:txBody>
      </p:sp>
      <p:sp>
        <p:nvSpPr>
          <p:cNvPr id="14" name="Shape 12"/>
          <p:cNvSpPr/>
          <p:nvPr/>
        </p:nvSpPr>
        <p:spPr>
          <a:xfrm>
            <a:off x="731520" y="2688336"/>
            <a:ext cx="10698480" cy="530352"/>
          </a:xfrm>
          <a:prstGeom prst="roundRect">
            <a:avLst>
              <a:gd name="adj" fmla="val 10345"/>
            </a:avLst>
          </a:prstGeom>
          <a:solidFill>
            <a:srgbClr val="F1F5F9"/>
          </a:solidFill>
          <a:ln/>
        </p:spPr>
      </p:sp>
      <p:sp>
        <p:nvSpPr>
          <p:cNvPr id="15" name="Text 13"/>
          <p:cNvSpPr/>
          <p:nvPr/>
        </p:nvSpPr>
        <p:spPr>
          <a:xfrm>
            <a:off x="868680" y="2688336"/>
            <a:ext cx="411480" cy="530352"/>
          </a:xfrm>
          <a:prstGeom prst="rect">
            <a:avLst/>
          </a:prstGeom>
          <a:noFill/>
          <a:ln/>
        </p:spPr>
        <p:txBody>
          <a:bodyPr wrap="square"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3.</a:t>
            </a:r>
            <a:endParaRPr lang="en-US" sz="1400" dirty="0"/>
          </a:p>
        </p:txBody>
      </p:sp>
      <p:sp>
        <p:nvSpPr>
          <p:cNvPr id="16" name="Text 14"/>
          <p:cNvSpPr/>
          <p:nvPr/>
        </p:nvSpPr>
        <p:spPr>
          <a:xfrm>
            <a:off x="1280160" y="2688336"/>
            <a:ext cx="2926080" cy="530352"/>
          </a:xfrm>
          <a:prstGeom prst="rect">
            <a:avLst/>
          </a:prstGeom>
          <a:noFill/>
          <a:ln/>
        </p:spPr>
        <p:txBody>
          <a:bodyPr wrap="square"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AI Prompt Optimization</a:t>
            </a:r>
            <a:endParaRPr lang="en-US" sz="1400" dirty="0"/>
          </a:p>
        </p:txBody>
      </p:sp>
      <p:sp>
        <p:nvSpPr>
          <p:cNvPr id="17" name="Text 15"/>
          <p:cNvSpPr/>
          <p:nvPr/>
        </p:nvSpPr>
        <p:spPr>
          <a:xfrm>
            <a:off x="4206240" y="2688336"/>
            <a:ext cx="7040880" cy="530352"/>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Improve prompts based on historical performance data</a:t>
            </a:r>
            <a:endParaRPr lang="en-US" sz="1300" dirty="0"/>
          </a:p>
        </p:txBody>
      </p:sp>
      <p:sp>
        <p:nvSpPr>
          <p:cNvPr id="18" name="Shape 16"/>
          <p:cNvSpPr/>
          <p:nvPr/>
        </p:nvSpPr>
        <p:spPr>
          <a:xfrm>
            <a:off x="731520" y="3346704"/>
            <a:ext cx="10698480" cy="530352"/>
          </a:xfrm>
          <a:prstGeom prst="roundRect">
            <a:avLst>
              <a:gd name="adj" fmla="val 10345"/>
            </a:avLst>
          </a:prstGeom>
          <a:solidFill>
            <a:srgbClr val="F1F5F9"/>
          </a:solidFill>
          <a:ln/>
        </p:spPr>
      </p:sp>
      <p:sp>
        <p:nvSpPr>
          <p:cNvPr id="19" name="Text 17"/>
          <p:cNvSpPr/>
          <p:nvPr/>
        </p:nvSpPr>
        <p:spPr>
          <a:xfrm>
            <a:off x="868680" y="3346704"/>
            <a:ext cx="411480" cy="530352"/>
          </a:xfrm>
          <a:prstGeom prst="rect">
            <a:avLst/>
          </a:prstGeom>
          <a:noFill/>
          <a:ln/>
        </p:spPr>
        <p:txBody>
          <a:bodyPr wrap="square"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4.</a:t>
            </a:r>
            <a:endParaRPr lang="en-US" sz="1400" dirty="0"/>
          </a:p>
        </p:txBody>
      </p:sp>
      <p:sp>
        <p:nvSpPr>
          <p:cNvPr id="20" name="Text 18"/>
          <p:cNvSpPr/>
          <p:nvPr/>
        </p:nvSpPr>
        <p:spPr>
          <a:xfrm>
            <a:off x="1280160" y="3346704"/>
            <a:ext cx="2926080" cy="530352"/>
          </a:xfrm>
          <a:prstGeom prst="rect">
            <a:avLst/>
          </a:prstGeom>
          <a:noFill/>
          <a:ln/>
        </p:spPr>
        <p:txBody>
          <a:bodyPr wrap="square"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Webhook Security</a:t>
            </a:r>
            <a:endParaRPr lang="en-US" sz="1400" dirty="0"/>
          </a:p>
        </p:txBody>
      </p:sp>
      <p:sp>
        <p:nvSpPr>
          <p:cNvPr id="21" name="Text 19"/>
          <p:cNvSpPr/>
          <p:nvPr/>
        </p:nvSpPr>
        <p:spPr>
          <a:xfrm>
            <a:off x="4206240" y="3346704"/>
            <a:ext cx="7040880" cy="530352"/>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HMAC signature verification for all inbound webhooks</a:t>
            </a:r>
            <a:endParaRPr lang="en-US" sz="1300" dirty="0"/>
          </a:p>
        </p:txBody>
      </p:sp>
      <p:sp>
        <p:nvSpPr>
          <p:cNvPr id="22" name="Shape 20"/>
          <p:cNvSpPr/>
          <p:nvPr/>
        </p:nvSpPr>
        <p:spPr>
          <a:xfrm>
            <a:off x="731520" y="4005072"/>
            <a:ext cx="10698480" cy="530352"/>
          </a:xfrm>
          <a:prstGeom prst="roundRect">
            <a:avLst>
              <a:gd name="adj" fmla="val 10345"/>
            </a:avLst>
          </a:prstGeom>
          <a:solidFill>
            <a:srgbClr val="F1F5F9"/>
          </a:solidFill>
          <a:ln/>
        </p:spPr>
      </p:sp>
      <p:sp>
        <p:nvSpPr>
          <p:cNvPr id="23" name="Text 21"/>
          <p:cNvSpPr/>
          <p:nvPr/>
        </p:nvSpPr>
        <p:spPr>
          <a:xfrm>
            <a:off x="868680" y="4005072"/>
            <a:ext cx="411480" cy="530352"/>
          </a:xfrm>
          <a:prstGeom prst="rect">
            <a:avLst/>
          </a:prstGeom>
          <a:noFill/>
          <a:ln/>
        </p:spPr>
        <p:txBody>
          <a:bodyPr wrap="square"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5.</a:t>
            </a:r>
            <a:endParaRPr lang="en-US" sz="1400" dirty="0"/>
          </a:p>
        </p:txBody>
      </p:sp>
      <p:sp>
        <p:nvSpPr>
          <p:cNvPr id="24" name="Text 22"/>
          <p:cNvSpPr/>
          <p:nvPr/>
        </p:nvSpPr>
        <p:spPr>
          <a:xfrm>
            <a:off x="1280160" y="4005072"/>
            <a:ext cx="2926080" cy="530352"/>
          </a:xfrm>
          <a:prstGeom prst="rect">
            <a:avLst/>
          </a:prstGeom>
          <a:noFill/>
          <a:ln/>
        </p:spPr>
        <p:txBody>
          <a:bodyPr wrap="square"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Multi-Organization Support</a:t>
            </a:r>
            <a:endParaRPr lang="en-US" sz="1400" dirty="0"/>
          </a:p>
        </p:txBody>
      </p:sp>
      <p:sp>
        <p:nvSpPr>
          <p:cNvPr id="25" name="Text 23"/>
          <p:cNvSpPr/>
          <p:nvPr/>
        </p:nvSpPr>
        <p:spPr>
          <a:xfrm>
            <a:off x="4206240" y="4005072"/>
            <a:ext cx="7040880" cy="530352"/>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Isolate teams and content by organization</a:t>
            </a:r>
            <a:endParaRPr lang="en-US" sz="1300" dirty="0"/>
          </a:p>
        </p:txBody>
      </p:sp>
      <p:sp>
        <p:nvSpPr>
          <p:cNvPr id="26" name="Shape 24"/>
          <p:cNvSpPr/>
          <p:nvPr/>
        </p:nvSpPr>
        <p:spPr>
          <a:xfrm>
            <a:off x="731520" y="4663440"/>
            <a:ext cx="10698480" cy="530352"/>
          </a:xfrm>
          <a:prstGeom prst="roundRect">
            <a:avLst>
              <a:gd name="adj" fmla="val 10345"/>
            </a:avLst>
          </a:prstGeom>
          <a:solidFill>
            <a:srgbClr val="F1F5F9"/>
          </a:solidFill>
          <a:ln/>
        </p:spPr>
      </p:sp>
      <p:sp>
        <p:nvSpPr>
          <p:cNvPr id="27" name="Text 25"/>
          <p:cNvSpPr/>
          <p:nvPr/>
        </p:nvSpPr>
        <p:spPr>
          <a:xfrm>
            <a:off x="868680" y="4663440"/>
            <a:ext cx="411480" cy="530352"/>
          </a:xfrm>
          <a:prstGeom prst="rect">
            <a:avLst/>
          </a:prstGeom>
          <a:noFill/>
          <a:ln/>
        </p:spPr>
        <p:txBody>
          <a:bodyPr wrap="square"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6.</a:t>
            </a:r>
            <a:endParaRPr lang="en-US" sz="1400" dirty="0"/>
          </a:p>
        </p:txBody>
      </p:sp>
      <p:sp>
        <p:nvSpPr>
          <p:cNvPr id="28" name="Text 26"/>
          <p:cNvSpPr/>
          <p:nvPr/>
        </p:nvSpPr>
        <p:spPr>
          <a:xfrm>
            <a:off x="1280160" y="4663440"/>
            <a:ext cx="2926080" cy="530352"/>
          </a:xfrm>
          <a:prstGeom prst="rect">
            <a:avLst/>
          </a:prstGeom>
          <a:noFill/>
          <a:ln/>
        </p:spPr>
        <p:txBody>
          <a:bodyPr wrap="square"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Pre-Publish Review Gate</a:t>
            </a:r>
            <a:endParaRPr lang="en-US" sz="1400" dirty="0"/>
          </a:p>
        </p:txBody>
      </p:sp>
      <p:sp>
        <p:nvSpPr>
          <p:cNvPr id="29" name="Text 27"/>
          <p:cNvSpPr/>
          <p:nvPr/>
        </p:nvSpPr>
        <p:spPr>
          <a:xfrm>
            <a:off x="4206240" y="4663440"/>
            <a:ext cx="7040880" cy="530352"/>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Second approval after platform adaptation</a:t>
            </a:r>
            <a:endParaRPr lang="en-US" sz="1300" dirty="0"/>
          </a:p>
        </p:txBody>
      </p:sp>
      <p:sp>
        <p:nvSpPr>
          <p:cNvPr id="30" name="Shape 28"/>
          <p:cNvSpPr/>
          <p:nvPr/>
        </p:nvSpPr>
        <p:spPr>
          <a:xfrm>
            <a:off x="731520" y="5321808"/>
            <a:ext cx="10698480" cy="530352"/>
          </a:xfrm>
          <a:prstGeom prst="roundRect">
            <a:avLst>
              <a:gd name="adj" fmla="val 10345"/>
            </a:avLst>
          </a:prstGeom>
          <a:solidFill>
            <a:srgbClr val="F1F5F9"/>
          </a:solidFill>
          <a:ln/>
        </p:spPr>
      </p:sp>
      <p:sp>
        <p:nvSpPr>
          <p:cNvPr id="31" name="Text 29"/>
          <p:cNvSpPr/>
          <p:nvPr/>
        </p:nvSpPr>
        <p:spPr>
          <a:xfrm>
            <a:off x="868680" y="5321808"/>
            <a:ext cx="411480" cy="530352"/>
          </a:xfrm>
          <a:prstGeom prst="rect">
            <a:avLst/>
          </a:prstGeom>
          <a:noFill/>
          <a:ln/>
        </p:spPr>
        <p:txBody>
          <a:bodyPr wrap="square"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7.</a:t>
            </a:r>
            <a:endParaRPr lang="en-US" sz="1400" dirty="0"/>
          </a:p>
        </p:txBody>
      </p:sp>
      <p:sp>
        <p:nvSpPr>
          <p:cNvPr id="32" name="Text 30"/>
          <p:cNvSpPr/>
          <p:nvPr/>
        </p:nvSpPr>
        <p:spPr>
          <a:xfrm>
            <a:off x="1280160" y="5321808"/>
            <a:ext cx="2926080" cy="530352"/>
          </a:xfrm>
          <a:prstGeom prst="rect">
            <a:avLst/>
          </a:prstGeom>
          <a:noFill/>
          <a:ln/>
        </p:spPr>
        <p:txBody>
          <a:bodyPr wrap="square"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Token Cost Tracking</a:t>
            </a:r>
            <a:endParaRPr lang="en-US" sz="1400" dirty="0"/>
          </a:p>
        </p:txBody>
      </p:sp>
      <p:sp>
        <p:nvSpPr>
          <p:cNvPr id="33" name="Text 31"/>
          <p:cNvSpPr/>
          <p:nvPr/>
        </p:nvSpPr>
        <p:spPr>
          <a:xfrm>
            <a:off x="4206240" y="5321808"/>
            <a:ext cx="7040880" cy="530352"/>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Per-submission AI cost tracking for budget visibility</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1E3A5F"/>
          </a:solidFill>
          <a:ln/>
        </p:spPr>
      </p:sp>
      <p:sp>
        <p:nvSpPr>
          <p:cNvPr id="3" name="Text 1"/>
          <p:cNvSpPr/>
          <p:nvPr/>
        </p:nvSpPr>
        <p:spPr>
          <a:xfrm>
            <a:off x="548640" y="182880"/>
            <a:ext cx="10972800" cy="6400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Live Demo</a:t>
            </a:r>
            <a:endParaRPr lang="en-US" sz="2800" dirty="0"/>
          </a:p>
        </p:txBody>
      </p:sp>
      <p:sp>
        <p:nvSpPr>
          <p:cNvPr id="4" name="Shape 2"/>
          <p:cNvSpPr/>
          <p:nvPr/>
        </p:nvSpPr>
        <p:spPr>
          <a:xfrm>
            <a:off x="0" y="1005840"/>
            <a:ext cx="12192000" cy="54864"/>
          </a:xfrm>
          <a:prstGeom prst="rect">
            <a:avLst/>
          </a:prstGeom>
          <a:solidFill>
            <a:srgbClr val="2563EB"/>
          </a:solidFill>
          <a:ln/>
        </p:spPr>
      </p:sp>
      <p:sp>
        <p:nvSpPr>
          <p:cNvPr id="5" name="Text 3"/>
          <p:cNvSpPr/>
          <p:nvPr/>
        </p:nvSpPr>
        <p:spPr>
          <a:xfrm>
            <a:off x="548640" y="6309360"/>
            <a:ext cx="10972800" cy="36576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Ayodele Oluwafimidaraayo</a:t>
            </a:r>
            <a:pPr indent="0" marL="0">
              <a:buNone/>
            </a:pPr>
            <a:r>
              <a:rPr lang="en-US" sz="1000" dirty="0">
                <a:solidFill>
                  <a:srgbClr val="64748B"/>
                </a:solidFill>
                <a:latin typeface="Calibri" pitchFamily="34" charset="0"/>
                <a:ea typeface="Calibri" pitchFamily="34" charset="-122"/>
                <a:cs typeface="Calibri" pitchFamily="34" charset="-120"/>
              </a:rPr>
              <a:t>   |   Slide 16 of 17</a:t>
            </a:r>
            <a:endParaRPr lang="en-US" sz="1000" dirty="0"/>
          </a:p>
        </p:txBody>
      </p:sp>
      <p:sp>
        <p:nvSpPr>
          <p:cNvPr id="6" name="Text 4"/>
          <p:cNvSpPr/>
          <p:nvPr/>
        </p:nvSpPr>
        <p:spPr>
          <a:xfrm>
            <a:off x="548640" y="1371600"/>
            <a:ext cx="10972800" cy="457200"/>
          </a:xfrm>
          <a:prstGeom prst="rect">
            <a:avLst/>
          </a:prstGeom>
          <a:noFill/>
          <a:ln/>
        </p:spPr>
        <p:txBody>
          <a:bodyPr wrap="square" rtlCol="0" anchor="ctr"/>
          <a:lstStyle/>
          <a:p>
            <a:pPr algn="ctr" indent="0" marL="0">
              <a:buNone/>
            </a:pPr>
            <a:r>
              <a:rPr lang="en-US" sz="2000" b="1" dirty="0">
                <a:solidFill>
                  <a:srgbClr val="1E3A5F"/>
                </a:solidFill>
                <a:latin typeface="Calibri" pitchFamily="34" charset="0"/>
                <a:ea typeface="Calibri" pitchFamily="34" charset="-122"/>
                <a:cs typeface="Calibri" pitchFamily="34" charset="-120"/>
              </a:rPr>
              <a:t>Complete Flow Walkthrough</a:t>
            </a:r>
            <a:endParaRPr lang="en-US" sz="2000" dirty="0"/>
          </a:p>
        </p:txBody>
      </p:sp>
      <p:sp>
        <p:nvSpPr>
          <p:cNvPr id="7" name="Shape 5"/>
          <p:cNvSpPr/>
          <p:nvPr/>
        </p:nvSpPr>
        <p:spPr>
          <a:xfrm>
            <a:off x="1828800" y="2057400"/>
            <a:ext cx="457200" cy="457200"/>
          </a:xfrm>
          <a:prstGeom prst="ellipse">
            <a:avLst/>
          </a:prstGeom>
          <a:solidFill>
            <a:srgbClr val="2563EB"/>
          </a:solidFill>
          <a:ln/>
        </p:spPr>
      </p:sp>
      <p:sp>
        <p:nvSpPr>
          <p:cNvPr id="8" name="Text 6"/>
          <p:cNvSpPr/>
          <p:nvPr/>
        </p:nvSpPr>
        <p:spPr>
          <a:xfrm>
            <a:off x="1828800" y="2057400"/>
            <a:ext cx="457200" cy="45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9" name="Text 7"/>
          <p:cNvSpPr/>
          <p:nvPr/>
        </p:nvSpPr>
        <p:spPr>
          <a:xfrm>
            <a:off x="2468880" y="2011680"/>
            <a:ext cx="3200400" cy="274320"/>
          </a:xfrm>
          <a:prstGeom prst="rect">
            <a:avLst/>
          </a:prstGeom>
          <a:noFill/>
          <a:ln/>
        </p:spPr>
        <p:txBody>
          <a:bodyPr wrap="square" rtlCol="0" anchor="ctr"/>
          <a:lstStyle/>
          <a:p>
            <a:pPr indent="0" marL="0">
              <a:buNone/>
            </a:pPr>
            <a:r>
              <a:rPr lang="en-US" sz="1600" b="1" dirty="0">
                <a:solidFill>
                  <a:srgbClr val="1E3A5F"/>
                </a:solidFill>
                <a:latin typeface="Calibri" pitchFamily="34" charset="0"/>
                <a:ea typeface="Calibri" pitchFamily="34" charset="-122"/>
                <a:cs typeface="Calibri" pitchFamily="34" charset="-120"/>
              </a:rPr>
              <a:t>Submit Idea</a:t>
            </a:r>
            <a:endParaRPr lang="en-US" sz="1600" dirty="0"/>
          </a:p>
        </p:txBody>
      </p:sp>
      <p:sp>
        <p:nvSpPr>
          <p:cNvPr id="10" name="Text 8"/>
          <p:cNvSpPr/>
          <p:nvPr/>
        </p:nvSpPr>
        <p:spPr>
          <a:xfrm>
            <a:off x="2468880" y="2286000"/>
            <a:ext cx="6858000" cy="274320"/>
          </a:xfrm>
          <a:prstGeom prst="rect">
            <a:avLst/>
          </a:prstGeom>
          <a:noFill/>
          <a:ln/>
        </p:spPr>
        <p:txBody>
          <a:bodyPr wrap="square" rtlCol="0" anchor="ctr"/>
          <a:lstStyle/>
          <a:p>
            <a:pPr indent="0" marL="0">
              <a:buNone/>
            </a:pPr>
            <a:r>
              <a:rPr lang="en-US" sz="1300" dirty="0">
                <a:solidFill>
                  <a:srgbClr val="64748B"/>
                </a:solidFill>
                <a:latin typeface="Calibri" pitchFamily="34" charset="0"/>
                <a:ea typeface="Calibri" pitchFamily="34" charset="-122"/>
                <a:cs typeface="Calibri" pitchFamily="34" charset="-120"/>
              </a:rPr>
              <a:t>"Remote work reshaping real estate"</a:t>
            </a:r>
            <a:endParaRPr lang="en-US" sz="1300" dirty="0"/>
          </a:p>
        </p:txBody>
      </p:sp>
      <p:sp>
        <p:nvSpPr>
          <p:cNvPr id="11" name="Shape 9"/>
          <p:cNvSpPr/>
          <p:nvPr/>
        </p:nvSpPr>
        <p:spPr>
          <a:xfrm>
            <a:off x="2048256" y="2532888"/>
            <a:ext cx="27432" cy="228600"/>
          </a:xfrm>
          <a:prstGeom prst="rect">
            <a:avLst/>
          </a:prstGeom>
          <a:solidFill>
            <a:srgbClr val="2563EB"/>
          </a:solidFill>
          <a:ln/>
        </p:spPr>
      </p:sp>
      <p:sp>
        <p:nvSpPr>
          <p:cNvPr id="12" name="Shape 10"/>
          <p:cNvSpPr/>
          <p:nvPr/>
        </p:nvSpPr>
        <p:spPr>
          <a:xfrm>
            <a:off x="1828800" y="2807208"/>
            <a:ext cx="457200" cy="457200"/>
          </a:xfrm>
          <a:prstGeom prst="ellipse">
            <a:avLst/>
          </a:prstGeom>
          <a:solidFill>
            <a:srgbClr val="2563EB"/>
          </a:solidFill>
          <a:ln/>
        </p:spPr>
      </p:sp>
      <p:sp>
        <p:nvSpPr>
          <p:cNvPr id="13" name="Text 11"/>
          <p:cNvSpPr/>
          <p:nvPr/>
        </p:nvSpPr>
        <p:spPr>
          <a:xfrm>
            <a:off x="1828800" y="2807208"/>
            <a:ext cx="457200" cy="45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4" name="Text 12"/>
          <p:cNvSpPr/>
          <p:nvPr/>
        </p:nvSpPr>
        <p:spPr>
          <a:xfrm>
            <a:off x="2468880" y="2761488"/>
            <a:ext cx="3200400" cy="274320"/>
          </a:xfrm>
          <a:prstGeom prst="rect">
            <a:avLst/>
          </a:prstGeom>
          <a:noFill/>
          <a:ln/>
        </p:spPr>
        <p:txBody>
          <a:bodyPr wrap="square" rtlCol="0" anchor="ctr"/>
          <a:lstStyle/>
          <a:p>
            <a:pPr indent="0" marL="0">
              <a:buNone/>
            </a:pPr>
            <a:r>
              <a:rPr lang="en-US" sz="1600" b="1" dirty="0">
                <a:solidFill>
                  <a:srgbClr val="1E3A5F"/>
                </a:solidFill>
                <a:latin typeface="Calibri" pitchFamily="34" charset="0"/>
                <a:ea typeface="Calibri" pitchFamily="34" charset="-122"/>
                <a:cs typeface="Calibri" pitchFamily="34" charset="-120"/>
              </a:rPr>
              <a:t>Generate Drafts</a:t>
            </a:r>
            <a:endParaRPr lang="en-US" sz="1600" dirty="0"/>
          </a:p>
        </p:txBody>
      </p:sp>
      <p:sp>
        <p:nvSpPr>
          <p:cNvPr id="15" name="Text 13"/>
          <p:cNvSpPr/>
          <p:nvPr/>
        </p:nvSpPr>
        <p:spPr>
          <a:xfrm>
            <a:off x="2468880" y="3035808"/>
            <a:ext cx="6858000" cy="274320"/>
          </a:xfrm>
          <a:prstGeom prst="rect">
            <a:avLst/>
          </a:prstGeom>
          <a:noFill/>
          <a:ln/>
        </p:spPr>
        <p:txBody>
          <a:bodyPr wrap="square" rtlCol="0" anchor="ctr"/>
          <a:lstStyle/>
          <a:p>
            <a:pPr indent="0" marL="0">
              <a:buNone/>
            </a:pPr>
            <a:r>
              <a:rPr lang="en-US" sz="1300" dirty="0">
                <a:solidFill>
                  <a:srgbClr val="64748B"/>
                </a:solidFill>
                <a:latin typeface="Calibri" pitchFamily="34" charset="0"/>
                <a:ea typeface="Calibri" pitchFamily="34" charset="-122"/>
                <a:cs typeface="Calibri" pitchFamily="34" charset="-120"/>
              </a:rPr>
              <a:t>3 AI drafts: Contrarian, How-To, Data &amp; Trends</a:t>
            </a:r>
            <a:endParaRPr lang="en-US" sz="1300" dirty="0"/>
          </a:p>
        </p:txBody>
      </p:sp>
      <p:sp>
        <p:nvSpPr>
          <p:cNvPr id="16" name="Shape 14"/>
          <p:cNvSpPr/>
          <p:nvPr/>
        </p:nvSpPr>
        <p:spPr>
          <a:xfrm>
            <a:off x="2048256" y="3282696"/>
            <a:ext cx="27432" cy="228600"/>
          </a:xfrm>
          <a:prstGeom prst="rect">
            <a:avLst/>
          </a:prstGeom>
          <a:solidFill>
            <a:srgbClr val="2563EB"/>
          </a:solidFill>
          <a:ln/>
        </p:spPr>
      </p:sp>
      <p:sp>
        <p:nvSpPr>
          <p:cNvPr id="17" name="Shape 15"/>
          <p:cNvSpPr/>
          <p:nvPr/>
        </p:nvSpPr>
        <p:spPr>
          <a:xfrm>
            <a:off x="1828800" y="3557016"/>
            <a:ext cx="457200" cy="457200"/>
          </a:xfrm>
          <a:prstGeom prst="ellipse">
            <a:avLst/>
          </a:prstGeom>
          <a:solidFill>
            <a:srgbClr val="2563EB"/>
          </a:solidFill>
          <a:ln/>
        </p:spPr>
      </p:sp>
      <p:sp>
        <p:nvSpPr>
          <p:cNvPr id="18" name="Text 16"/>
          <p:cNvSpPr/>
          <p:nvPr/>
        </p:nvSpPr>
        <p:spPr>
          <a:xfrm>
            <a:off x="1828800" y="3557016"/>
            <a:ext cx="457200" cy="45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9" name="Text 17"/>
          <p:cNvSpPr/>
          <p:nvPr/>
        </p:nvSpPr>
        <p:spPr>
          <a:xfrm>
            <a:off x="2468880" y="3511296"/>
            <a:ext cx="3200400" cy="274320"/>
          </a:xfrm>
          <a:prstGeom prst="rect">
            <a:avLst/>
          </a:prstGeom>
          <a:noFill/>
          <a:ln/>
        </p:spPr>
        <p:txBody>
          <a:bodyPr wrap="square" rtlCol="0" anchor="ctr"/>
          <a:lstStyle/>
          <a:p>
            <a:pPr indent="0" marL="0">
              <a:buNone/>
            </a:pPr>
            <a:r>
              <a:rPr lang="en-US" sz="1600" b="1" dirty="0">
                <a:solidFill>
                  <a:srgbClr val="1E3A5F"/>
                </a:solidFill>
                <a:latin typeface="Calibri" pitchFamily="34" charset="0"/>
                <a:ea typeface="Calibri" pitchFamily="34" charset="-122"/>
                <a:cs typeface="Calibri" pitchFamily="34" charset="-120"/>
              </a:rPr>
              <a:t>Select Best Draft</a:t>
            </a:r>
            <a:endParaRPr lang="en-US" sz="1600" dirty="0"/>
          </a:p>
        </p:txBody>
      </p:sp>
      <p:sp>
        <p:nvSpPr>
          <p:cNvPr id="20" name="Text 18"/>
          <p:cNvSpPr/>
          <p:nvPr/>
        </p:nvSpPr>
        <p:spPr>
          <a:xfrm>
            <a:off x="2468880" y="3785616"/>
            <a:ext cx="6858000" cy="274320"/>
          </a:xfrm>
          <a:prstGeom prst="rect">
            <a:avLst/>
          </a:prstGeom>
          <a:noFill/>
          <a:ln/>
        </p:spPr>
        <p:txBody>
          <a:bodyPr wrap="square" rtlCol="0" anchor="ctr"/>
          <a:lstStyle/>
          <a:p>
            <a:pPr indent="0" marL="0">
              <a:buNone/>
            </a:pPr>
            <a:r>
              <a:rPr lang="en-US" sz="1300" dirty="0">
                <a:solidFill>
                  <a:srgbClr val="64748B"/>
                </a:solidFill>
                <a:latin typeface="Calibri" pitchFamily="34" charset="0"/>
                <a:ea typeface="Calibri" pitchFamily="34" charset="-122"/>
                <a:cs typeface="Calibri" pitchFamily="34" charset="-120"/>
              </a:rPr>
              <a:t>Review and choose the strongest angle</a:t>
            </a:r>
            <a:endParaRPr lang="en-US" sz="1300" dirty="0"/>
          </a:p>
        </p:txBody>
      </p:sp>
      <p:sp>
        <p:nvSpPr>
          <p:cNvPr id="21" name="Shape 19"/>
          <p:cNvSpPr/>
          <p:nvPr/>
        </p:nvSpPr>
        <p:spPr>
          <a:xfrm>
            <a:off x="2048256" y="4032504"/>
            <a:ext cx="27432" cy="228600"/>
          </a:xfrm>
          <a:prstGeom prst="rect">
            <a:avLst/>
          </a:prstGeom>
          <a:solidFill>
            <a:srgbClr val="2563EB"/>
          </a:solidFill>
          <a:ln/>
        </p:spPr>
      </p:sp>
      <p:sp>
        <p:nvSpPr>
          <p:cNvPr id="22" name="Shape 20"/>
          <p:cNvSpPr/>
          <p:nvPr/>
        </p:nvSpPr>
        <p:spPr>
          <a:xfrm>
            <a:off x="1828800" y="4306824"/>
            <a:ext cx="457200" cy="457200"/>
          </a:xfrm>
          <a:prstGeom prst="ellipse">
            <a:avLst/>
          </a:prstGeom>
          <a:solidFill>
            <a:srgbClr val="2563EB"/>
          </a:solidFill>
          <a:ln/>
        </p:spPr>
      </p:sp>
      <p:sp>
        <p:nvSpPr>
          <p:cNvPr id="23" name="Text 21"/>
          <p:cNvSpPr/>
          <p:nvPr/>
        </p:nvSpPr>
        <p:spPr>
          <a:xfrm>
            <a:off x="1828800" y="4306824"/>
            <a:ext cx="457200" cy="45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Text 22"/>
          <p:cNvSpPr/>
          <p:nvPr/>
        </p:nvSpPr>
        <p:spPr>
          <a:xfrm>
            <a:off x="2468880" y="4261104"/>
            <a:ext cx="3200400" cy="274320"/>
          </a:xfrm>
          <a:prstGeom prst="rect">
            <a:avLst/>
          </a:prstGeom>
          <a:noFill/>
          <a:ln/>
        </p:spPr>
        <p:txBody>
          <a:bodyPr wrap="square" rtlCol="0" anchor="ctr"/>
          <a:lstStyle/>
          <a:p>
            <a:pPr indent="0" marL="0">
              <a:buNone/>
            </a:pPr>
            <a:r>
              <a:rPr lang="en-US" sz="1600" b="1" dirty="0">
                <a:solidFill>
                  <a:srgbClr val="1E3A5F"/>
                </a:solidFill>
                <a:latin typeface="Calibri" pitchFamily="34" charset="0"/>
                <a:ea typeface="Calibri" pitchFamily="34" charset="-122"/>
                <a:cs typeface="Calibri" pitchFamily="34" charset="-120"/>
              </a:rPr>
              <a:t>Adapt Content</a:t>
            </a:r>
            <a:endParaRPr lang="en-US" sz="1600" dirty="0"/>
          </a:p>
        </p:txBody>
      </p:sp>
      <p:sp>
        <p:nvSpPr>
          <p:cNvPr id="25" name="Text 23"/>
          <p:cNvSpPr/>
          <p:nvPr/>
        </p:nvSpPr>
        <p:spPr>
          <a:xfrm>
            <a:off x="2468880" y="4535424"/>
            <a:ext cx="6858000" cy="274320"/>
          </a:xfrm>
          <a:prstGeom prst="rect">
            <a:avLst/>
          </a:prstGeom>
          <a:noFill/>
          <a:ln/>
        </p:spPr>
        <p:txBody>
          <a:bodyPr wrap="square" rtlCol="0" anchor="ctr"/>
          <a:lstStyle/>
          <a:p>
            <a:pPr indent="0" marL="0">
              <a:buNone/>
            </a:pPr>
            <a:r>
              <a:rPr lang="en-US" sz="1300" dirty="0">
                <a:solidFill>
                  <a:srgbClr val="64748B"/>
                </a:solidFill>
                <a:latin typeface="Calibri" pitchFamily="34" charset="0"/>
                <a:ea typeface="Calibri" pitchFamily="34" charset="-122"/>
                <a:cs typeface="Calibri" pitchFamily="34" charset="-120"/>
              </a:rPr>
              <a:t>Auto-format for LinkedIn, X/Twitter, Newsletter</a:t>
            </a:r>
            <a:endParaRPr lang="en-US" sz="1300" dirty="0"/>
          </a:p>
        </p:txBody>
      </p:sp>
      <p:sp>
        <p:nvSpPr>
          <p:cNvPr id="26" name="Shape 24"/>
          <p:cNvSpPr/>
          <p:nvPr/>
        </p:nvSpPr>
        <p:spPr>
          <a:xfrm>
            <a:off x="2048256" y="4782312"/>
            <a:ext cx="27432" cy="228600"/>
          </a:xfrm>
          <a:prstGeom prst="rect">
            <a:avLst/>
          </a:prstGeom>
          <a:solidFill>
            <a:srgbClr val="2563EB"/>
          </a:solidFill>
          <a:ln/>
        </p:spPr>
      </p:sp>
      <p:sp>
        <p:nvSpPr>
          <p:cNvPr id="27" name="Shape 25"/>
          <p:cNvSpPr/>
          <p:nvPr/>
        </p:nvSpPr>
        <p:spPr>
          <a:xfrm>
            <a:off x="1828800" y="5056632"/>
            <a:ext cx="457200" cy="457200"/>
          </a:xfrm>
          <a:prstGeom prst="ellipse">
            <a:avLst/>
          </a:prstGeom>
          <a:solidFill>
            <a:srgbClr val="2563EB"/>
          </a:solidFill>
          <a:ln/>
        </p:spPr>
      </p:sp>
      <p:sp>
        <p:nvSpPr>
          <p:cNvPr id="28" name="Text 26"/>
          <p:cNvSpPr/>
          <p:nvPr/>
        </p:nvSpPr>
        <p:spPr>
          <a:xfrm>
            <a:off x="1828800" y="5056632"/>
            <a:ext cx="457200" cy="45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9" name="Text 27"/>
          <p:cNvSpPr/>
          <p:nvPr/>
        </p:nvSpPr>
        <p:spPr>
          <a:xfrm>
            <a:off x="2468880" y="5010912"/>
            <a:ext cx="3200400" cy="274320"/>
          </a:xfrm>
          <a:prstGeom prst="rect">
            <a:avLst/>
          </a:prstGeom>
          <a:noFill/>
          <a:ln/>
        </p:spPr>
        <p:txBody>
          <a:bodyPr wrap="square" rtlCol="0" anchor="ctr"/>
          <a:lstStyle/>
          <a:p>
            <a:pPr indent="0" marL="0">
              <a:buNone/>
            </a:pPr>
            <a:r>
              <a:rPr lang="en-US" sz="1600" b="1" dirty="0">
                <a:solidFill>
                  <a:srgbClr val="1E3A5F"/>
                </a:solidFill>
                <a:latin typeface="Calibri" pitchFamily="34" charset="0"/>
                <a:ea typeface="Calibri" pitchFamily="34" charset="-122"/>
                <a:cs typeface="Calibri" pitchFamily="34" charset="-120"/>
              </a:rPr>
              <a:t>Approve &amp; Publish</a:t>
            </a:r>
            <a:endParaRPr lang="en-US" sz="1600" dirty="0"/>
          </a:p>
        </p:txBody>
      </p:sp>
      <p:sp>
        <p:nvSpPr>
          <p:cNvPr id="30" name="Text 28"/>
          <p:cNvSpPr/>
          <p:nvPr/>
        </p:nvSpPr>
        <p:spPr>
          <a:xfrm>
            <a:off x="2468880" y="5285232"/>
            <a:ext cx="6858000" cy="274320"/>
          </a:xfrm>
          <a:prstGeom prst="rect">
            <a:avLst/>
          </a:prstGeom>
          <a:noFill/>
          <a:ln/>
        </p:spPr>
        <p:txBody>
          <a:bodyPr wrap="square" rtlCol="0" anchor="ctr"/>
          <a:lstStyle/>
          <a:p>
            <a:pPr indent="0" marL="0">
              <a:buNone/>
            </a:pPr>
            <a:r>
              <a:rPr lang="en-US" sz="1300" dirty="0">
                <a:solidFill>
                  <a:srgbClr val="64748B"/>
                </a:solidFill>
                <a:latin typeface="Calibri" pitchFamily="34" charset="0"/>
                <a:ea typeface="Calibri" pitchFamily="34" charset="-122"/>
                <a:cs typeface="Calibri" pitchFamily="34" charset="-120"/>
              </a:rPr>
              <a:t>Admin/Owner approves, one-click publish</a:t>
            </a:r>
            <a:endParaRPr lang="en-US" sz="1300" dirty="0"/>
          </a:p>
        </p:txBody>
      </p:sp>
      <p:sp>
        <p:nvSpPr>
          <p:cNvPr id="31" name="Shape 29"/>
          <p:cNvSpPr/>
          <p:nvPr/>
        </p:nvSpPr>
        <p:spPr>
          <a:xfrm>
            <a:off x="2048256" y="5532120"/>
            <a:ext cx="27432" cy="228600"/>
          </a:xfrm>
          <a:prstGeom prst="rect">
            <a:avLst/>
          </a:prstGeom>
          <a:solidFill>
            <a:srgbClr val="2563EB"/>
          </a:solidFill>
          <a:ln/>
        </p:spPr>
      </p:sp>
      <p:sp>
        <p:nvSpPr>
          <p:cNvPr id="32" name="Shape 30"/>
          <p:cNvSpPr/>
          <p:nvPr/>
        </p:nvSpPr>
        <p:spPr>
          <a:xfrm>
            <a:off x="1828800" y="5806440"/>
            <a:ext cx="457200" cy="457200"/>
          </a:xfrm>
          <a:prstGeom prst="ellipse">
            <a:avLst/>
          </a:prstGeom>
          <a:solidFill>
            <a:srgbClr val="2563EB"/>
          </a:solidFill>
          <a:ln/>
        </p:spPr>
      </p:sp>
      <p:sp>
        <p:nvSpPr>
          <p:cNvPr id="33" name="Text 31"/>
          <p:cNvSpPr/>
          <p:nvPr/>
        </p:nvSpPr>
        <p:spPr>
          <a:xfrm>
            <a:off x="1828800" y="5806440"/>
            <a:ext cx="457200" cy="45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34" name="Text 32"/>
          <p:cNvSpPr/>
          <p:nvPr/>
        </p:nvSpPr>
        <p:spPr>
          <a:xfrm>
            <a:off x="2468880" y="5760720"/>
            <a:ext cx="3200400" cy="274320"/>
          </a:xfrm>
          <a:prstGeom prst="rect">
            <a:avLst/>
          </a:prstGeom>
          <a:noFill/>
          <a:ln/>
        </p:spPr>
        <p:txBody>
          <a:bodyPr wrap="square" rtlCol="0" anchor="ctr"/>
          <a:lstStyle/>
          <a:p>
            <a:pPr indent="0" marL="0">
              <a:buNone/>
            </a:pPr>
            <a:r>
              <a:rPr lang="en-US" sz="1600" b="1" dirty="0">
                <a:solidFill>
                  <a:srgbClr val="1E3A5F"/>
                </a:solidFill>
                <a:latin typeface="Calibri" pitchFamily="34" charset="0"/>
                <a:ea typeface="Calibri" pitchFamily="34" charset="-122"/>
                <a:cs typeface="Calibri" pitchFamily="34" charset="-120"/>
              </a:rPr>
              <a:t>Verify</a:t>
            </a:r>
            <a:endParaRPr lang="en-US" sz="1600" dirty="0"/>
          </a:p>
        </p:txBody>
      </p:sp>
      <p:sp>
        <p:nvSpPr>
          <p:cNvPr id="35" name="Text 33"/>
          <p:cNvSpPr/>
          <p:nvPr/>
        </p:nvSpPr>
        <p:spPr>
          <a:xfrm>
            <a:off x="2468880" y="6035040"/>
            <a:ext cx="6858000" cy="274320"/>
          </a:xfrm>
          <a:prstGeom prst="rect">
            <a:avLst/>
          </a:prstGeom>
          <a:noFill/>
          <a:ln/>
        </p:spPr>
        <p:txBody>
          <a:bodyPr wrap="square" rtlCol="0" anchor="ctr"/>
          <a:lstStyle/>
          <a:p>
            <a:pPr indent="0" marL="0">
              <a:buNone/>
            </a:pPr>
            <a:r>
              <a:rPr lang="en-US" sz="1300" dirty="0">
                <a:solidFill>
                  <a:srgbClr val="64748B"/>
                </a:solidFill>
                <a:latin typeface="Calibri" pitchFamily="34" charset="0"/>
                <a:ea typeface="Calibri" pitchFamily="34" charset="-122"/>
                <a:cs typeface="Calibri" pitchFamily="34" charset="-120"/>
              </a:rPr>
              <a:t>Confirm published content on each platform</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E3A5F"/>
          </a:solidFill>
          <a:ln/>
        </p:spPr>
      </p:sp>
      <p:sp>
        <p:nvSpPr>
          <p:cNvPr id="3" name="Shape 1"/>
          <p:cNvSpPr/>
          <p:nvPr/>
        </p:nvSpPr>
        <p:spPr>
          <a:xfrm>
            <a:off x="0" y="2560320"/>
            <a:ext cx="12192000" cy="54864"/>
          </a:xfrm>
          <a:prstGeom prst="rect">
            <a:avLst/>
          </a:prstGeom>
          <a:solidFill>
            <a:srgbClr val="2563EB"/>
          </a:solidFill>
          <a:ln/>
        </p:spPr>
      </p:sp>
      <p:sp>
        <p:nvSpPr>
          <p:cNvPr id="4" name="Text 2"/>
          <p:cNvSpPr/>
          <p:nvPr/>
        </p:nvSpPr>
        <p:spPr>
          <a:xfrm>
            <a:off x="731520" y="731520"/>
            <a:ext cx="10515600" cy="1371600"/>
          </a:xfrm>
          <a:prstGeom prst="rect">
            <a:avLst/>
          </a:prstGeom>
          <a:noFill/>
          <a:ln/>
        </p:spPr>
        <p:txBody>
          <a:bodyPr wrap="square" rtlCol="0" anchor="ctr"/>
          <a:lstStyle/>
          <a:p>
            <a:pPr algn="ctr" indent="0" marL="0">
              <a:buNone/>
            </a:pPr>
            <a:r>
              <a:rPr lang="en-US" sz="4400" b="1" dirty="0">
                <a:solidFill>
                  <a:srgbClr val="FFFFFF"/>
                </a:solidFill>
                <a:latin typeface="Calibri" pitchFamily="34" charset="0"/>
                <a:ea typeface="Calibri" pitchFamily="34" charset="-122"/>
                <a:cs typeface="Calibri" pitchFamily="34" charset="-120"/>
              </a:rPr>
              <a:t>Thank You</a:t>
            </a:r>
            <a:endParaRPr lang="en-US" sz="4400" dirty="0"/>
          </a:p>
        </p:txBody>
      </p:sp>
      <p:sp>
        <p:nvSpPr>
          <p:cNvPr id="5" name="Text 3"/>
          <p:cNvSpPr/>
          <p:nvPr/>
        </p:nvSpPr>
        <p:spPr>
          <a:xfrm>
            <a:off x="731520" y="2926080"/>
            <a:ext cx="10515600" cy="640080"/>
          </a:xfrm>
          <a:prstGeom prst="rect">
            <a:avLst/>
          </a:prstGeom>
          <a:noFill/>
          <a:ln/>
        </p:spPr>
        <p:txBody>
          <a:bodyPr wrap="square" rtlCol="0" anchor="ctr"/>
          <a:lstStyle/>
          <a:p>
            <a:pPr algn="ctr" indent="0" marL="0">
              <a:buNone/>
            </a:pPr>
            <a:r>
              <a:rPr lang="en-US" sz="2200" dirty="0">
                <a:solidFill>
                  <a:srgbClr val="FFFFFF"/>
                </a:solidFill>
                <a:latin typeface="Calibri" pitchFamily="34" charset="0"/>
                <a:ea typeface="Calibri" pitchFamily="34" charset="-122"/>
                <a:cs typeface="Calibri" pitchFamily="34" charset="-120"/>
              </a:rPr>
              <a:t>Built by Ayodele Oluwafimidaraayo</a:t>
            </a:r>
            <a:endParaRPr lang="en-US" sz="2200" dirty="0"/>
          </a:p>
        </p:txBody>
      </p:sp>
      <p:sp>
        <p:nvSpPr>
          <p:cNvPr id="6" name="Text 4"/>
          <p:cNvSpPr/>
          <p:nvPr/>
        </p:nvSpPr>
        <p:spPr>
          <a:xfrm>
            <a:off x="731520" y="3657600"/>
            <a:ext cx="10515600" cy="457200"/>
          </a:xfrm>
          <a:prstGeom prst="rect">
            <a:avLst/>
          </a:prstGeom>
          <a:noFill/>
          <a:ln/>
        </p:spPr>
        <p:txBody>
          <a:bodyPr wrap="square" rtlCol="0" anchor="ctr"/>
          <a:lstStyle/>
          <a:p>
            <a:pPr algn="ctr" indent="0" marL="0">
              <a:buNone/>
            </a:pPr>
            <a:r>
              <a:rPr lang="en-US" sz="1800" dirty="0">
                <a:solidFill>
                  <a:srgbClr val="2563EB"/>
                </a:solidFill>
                <a:latin typeface="Calibri" pitchFamily="34" charset="0"/>
                <a:ea typeface="Calibri" pitchFamily="34" charset="-122"/>
                <a:cs typeface="Calibri" pitchFamily="34" charset="-120"/>
              </a:rPr>
              <a:t>React + n8n + Supabase + OpenAI</a:t>
            </a:r>
            <a:endParaRPr lang="en-US" sz="1800" dirty="0"/>
          </a:p>
        </p:txBody>
      </p:sp>
      <p:sp>
        <p:nvSpPr>
          <p:cNvPr id="7" name="Text 5"/>
          <p:cNvSpPr/>
          <p:nvPr/>
        </p:nvSpPr>
        <p:spPr>
          <a:xfrm>
            <a:off x="3200400" y="4389120"/>
            <a:ext cx="5760720" cy="320040"/>
          </a:xfrm>
          <a:prstGeom prst="rect">
            <a:avLst/>
          </a:prstGeom>
          <a:noFill/>
          <a:ln/>
        </p:spPr>
        <p:txBody>
          <a:bodyPr wrap="square" rtlCol="0" anchor="ctr"/>
          <a:lstStyle/>
          <a:p>
            <a:pPr algn="ctr" indent="0" marL="0">
              <a:buNone/>
            </a:pPr>
            <a:r>
              <a:rPr lang="en-US" sz="1400" dirty="0">
                <a:solidFill>
                  <a:srgbClr val="64748B"/>
                </a:solidFill>
                <a:latin typeface="Calibri" pitchFamily="34" charset="0"/>
                <a:ea typeface="Calibri" pitchFamily="34" charset="-122"/>
                <a:cs typeface="Calibri" pitchFamily="34" charset="-120"/>
              </a:rPr>
              <a:t>▸ 2 n8n workflows, 107+ nodes</a:t>
            </a:r>
            <a:endParaRPr lang="en-US" sz="1400" dirty="0"/>
          </a:p>
        </p:txBody>
      </p:sp>
      <p:sp>
        <p:nvSpPr>
          <p:cNvPr id="8" name="Text 6"/>
          <p:cNvSpPr/>
          <p:nvPr/>
        </p:nvSpPr>
        <p:spPr>
          <a:xfrm>
            <a:off x="3200400" y="4736592"/>
            <a:ext cx="5760720" cy="320040"/>
          </a:xfrm>
          <a:prstGeom prst="rect">
            <a:avLst/>
          </a:prstGeom>
          <a:noFill/>
          <a:ln/>
        </p:spPr>
        <p:txBody>
          <a:bodyPr wrap="square" rtlCol="0" anchor="ctr"/>
          <a:lstStyle/>
          <a:p>
            <a:pPr algn="ctr" indent="0" marL="0">
              <a:buNone/>
            </a:pPr>
            <a:r>
              <a:rPr lang="en-US" sz="1400" dirty="0">
                <a:solidFill>
                  <a:srgbClr val="64748B"/>
                </a:solidFill>
                <a:latin typeface="Calibri" pitchFamily="34" charset="0"/>
                <a:ea typeface="Calibri" pitchFamily="34" charset="-122"/>
                <a:cs typeface="Calibri" pitchFamily="34" charset="-120"/>
              </a:rPr>
              <a:t>▸ 3 publishing platforms (LinkedIn + Newsletter live)</a:t>
            </a:r>
            <a:endParaRPr lang="en-US" sz="1400" dirty="0"/>
          </a:p>
        </p:txBody>
      </p:sp>
      <p:sp>
        <p:nvSpPr>
          <p:cNvPr id="9" name="Text 7"/>
          <p:cNvSpPr/>
          <p:nvPr/>
        </p:nvSpPr>
        <p:spPr>
          <a:xfrm>
            <a:off x="3200400" y="5084064"/>
            <a:ext cx="5760720" cy="320040"/>
          </a:xfrm>
          <a:prstGeom prst="rect">
            <a:avLst/>
          </a:prstGeom>
          <a:noFill/>
          <a:ln/>
        </p:spPr>
        <p:txBody>
          <a:bodyPr wrap="square" rtlCol="0" anchor="ctr"/>
          <a:lstStyle/>
          <a:p>
            <a:pPr algn="ctr" indent="0" marL="0">
              <a:buNone/>
            </a:pPr>
            <a:r>
              <a:rPr lang="en-US" sz="1400" dirty="0">
                <a:solidFill>
                  <a:srgbClr val="64748B"/>
                </a:solidFill>
                <a:latin typeface="Calibri" pitchFamily="34" charset="0"/>
                <a:ea typeface="Calibri" pitchFamily="34" charset="-122"/>
                <a:cs typeface="Calibri" pitchFamily="34" charset="-120"/>
              </a:rPr>
              <a:t>▸ 4-tier RBAC system</a:t>
            </a:r>
            <a:endParaRPr lang="en-US" sz="1400" dirty="0"/>
          </a:p>
        </p:txBody>
      </p:sp>
      <p:sp>
        <p:nvSpPr>
          <p:cNvPr id="10" name="Text 8"/>
          <p:cNvSpPr/>
          <p:nvPr/>
        </p:nvSpPr>
        <p:spPr>
          <a:xfrm>
            <a:off x="3200400" y="5431536"/>
            <a:ext cx="5760720" cy="320040"/>
          </a:xfrm>
          <a:prstGeom prst="rect">
            <a:avLst/>
          </a:prstGeom>
          <a:noFill/>
          <a:ln/>
        </p:spPr>
        <p:txBody>
          <a:bodyPr wrap="square" rtlCol="0" anchor="ctr"/>
          <a:lstStyle/>
          <a:p>
            <a:pPr algn="ctr" indent="0" marL="0">
              <a:buNone/>
            </a:pPr>
            <a:r>
              <a:rPr lang="en-US" sz="1400" dirty="0">
                <a:solidFill>
                  <a:srgbClr val="64748B"/>
                </a:solidFill>
                <a:latin typeface="Calibri" pitchFamily="34" charset="0"/>
                <a:ea typeface="Calibri" pitchFamily="34" charset="-122"/>
                <a:cs typeface="Calibri" pitchFamily="34" charset="-120"/>
              </a:rPr>
              <a:t>▸ 93%+ success rate under load</a:t>
            </a:r>
            <a:endParaRPr lang="en-US" sz="1400" dirty="0"/>
          </a:p>
        </p:txBody>
      </p:sp>
      <p:sp>
        <p:nvSpPr>
          <p:cNvPr id="11" name="Text 9"/>
          <p:cNvSpPr/>
          <p:nvPr/>
        </p:nvSpPr>
        <p:spPr>
          <a:xfrm>
            <a:off x="3200400" y="5779008"/>
            <a:ext cx="5760720" cy="320040"/>
          </a:xfrm>
          <a:prstGeom prst="rect">
            <a:avLst/>
          </a:prstGeom>
          <a:noFill/>
          <a:ln/>
        </p:spPr>
        <p:txBody>
          <a:bodyPr wrap="square" rtlCol="0" anchor="ctr"/>
          <a:lstStyle/>
          <a:p>
            <a:pPr algn="ctr" indent="0" marL="0">
              <a:buNone/>
            </a:pPr>
            <a:r>
              <a:rPr lang="en-US" sz="1400" dirty="0">
                <a:solidFill>
                  <a:srgbClr val="64748B"/>
                </a:solidFill>
                <a:latin typeface="Calibri" pitchFamily="34" charset="0"/>
                <a:ea typeface="Calibri" pitchFamily="34" charset="-122"/>
                <a:cs typeface="Calibri" pitchFamily="34" charset="-120"/>
              </a:rPr>
              <a:t>▸ 27 test cases passing</a:t>
            </a:r>
            <a:endParaRPr lang="en-US" sz="1400" dirty="0"/>
          </a:p>
        </p:txBody>
      </p:sp>
      <p:sp>
        <p:nvSpPr>
          <p:cNvPr id="12" name="Shape 10"/>
          <p:cNvSpPr/>
          <p:nvPr/>
        </p:nvSpPr>
        <p:spPr>
          <a:xfrm>
            <a:off x="4114800" y="6217920"/>
            <a:ext cx="3931920" cy="36576"/>
          </a:xfrm>
          <a:prstGeom prst="rect">
            <a:avLst/>
          </a:prstGeom>
          <a:solidFill>
            <a:srgbClr val="2563EB"/>
          </a:solidFill>
          <a:ln/>
        </p:spPr>
      </p:sp>
      <p:sp>
        <p:nvSpPr>
          <p:cNvPr id="13" name="Text 11"/>
          <p:cNvSpPr/>
          <p:nvPr/>
        </p:nvSpPr>
        <p:spPr>
          <a:xfrm>
            <a:off x="731520" y="6309360"/>
            <a:ext cx="10515600" cy="457200"/>
          </a:xfrm>
          <a:prstGeom prst="rect">
            <a:avLst/>
          </a:prstGeom>
          <a:noFill/>
          <a:ln/>
        </p:spPr>
        <p:txBody>
          <a:bodyPr wrap="square" rtlCol="0" anchor="ctr"/>
          <a:lstStyle/>
          <a:p>
            <a:pPr algn="ctr" indent="0" marL="0">
              <a:buNone/>
            </a:pPr>
            <a:r>
              <a:rPr lang="en-US" sz="2000" b="1" dirty="0">
                <a:solidFill>
                  <a:srgbClr val="2563EB"/>
                </a:solidFill>
                <a:latin typeface="Calibri" pitchFamily="34" charset="0"/>
                <a:ea typeface="Calibri" pitchFamily="34" charset="-122"/>
                <a:cs typeface="Calibri" pitchFamily="34" charset="-120"/>
              </a:rPr>
              <a:t>Questions?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standalone="yes"?>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vt:lpstr>Fonts Used</vt:lpstr></vt:variant>
			<vt:variant><vt:i4>2</vt:i4></vt:variant>
			<vt:variant><vt:lpstr>Theme</vt:lpstr></vt:variant>
			<vt:variant><vt:i4>1</vt:i4></vt:variant>
			<vt:variant><vt:lpstr>Slide Titles</vt:lpstr></vt:variant>
			<vt:variant><vt:i4>17</vt:i4></vt:variant>
		</vt:vector>
	</HeadingPairs>
	<TitlesOfParts>
		<vt:vector size="20" baseType="lpstr">
			<vt:lpstr>Arial</vt:lpstr>
			<vt:lpstr>Calibri</vt:lpstr>
			<vt:lpstr>Office Theme</vt:lpstr>
			<vt:lpstr>Slide 1</vt:lpstr><vt:lpstr>Slide 2</vt:lpstr><vt:lpstr>Slide 3</vt:lpstr><vt:lpstr>Slide 4</vt:lpstr><vt:lpstr>Slide 5</vt:lpstr><vt:lpstr>Slide 6</vt:lpstr><vt:lpstr>Slide 7</vt:lpstr><vt:lpstr>Slide 8</vt:lpstr><vt:lpstr>Slide 9</vt:lpstr><vt:lpstr>Slide 10</vt:lpstr><vt:lpstr>Slide 11</vt:lpstr><vt:lpstr>Slide 12</vt:lpstr><vt:lpstr>Slide 13</vt:lpstr><vt:lpstr>Slide 14</vt:lpstr><vt:lpstr>Slide 15</vt:lpstr><vt:lpstr>Slide 16</vt:lpstr><vt:lpstr>Slide 17</vt:lpstr>
		</vt:vector>
	</TitlesOfParts>
	<Company>Content Generation & Publishing Automation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Content Generation &amp; Publishing Automation — Project Demo</dc:title>
  <dc:subject>Content Generation &amp; Publishing Automation</dc:subject>
  <dc:creator>Ayodele Oluwafimidaraayo</dc:creator>
  <cp:lastModifiedBy>Ayodele Oluwafimidaraayo</cp:lastModifiedBy>
  <cp:revision>1</cp:revision>
  <dcterms:created xsi:type="dcterms:W3CDTF">2026-03-26T09:50:38Z</dcterms:created>
  <dcterms:modified xsi:type="dcterms:W3CDTF">2026-03-26T09:50:38Z</dcterms:modified>
</cp:coreProperties>
</file>