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Oluwademilade Bickersteth and today I'll be walking you through the Content Generation and Publishing Automation system I built for Fetemi Marketing Agency. This project turns a single content idea into fully formatted, SEO-optimized posts across LinkedIn, X/Twitter, and email newsletters — with a human review step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At Fetemi Marketing Agency, every piece of content had to be manually written and adapted for each platform. A single blog topic could take 2 to 4 hours when you factor in LinkedIn formatting, Twitter's character limits, and newsletter layout. There was no consistent SEO process, quality varied between team members, and scaling was simply not feasible. The creative team was spending more time on reformatting than on actual creative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high-level solution. A content manager submits an idea or a URL through a React frontend. The system — powered by two n8n workflows and a Supabase database — generates three distinct SEO-optimized article drafts. The manager reviews all three and picks the best one. The system then automatically adapts that draft for LinkedIn using PAS format, X/Twitter within 280 characters, and a newsletter format. Finally it publishes or schedules the content. The key design choice is human-in-the-loop: AI generates, humans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split into two n8n workflows connected by Supabase. Workflow 1 handles intake — it receives the idea or URL via webhook, extracts content if needed, generates three AI drafts sequentially to manage API costs, stores them in Supabase, and returns draft IDs to the React frontend. The manager then reviews drafts in the React app and makes a selection. That triggers Workflow 2, which fetches the chosen draft, then adapts it into three platform-specific formats: LinkedIn using Problem-Agitation-Solution format, X/Twitter within the 280-character limit, and a newsletter version. Supabase acts as the shared state store with Row Level Security policies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walk you through the happy path. The content manager opens the React frontend and submits the idea 'Remote work reshaping real estate.' Workflow 1 fires and generates three distinct drafts: a Contrarian take, a How-To guide, and a Data and Trends angle. The manager reviews all three in the UI and selects Draft 2 — the How-To guide. This triggers Workflow 2, which adapts the selected draft into three platform-specific formats. On the right you can see sample outputs: LinkedIn uses Problem-Agitation-Solution format for engagement, X/Twitter is within 280 characters with relevant hashtags, and the newsletter has a compelling subject line and personalized greeting. All three are published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cases are where production systems prove their worth. Here are five key scenarios we handle. Empty inputs get an immediate 400 rejection — no wasted API calls. Duplicate submissions are caught by deduplication hashing and return a 409 with the existing submission ID. If the AI generation fails, we retry with exponential backoff — 1 second, then 2, then 4 — before returning a graceful error through the error-trigger workflow. When X/Twitter content exceeds 280 characters, the system truncates at the nearest sentence boundary to avoid cutting mid-word. And expired submissions older than 24 hours get a clear message asking the user to resubmit. All 27 test cases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production readiness I mapped my implementation against five scoring criteria. Error handling uses retry logic with exponential backoff, a dedicated error-trigger workflow, and status-based error tracking in Supabase. For edge cases, there are 27 test scenarios covering input validation and type coercion. Cost awareness comes through sequential generation instead of parallel — this reduces peak API usage — plus duplicate detection and cached URL extraction to avoid re-fetching. Workflow robustness is ensured through idempotency keys, optimistic locking to prevent race conditions, and dedup hashing. Security relies on n8n's built-in credential store, Supabase Row Level Security policies, and input sanitization. Under pressure testing, the system maintained a 93% or higher success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 me be transparent about the trade-offs. I chose sequential AI generation over parallel to keep costs predictable and avoid rate-limit issues — reliability over speed. SEO rules are hardcoded in the prompts rather than fetched from a database — simplicity over flexibility, though this limits dynamic updates. And the frontend uses simple polling instead of WebSockets — it works well for this use case but doesn't provide real-time updates. For future improvements, I'd add a second approval gate after platform adaptation, a queue depth indicator so managers see pending work, token cost tracking per submission for budget visibility, an automated cleanup workflow for stale submissions, and content versioning so you can see the history of edits. Thank you for your time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2926080"/>
            <a:ext cx="12192000" cy="54864"/>
          </a:xfrm>
          <a:prstGeom prst="rect">
            <a:avLst/>
          </a:prstGeom>
          <a:solidFill>
            <a:srgbClr val="2563EB"/>
          </a:solidFill>
          <a:ln/>
        </p:spPr>
      </p:sp>
      <p:sp>
        <p:nvSpPr>
          <p:cNvPr id="4" name="Text 2"/>
          <p:cNvSpPr/>
          <p:nvPr/>
        </p:nvSpPr>
        <p:spPr>
          <a:xfrm>
            <a:off x="731520" y="731520"/>
            <a:ext cx="10515600" cy="2011680"/>
          </a:xfrm>
          <a:prstGeom prst="rect">
            <a:avLst/>
          </a:prstGeom>
          <a:noFill/>
          <a:ln/>
        </p:spPr>
        <p:txBody>
          <a:bodyPr wrap="square" rtlCol="0" anchor="ctr"/>
          <a:lstStyle/>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Content Generation &amp;</a:t>
            </a:r>
            <a:endParaRPr lang="en-US" sz="4000" dirty="0"/>
          </a:p>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Publishing Automation</a:t>
            </a:r>
            <a:endParaRPr lang="en-US" sz="4000" dirty="0"/>
          </a:p>
        </p:txBody>
      </p:sp>
      <p:sp>
        <p:nvSpPr>
          <p:cNvPr id="5" name="Text 3"/>
          <p:cNvSpPr/>
          <p:nvPr/>
        </p:nvSpPr>
        <p:spPr>
          <a:xfrm>
            <a:off x="731520" y="3200400"/>
            <a:ext cx="10515600" cy="640080"/>
          </a:xfrm>
          <a:prstGeom prst="rect">
            <a:avLst/>
          </a:prstGeom>
          <a:noFill/>
          <a:ln/>
        </p:spPr>
        <p:txBody>
          <a:bodyPr wrap="square" rtlCol="0" anchor="ctr"/>
          <a:lstStyle/>
          <a:p>
            <a:pPr indent="0" marL="0">
              <a:buNone/>
            </a:pPr>
            <a:r>
              <a:rPr lang="en-US" sz="2400" dirty="0">
                <a:solidFill>
                  <a:srgbClr val="2563EB"/>
                </a:solidFill>
                <a:latin typeface="Calibri" pitchFamily="34" charset="0"/>
                <a:ea typeface="Calibri" pitchFamily="34" charset="-122"/>
                <a:cs typeface="Calibri" pitchFamily="34" charset="-120"/>
              </a:rPr>
              <a:t>Fetemi Marketing Agency</a:t>
            </a:r>
            <a:endParaRPr lang="en-US" sz="2400" dirty="0"/>
          </a:p>
        </p:txBody>
      </p:sp>
      <p:sp>
        <p:nvSpPr>
          <p:cNvPr id="6" name="Text 4"/>
          <p:cNvSpPr/>
          <p:nvPr/>
        </p:nvSpPr>
        <p:spPr>
          <a:xfrm>
            <a:off x="731520" y="4114800"/>
            <a:ext cx="54864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Oluwademilade Bickersteth</a:t>
            </a:r>
            <a:endParaRPr lang="en-US" sz="1800" dirty="0"/>
          </a:p>
        </p:txBody>
      </p:sp>
      <p:sp>
        <p:nvSpPr>
          <p:cNvPr id="7" name="Text 5"/>
          <p:cNvSpPr/>
          <p:nvPr/>
        </p:nvSpPr>
        <p:spPr>
          <a:xfrm>
            <a:off x="731520" y="4663440"/>
            <a:ext cx="548640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March 2026</a:t>
            </a:r>
            <a:endParaRPr lang="en-US" sz="1600" dirty="0"/>
          </a:p>
        </p:txBody>
      </p:sp>
      <p:sp>
        <p:nvSpPr>
          <p:cNvPr id="8" name="Shape 6"/>
          <p:cNvSpPr/>
          <p:nvPr/>
        </p:nvSpPr>
        <p:spPr>
          <a:xfrm>
            <a:off x="731520" y="6035040"/>
            <a:ext cx="2743200" cy="36576"/>
          </a:xfrm>
          <a:prstGeom prst="rect">
            <a:avLst/>
          </a:prstGeom>
          <a:solidFill>
            <a:srgbClr val="2563E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Business Problem</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2 of 8</a:t>
            </a:r>
            <a:endParaRPr lang="en-US" sz="1000" dirty="0"/>
          </a:p>
        </p:txBody>
      </p:sp>
      <p:sp>
        <p:nvSpPr>
          <p:cNvPr id="6" name="Shape 4"/>
          <p:cNvSpPr/>
          <p:nvPr/>
        </p:nvSpPr>
        <p:spPr>
          <a:xfrm>
            <a:off x="731520" y="1463040"/>
            <a:ext cx="347472" cy="347472"/>
          </a:xfrm>
          <a:prstGeom prst="ellipse">
            <a:avLst/>
          </a:prstGeom>
          <a:solidFill>
            <a:srgbClr val="2563EB"/>
          </a:solidFill>
          <a:ln/>
        </p:spPr>
      </p:sp>
      <p:sp>
        <p:nvSpPr>
          <p:cNvPr id="7" name="Text 5"/>
          <p:cNvSpPr/>
          <p:nvPr/>
        </p:nvSpPr>
        <p:spPr>
          <a:xfrm>
            <a:off x="731520" y="14630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141732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Manual content creation takes 2-4 hours per topic across platforms</a:t>
            </a:r>
            <a:endParaRPr lang="en-US" sz="1800" dirty="0"/>
          </a:p>
        </p:txBody>
      </p:sp>
      <p:sp>
        <p:nvSpPr>
          <p:cNvPr id="9" name="Shape 7"/>
          <p:cNvSpPr/>
          <p:nvPr/>
        </p:nvSpPr>
        <p:spPr>
          <a:xfrm>
            <a:off x="731520" y="2240280"/>
            <a:ext cx="347472" cy="347472"/>
          </a:xfrm>
          <a:prstGeom prst="ellipse">
            <a:avLst/>
          </a:prstGeom>
          <a:solidFill>
            <a:srgbClr val="2563EB"/>
          </a:solidFill>
          <a:ln/>
        </p:spPr>
      </p:sp>
      <p:sp>
        <p:nvSpPr>
          <p:cNvPr id="10" name="Text 8"/>
          <p:cNvSpPr/>
          <p:nvPr/>
        </p:nvSpPr>
        <p:spPr>
          <a:xfrm>
            <a:off x="731520" y="224028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80160" y="219456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Writing for 3 platforms (LinkedIn, X, Newsletter) means 3x the effort</a:t>
            </a:r>
            <a:endParaRPr lang="en-US" sz="1800" dirty="0"/>
          </a:p>
        </p:txBody>
      </p:sp>
      <p:sp>
        <p:nvSpPr>
          <p:cNvPr id="12" name="Shape 10"/>
          <p:cNvSpPr/>
          <p:nvPr/>
        </p:nvSpPr>
        <p:spPr>
          <a:xfrm>
            <a:off x="731520" y="3017520"/>
            <a:ext cx="347472" cy="347472"/>
          </a:xfrm>
          <a:prstGeom prst="ellipse">
            <a:avLst/>
          </a:prstGeom>
          <a:solidFill>
            <a:srgbClr val="2563EB"/>
          </a:solidFill>
          <a:ln/>
        </p:spPr>
      </p:sp>
      <p:sp>
        <p:nvSpPr>
          <p:cNvPr id="13" name="Text 11"/>
          <p:cNvSpPr/>
          <p:nvPr/>
        </p:nvSpPr>
        <p:spPr>
          <a:xfrm>
            <a:off x="731520" y="301752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80160" y="297180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Inconsistent tone, quality, and formatting across channels</a:t>
            </a:r>
            <a:endParaRPr lang="en-US" sz="1800" dirty="0"/>
          </a:p>
        </p:txBody>
      </p:sp>
      <p:sp>
        <p:nvSpPr>
          <p:cNvPr id="15" name="Shape 13"/>
          <p:cNvSpPr/>
          <p:nvPr/>
        </p:nvSpPr>
        <p:spPr>
          <a:xfrm>
            <a:off x="731520" y="3794760"/>
            <a:ext cx="347472" cy="347472"/>
          </a:xfrm>
          <a:prstGeom prst="ellipse">
            <a:avLst/>
          </a:prstGeom>
          <a:solidFill>
            <a:srgbClr val="2563EB"/>
          </a:solidFill>
          <a:ln/>
        </p:spPr>
      </p:sp>
      <p:sp>
        <p:nvSpPr>
          <p:cNvPr id="16" name="Text 14"/>
          <p:cNvSpPr/>
          <p:nvPr/>
        </p:nvSpPr>
        <p:spPr>
          <a:xfrm>
            <a:off x="731520" y="379476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80160" y="374904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No standardized SEO optimization — rankings left to chance</a:t>
            </a:r>
            <a:endParaRPr lang="en-US" sz="1800" dirty="0"/>
          </a:p>
        </p:txBody>
      </p:sp>
      <p:sp>
        <p:nvSpPr>
          <p:cNvPr id="18" name="Shape 16"/>
          <p:cNvSpPr/>
          <p:nvPr/>
        </p:nvSpPr>
        <p:spPr>
          <a:xfrm>
            <a:off x="731520" y="4572000"/>
            <a:ext cx="347472" cy="347472"/>
          </a:xfrm>
          <a:prstGeom prst="ellipse">
            <a:avLst/>
          </a:prstGeom>
          <a:solidFill>
            <a:srgbClr val="2563EB"/>
          </a:solidFill>
          <a:ln/>
        </p:spPr>
      </p:sp>
      <p:sp>
        <p:nvSpPr>
          <p:cNvPr id="19" name="Text 17"/>
          <p:cNvSpPr/>
          <p:nvPr/>
        </p:nvSpPr>
        <p:spPr>
          <a:xfrm>
            <a:off x="731520" y="457200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80160" y="452628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Impossible to scale output while maintaining quality</a:t>
            </a:r>
            <a:endParaRPr lang="en-US" sz="1800" dirty="0"/>
          </a:p>
        </p:txBody>
      </p:sp>
      <p:sp>
        <p:nvSpPr>
          <p:cNvPr id="21" name="Shape 19"/>
          <p:cNvSpPr/>
          <p:nvPr/>
        </p:nvSpPr>
        <p:spPr>
          <a:xfrm>
            <a:off x="731520" y="5349240"/>
            <a:ext cx="347472" cy="347472"/>
          </a:xfrm>
          <a:prstGeom prst="ellipse">
            <a:avLst/>
          </a:prstGeom>
          <a:solidFill>
            <a:srgbClr val="2563EB"/>
          </a:solidFill>
          <a:ln/>
        </p:spPr>
      </p:sp>
      <p:sp>
        <p:nvSpPr>
          <p:cNvPr id="22" name="Text 20"/>
          <p:cNvSpPr/>
          <p:nvPr/>
        </p:nvSpPr>
        <p:spPr>
          <a:xfrm>
            <a:off x="731520" y="53492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80160" y="530352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Creative energy wasted on repetitive formatting tasks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Solution Overview</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3 of 8</a:t>
            </a:r>
            <a:endParaRPr lang="en-US" sz="1000" dirty="0"/>
          </a:p>
        </p:txBody>
      </p:sp>
      <p:sp>
        <p:nvSpPr>
          <p:cNvPr id="6" name="Text 4"/>
          <p:cNvSpPr/>
          <p:nvPr/>
        </p:nvSpPr>
        <p:spPr>
          <a:xfrm>
            <a:off x="640080" y="1325880"/>
            <a:ext cx="365760" cy="457200"/>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1325880"/>
            <a:ext cx="10515600" cy="457200"/>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End-to-end automation from idea submission to published content</a:t>
            </a:r>
            <a:endParaRPr lang="en-US" sz="1700" dirty="0"/>
          </a:p>
        </p:txBody>
      </p:sp>
      <p:sp>
        <p:nvSpPr>
          <p:cNvPr id="8" name="Text 6"/>
          <p:cNvSpPr/>
          <p:nvPr/>
        </p:nvSpPr>
        <p:spPr>
          <a:xfrm>
            <a:off x="640080" y="1892808"/>
            <a:ext cx="365760" cy="457200"/>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05840" y="1892808"/>
            <a:ext cx="10515600" cy="457200"/>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Tech stack: n8n workflows + React frontend + Supabase database</a:t>
            </a:r>
            <a:endParaRPr lang="en-US" sz="1700" dirty="0"/>
          </a:p>
        </p:txBody>
      </p:sp>
      <p:sp>
        <p:nvSpPr>
          <p:cNvPr id="10" name="Text 8"/>
          <p:cNvSpPr/>
          <p:nvPr/>
        </p:nvSpPr>
        <p:spPr>
          <a:xfrm>
            <a:off x="640080" y="2459736"/>
            <a:ext cx="365760" cy="457200"/>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005840" y="2459736"/>
            <a:ext cx="10515600" cy="457200"/>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Human-in-the-loop: manager reviews &amp; selects from 3 AI drafts</a:t>
            </a:r>
            <a:endParaRPr lang="en-US" sz="1700" dirty="0"/>
          </a:p>
        </p:txBody>
      </p:sp>
      <p:sp>
        <p:nvSpPr>
          <p:cNvPr id="12" name="Text 10"/>
          <p:cNvSpPr/>
          <p:nvPr/>
        </p:nvSpPr>
        <p:spPr>
          <a:xfrm>
            <a:off x="640080" y="3026664"/>
            <a:ext cx="365760" cy="457200"/>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005840" y="3026664"/>
            <a:ext cx="10515600" cy="457200"/>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SEO best practices baked into every generation prompt</a:t>
            </a:r>
            <a:endParaRPr lang="en-US" sz="1700" dirty="0"/>
          </a:p>
        </p:txBody>
      </p:sp>
      <p:sp>
        <p:nvSpPr>
          <p:cNvPr id="14" name="Text 12"/>
          <p:cNvSpPr/>
          <p:nvPr/>
        </p:nvSpPr>
        <p:spPr>
          <a:xfrm>
            <a:off x="640080" y="3593592"/>
            <a:ext cx="365760" cy="457200"/>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005840" y="3593592"/>
            <a:ext cx="10515600" cy="457200"/>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Platform-specific formatting rules applied automatically</a:t>
            </a:r>
            <a:endParaRPr lang="en-US" sz="1700" dirty="0"/>
          </a:p>
        </p:txBody>
      </p:sp>
      <p:sp>
        <p:nvSpPr>
          <p:cNvPr id="16" name="Shape 14"/>
          <p:cNvSpPr/>
          <p:nvPr/>
        </p:nvSpPr>
        <p:spPr>
          <a:xfrm>
            <a:off x="731520" y="4572000"/>
            <a:ext cx="1645920" cy="640080"/>
          </a:xfrm>
          <a:prstGeom prst="roundRect">
            <a:avLst>
              <a:gd name="adj" fmla="val 14286"/>
            </a:avLst>
          </a:prstGeom>
          <a:solidFill>
            <a:srgbClr val="2563EB"/>
          </a:solidFill>
          <a:ln/>
        </p:spPr>
      </p:sp>
      <p:sp>
        <p:nvSpPr>
          <p:cNvPr id="17" name="Text 15"/>
          <p:cNvSpPr/>
          <p:nvPr/>
        </p:nvSpPr>
        <p:spPr>
          <a:xfrm>
            <a:off x="731520" y="457200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Idea / URL</a:t>
            </a:r>
            <a:endParaRPr lang="en-US" sz="1200" dirty="0"/>
          </a:p>
        </p:txBody>
      </p:sp>
      <p:sp>
        <p:nvSpPr>
          <p:cNvPr id="18" name="Text 16"/>
          <p:cNvSpPr/>
          <p:nvPr/>
        </p:nvSpPr>
        <p:spPr>
          <a:xfrm>
            <a:off x="2423160" y="457200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2926080" y="4572000"/>
            <a:ext cx="1645920" cy="640080"/>
          </a:xfrm>
          <a:prstGeom prst="roundRect">
            <a:avLst>
              <a:gd name="adj" fmla="val 14286"/>
            </a:avLst>
          </a:prstGeom>
          <a:solidFill>
            <a:srgbClr val="1E3A5F"/>
          </a:solidFill>
          <a:ln/>
        </p:spPr>
      </p:sp>
      <p:sp>
        <p:nvSpPr>
          <p:cNvPr id="20" name="Text 18"/>
          <p:cNvSpPr/>
          <p:nvPr/>
        </p:nvSpPr>
        <p:spPr>
          <a:xfrm>
            <a:off x="2926080" y="457200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3 AI Drafts</a:t>
            </a:r>
            <a:endParaRPr lang="en-US" sz="1200" dirty="0"/>
          </a:p>
        </p:txBody>
      </p:sp>
      <p:sp>
        <p:nvSpPr>
          <p:cNvPr id="21" name="Text 19"/>
          <p:cNvSpPr/>
          <p:nvPr/>
        </p:nvSpPr>
        <p:spPr>
          <a:xfrm>
            <a:off x="4617720" y="457200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5120640" y="4572000"/>
            <a:ext cx="1645920" cy="640080"/>
          </a:xfrm>
          <a:prstGeom prst="roundRect">
            <a:avLst>
              <a:gd name="adj" fmla="val 14286"/>
            </a:avLst>
          </a:prstGeom>
          <a:solidFill>
            <a:srgbClr val="2563EB"/>
          </a:solidFill>
          <a:ln/>
        </p:spPr>
      </p:sp>
      <p:sp>
        <p:nvSpPr>
          <p:cNvPr id="23" name="Text 21"/>
          <p:cNvSpPr/>
          <p:nvPr/>
        </p:nvSpPr>
        <p:spPr>
          <a:xfrm>
            <a:off x="5120640" y="457200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Selects</a:t>
            </a:r>
            <a:endParaRPr lang="en-US" sz="1200" dirty="0"/>
          </a:p>
        </p:txBody>
      </p:sp>
      <p:sp>
        <p:nvSpPr>
          <p:cNvPr id="24" name="Text 22"/>
          <p:cNvSpPr/>
          <p:nvPr/>
        </p:nvSpPr>
        <p:spPr>
          <a:xfrm>
            <a:off x="6812280" y="457200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7315200" y="4572000"/>
            <a:ext cx="1645920" cy="640080"/>
          </a:xfrm>
          <a:prstGeom prst="roundRect">
            <a:avLst>
              <a:gd name="adj" fmla="val 14286"/>
            </a:avLst>
          </a:prstGeom>
          <a:solidFill>
            <a:srgbClr val="1E3A5F"/>
          </a:solidFill>
          <a:ln/>
        </p:spPr>
      </p:sp>
      <p:sp>
        <p:nvSpPr>
          <p:cNvPr id="26" name="Text 24"/>
          <p:cNvSpPr/>
          <p:nvPr/>
        </p:nvSpPr>
        <p:spPr>
          <a:xfrm>
            <a:off x="7315200" y="457200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3 Platform</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Adaptations</a:t>
            </a:r>
            <a:endParaRPr lang="en-US" sz="1200" dirty="0"/>
          </a:p>
        </p:txBody>
      </p:sp>
      <p:sp>
        <p:nvSpPr>
          <p:cNvPr id="27" name="Text 25"/>
          <p:cNvSpPr/>
          <p:nvPr/>
        </p:nvSpPr>
        <p:spPr>
          <a:xfrm>
            <a:off x="9006840" y="457200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509760" y="4572000"/>
            <a:ext cx="1645920" cy="640080"/>
          </a:xfrm>
          <a:prstGeom prst="roundRect">
            <a:avLst>
              <a:gd name="adj" fmla="val 14286"/>
            </a:avLst>
          </a:prstGeom>
          <a:solidFill>
            <a:srgbClr val="2563EB"/>
          </a:solidFill>
          <a:ln/>
        </p:spPr>
      </p:sp>
      <p:sp>
        <p:nvSpPr>
          <p:cNvPr id="29" name="Text 27"/>
          <p:cNvSpPr/>
          <p:nvPr/>
        </p:nvSpPr>
        <p:spPr>
          <a:xfrm>
            <a:off x="9509760" y="457200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Publish /</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Schedule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4 of 8</a:t>
            </a:r>
            <a:endParaRPr lang="en-US" sz="1000" dirty="0"/>
          </a:p>
        </p:txBody>
      </p:sp>
      <p:sp>
        <p:nvSpPr>
          <p:cNvPr id="6" name="Shape 4"/>
          <p:cNvSpPr/>
          <p:nvPr/>
        </p:nvSpPr>
        <p:spPr>
          <a:xfrm>
            <a:off x="548640" y="1463040"/>
            <a:ext cx="5029200" cy="548640"/>
          </a:xfrm>
          <a:prstGeom prst="roundRect">
            <a:avLst>
              <a:gd name="adj" fmla="val 13333"/>
            </a:avLst>
          </a:prstGeom>
          <a:solidFill>
            <a:srgbClr val="1E3A5F"/>
          </a:solidFill>
          <a:ln/>
        </p:spPr>
      </p:sp>
      <p:sp>
        <p:nvSpPr>
          <p:cNvPr id="7" name="Text 5"/>
          <p:cNvSpPr/>
          <p:nvPr/>
        </p:nvSpPr>
        <p:spPr>
          <a:xfrm>
            <a:off x="548640" y="1463040"/>
            <a:ext cx="50292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Workflow 1: Content Intake &amp; Draft Generation</a:t>
            </a:r>
            <a:endParaRPr lang="en-US" sz="1500" dirty="0"/>
          </a:p>
        </p:txBody>
      </p:sp>
      <p:sp>
        <p:nvSpPr>
          <p:cNvPr id="8" name="Shape 6"/>
          <p:cNvSpPr/>
          <p:nvPr/>
        </p:nvSpPr>
        <p:spPr>
          <a:xfrm>
            <a:off x="822960" y="2286000"/>
            <a:ext cx="4480560" cy="411480"/>
          </a:xfrm>
          <a:prstGeom prst="roundRect">
            <a:avLst>
              <a:gd name="adj" fmla="val 13333"/>
            </a:avLst>
          </a:prstGeom>
          <a:solidFill>
            <a:srgbClr val="F1F5F9"/>
          </a:solidFill>
          <a:ln/>
        </p:spPr>
      </p:sp>
      <p:sp>
        <p:nvSpPr>
          <p:cNvPr id="9" name="Text 7"/>
          <p:cNvSpPr/>
          <p:nvPr/>
        </p:nvSpPr>
        <p:spPr>
          <a:xfrm>
            <a:off x="1005840" y="228600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Webhook receives idea/URL</a:t>
            </a:r>
            <a:endParaRPr lang="en-US" sz="1400" dirty="0"/>
          </a:p>
        </p:txBody>
      </p:sp>
      <p:sp>
        <p:nvSpPr>
          <p:cNvPr id="10" name="Text 8"/>
          <p:cNvSpPr/>
          <p:nvPr/>
        </p:nvSpPr>
        <p:spPr>
          <a:xfrm>
            <a:off x="2743200" y="265176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822960" y="2788920"/>
            <a:ext cx="4480560" cy="411480"/>
          </a:xfrm>
          <a:prstGeom prst="roundRect">
            <a:avLst>
              <a:gd name="adj" fmla="val 13333"/>
            </a:avLst>
          </a:prstGeom>
          <a:solidFill>
            <a:srgbClr val="F1F5F9"/>
          </a:solidFill>
          <a:ln/>
        </p:spPr>
      </p:sp>
      <p:sp>
        <p:nvSpPr>
          <p:cNvPr id="12" name="Text 10"/>
          <p:cNvSpPr/>
          <p:nvPr/>
        </p:nvSpPr>
        <p:spPr>
          <a:xfrm>
            <a:off x="1005840" y="278892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URL content extraction (if URL)</a:t>
            </a:r>
            <a:endParaRPr lang="en-US" sz="1400" dirty="0"/>
          </a:p>
        </p:txBody>
      </p:sp>
      <p:sp>
        <p:nvSpPr>
          <p:cNvPr id="13" name="Text 11"/>
          <p:cNvSpPr/>
          <p:nvPr/>
        </p:nvSpPr>
        <p:spPr>
          <a:xfrm>
            <a:off x="2743200" y="315468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822960" y="3291840"/>
            <a:ext cx="4480560" cy="411480"/>
          </a:xfrm>
          <a:prstGeom prst="roundRect">
            <a:avLst>
              <a:gd name="adj" fmla="val 13333"/>
            </a:avLst>
          </a:prstGeom>
          <a:solidFill>
            <a:srgbClr val="F1F5F9"/>
          </a:solidFill>
          <a:ln/>
        </p:spPr>
      </p:sp>
      <p:sp>
        <p:nvSpPr>
          <p:cNvPr id="15" name="Text 13"/>
          <p:cNvSpPr/>
          <p:nvPr/>
        </p:nvSpPr>
        <p:spPr>
          <a:xfrm>
            <a:off x="1005840" y="329184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3x sequential AI draft generation</a:t>
            </a:r>
            <a:endParaRPr lang="en-US" sz="1400" dirty="0"/>
          </a:p>
        </p:txBody>
      </p:sp>
      <p:sp>
        <p:nvSpPr>
          <p:cNvPr id="16" name="Text 14"/>
          <p:cNvSpPr/>
          <p:nvPr/>
        </p:nvSpPr>
        <p:spPr>
          <a:xfrm>
            <a:off x="2743200" y="365760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822960" y="3794760"/>
            <a:ext cx="4480560" cy="411480"/>
          </a:xfrm>
          <a:prstGeom prst="roundRect">
            <a:avLst>
              <a:gd name="adj" fmla="val 13333"/>
            </a:avLst>
          </a:prstGeom>
          <a:solidFill>
            <a:srgbClr val="F1F5F9"/>
          </a:solidFill>
          <a:ln/>
        </p:spPr>
      </p:sp>
      <p:sp>
        <p:nvSpPr>
          <p:cNvPr id="18" name="Text 16"/>
          <p:cNvSpPr/>
          <p:nvPr/>
        </p:nvSpPr>
        <p:spPr>
          <a:xfrm>
            <a:off x="1005840" y="379476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4.  Store drafts in Supabase</a:t>
            </a:r>
            <a:endParaRPr lang="en-US" sz="1400" dirty="0"/>
          </a:p>
        </p:txBody>
      </p:sp>
      <p:sp>
        <p:nvSpPr>
          <p:cNvPr id="19" name="Text 17"/>
          <p:cNvSpPr/>
          <p:nvPr/>
        </p:nvSpPr>
        <p:spPr>
          <a:xfrm>
            <a:off x="2743200" y="416052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822960" y="4297680"/>
            <a:ext cx="4480560" cy="411480"/>
          </a:xfrm>
          <a:prstGeom prst="roundRect">
            <a:avLst>
              <a:gd name="adj" fmla="val 13333"/>
            </a:avLst>
          </a:prstGeom>
          <a:solidFill>
            <a:srgbClr val="F1F5F9"/>
          </a:solidFill>
          <a:ln/>
        </p:spPr>
      </p:sp>
      <p:sp>
        <p:nvSpPr>
          <p:cNvPr id="21" name="Text 19"/>
          <p:cNvSpPr/>
          <p:nvPr/>
        </p:nvSpPr>
        <p:spPr>
          <a:xfrm>
            <a:off x="1005840" y="429768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5.  Return draft IDs to frontend</a:t>
            </a:r>
            <a:endParaRPr lang="en-US" sz="1400" dirty="0"/>
          </a:p>
        </p:txBody>
      </p:sp>
      <p:sp>
        <p:nvSpPr>
          <p:cNvPr id="22" name="Shape 20"/>
          <p:cNvSpPr/>
          <p:nvPr/>
        </p:nvSpPr>
        <p:spPr>
          <a:xfrm>
            <a:off x="6400800" y="1463040"/>
            <a:ext cx="5029200" cy="548640"/>
          </a:xfrm>
          <a:prstGeom prst="roundRect">
            <a:avLst>
              <a:gd name="adj" fmla="val 13333"/>
            </a:avLst>
          </a:prstGeom>
          <a:solidFill>
            <a:srgbClr val="1E3A5F"/>
          </a:solidFill>
          <a:ln/>
        </p:spPr>
      </p:sp>
      <p:sp>
        <p:nvSpPr>
          <p:cNvPr id="23" name="Text 21"/>
          <p:cNvSpPr/>
          <p:nvPr/>
        </p:nvSpPr>
        <p:spPr>
          <a:xfrm>
            <a:off x="6400800" y="1463040"/>
            <a:ext cx="50292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Workflow 2: Selection &amp; Platform Adaptation</a:t>
            </a:r>
            <a:endParaRPr lang="en-US" sz="1500" dirty="0"/>
          </a:p>
        </p:txBody>
      </p:sp>
      <p:sp>
        <p:nvSpPr>
          <p:cNvPr id="24" name="Shape 22"/>
          <p:cNvSpPr/>
          <p:nvPr/>
        </p:nvSpPr>
        <p:spPr>
          <a:xfrm>
            <a:off x="6675120" y="2286000"/>
            <a:ext cx="4480560" cy="411480"/>
          </a:xfrm>
          <a:prstGeom prst="roundRect">
            <a:avLst>
              <a:gd name="adj" fmla="val 13333"/>
            </a:avLst>
          </a:prstGeom>
          <a:solidFill>
            <a:srgbClr val="F1F5F9"/>
          </a:solidFill>
          <a:ln/>
        </p:spPr>
      </p:sp>
      <p:sp>
        <p:nvSpPr>
          <p:cNvPr id="25" name="Text 23"/>
          <p:cNvSpPr/>
          <p:nvPr/>
        </p:nvSpPr>
        <p:spPr>
          <a:xfrm>
            <a:off x="6858000" y="228600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Webhook receives draft selection</a:t>
            </a:r>
            <a:endParaRPr lang="en-US" sz="1400" dirty="0"/>
          </a:p>
        </p:txBody>
      </p:sp>
      <p:sp>
        <p:nvSpPr>
          <p:cNvPr id="26" name="Text 24"/>
          <p:cNvSpPr/>
          <p:nvPr/>
        </p:nvSpPr>
        <p:spPr>
          <a:xfrm>
            <a:off x="8595360" y="265176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6675120" y="2788920"/>
            <a:ext cx="4480560" cy="411480"/>
          </a:xfrm>
          <a:prstGeom prst="roundRect">
            <a:avLst>
              <a:gd name="adj" fmla="val 13333"/>
            </a:avLst>
          </a:prstGeom>
          <a:solidFill>
            <a:srgbClr val="F1F5F9"/>
          </a:solidFill>
          <a:ln/>
        </p:spPr>
      </p:sp>
      <p:sp>
        <p:nvSpPr>
          <p:cNvPr id="28" name="Text 26"/>
          <p:cNvSpPr/>
          <p:nvPr/>
        </p:nvSpPr>
        <p:spPr>
          <a:xfrm>
            <a:off x="6858000" y="278892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Fetch selected draft from Supabase</a:t>
            </a:r>
            <a:endParaRPr lang="en-US" sz="1400" dirty="0"/>
          </a:p>
        </p:txBody>
      </p:sp>
      <p:sp>
        <p:nvSpPr>
          <p:cNvPr id="29" name="Text 27"/>
          <p:cNvSpPr/>
          <p:nvPr/>
        </p:nvSpPr>
        <p:spPr>
          <a:xfrm>
            <a:off x="8595360" y="315468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6675120" y="3291840"/>
            <a:ext cx="4480560" cy="411480"/>
          </a:xfrm>
          <a:prstGeom prst="roundRect">
            <a:avLst>
              <a:gd name="adj" fmla="val 13333"/>
            </a:avLst>
          </a:prstGeom>
          <a:solidFill>
            <a:srgbClr val="F1F5F9"/>
          </a:solidFill>
          <a:ln/>
        </p:spPr>
      </p:sp>
      <p:sp>
        <p:nvSpPr>
          <p:cNvPr id="31" name="Text 29"/>
          <p:cNvSpPr/>
          <p:nvPr/>
        </p:nvSpPr>
        <p:spPr>
          <a:xfrm>
            <a:off x="6858000" y="329184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Adapt for LinkedIn (PAS format)</a:t>
            </a:r>
            <a:endParaRPr lang="en-US" sz="1400" dirty="0"/>
          </a:p>
        </p:txBody>
      </p:sp>
      <p:sp>
        <p:nvSpPr>
          <p:cNvPr id="32" name="Text 30"/>
          <p:cNvSpPr/>
          <p:nvPr/>
        </p:nvSpPr>
        <p:spPr>
          <a:xfrm>
            <a:off x="8595360" y="365760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6675120" y="3794760"/>
            <a:ext cx="4480560" cy="411480"/>
          </a:xfrm>
          <a:prstGeom prst="roundRect">
            <a:avLst>
              <a:gd name="adj" fmla="val 13333"/>
            </a:avLst>
          </a:prstGeom>
          <a:solidFill>
            <a:srgbClr val="F1F5F9"/>
          </a:solidFill>
          <a:ln/>
        </p:spPr>
      </p:sp>
      <p:sp>
        <p:nvSpPr>
          <p:cNvPr id="34" name="Text 32"/>
          <p:cNvSpPr/>
          <p:nvPr/>
        </p:nvSpPr>
        <p:spPr>
          <a:xfrm>
            <a:off x="6858000" y="379476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4.  Adapt for X/Twitter (280 chars)</a:t>
            </a:r>
            <a:endParaRPr lang="en-US" sz="1400" dirty="0"/>
          </a:p>
        </p:txBody>
      </p:sp>
      <p:sp>
        <p:nvSpPr>
          <p:cNvPr id="35" name="Text 33"/>
          <p:cNvSpPr/>
          <p:nvPr/>
        </p:nvSpPr>
        <p:spPr>
          <a:xfrm>
            <a:off x="8595360" y="4160520"/>
            <a:ext cx="457200" cy="182880"/>
          </a:xfrm>
          <a:prstGeom prst="rect">
            <a:avLst/>
          </a:prstGeom>
          <a:noFill/>
          <a:ln/>
        </p:spPr>
        <p:txBody>
          <a:bodyPr wrap="square" rtlCol="0" anchor="ctr"/>
          <a:lstStyle/>
          <a:p>
            <a:pPr algn="ctr" indent="0" marL="0">
              <a:buNone/>
            </a:pPr>
            <a:r>
              <a:rPr lang="en-US" sz="1400" dirty="0">
                <a:solidFill>
                  <a:srgbClr val="2563EB"/>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675120" y="4297680"/>
            <a:ext cx="4480560" cy="411480"/>
          </a:xfrm>
          <a:prstGeom prst="roundRect">
            <a:avLst>
              <a:gd name="adj" fmla="val 13333"/>
            </a:avLst>
          </a:prstGeom>
          <a:solidFill>
            <a:srgbClr val="F1F5F9"/>
          </a:solidFill>
          <a:ln/>
        </p:spPr>
      </p:sp>
      <p:sp>
        <p:nvSpPr>
          <p:cNvPr id="37" name="Text 35"/>
          <p:cNvSpPr/>
          <p:nvPr/>
        </p:nvSpPr>
        <p:spPr>
          <a:xfrm>
            <a:off x="6858000" y="4297680"/>
            <a:ext cx="4114800" cy="4114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5.  Adapt for Newsletter format</a:t>
            </a:r>
            <a:endParaRPr lang="en-US" sz="1400" dirty="0"/>
          </a:p>
        </p:txBody>
      </p:sp>
      <p:sp>
        <p:nvSpPr>
          <p:cNvPr id="38" name="Shape 36"/>
          <p:cNvSpPr/>
          <p:nvPr/>
        </p:nvSpPr>
        <p:spPr>
          <a:xfrm>
            <a:off x="4389120" y="5120640"/>
            <a:ext cx="3383280" cy="594360"/>
          </a:xfrm>
          <a:prstGeom prst="roundRect">
            <a:avLst>
              <a:gd name="adj" fmla="val 15385"/>
            </a:avLst>
          </a:prstGeom>
          <a:solidFill>
            <a:srgbClr val="2563EB"/>
          </a:solidFill>
          <a:ln/>
        </p:spPr>
      </p:sp>
      <p:sp>
        <p:nvSpPr>
          <p:cNvPr id="39" name="Text 37"/>
          <p:cNvSpPr/>
          <p:nvPr/>
        </p:nvSpPr>
        <p:spPr>
          <a:xfrm>
            <a:off x="4389120" y="5120640"/>
            <a:ext cx="3383280" cy="594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Supabase (state store + RLS)</a:t>
            </a:r>
            <a:endParaRPr lang="en-US" sz="1400" dirty="0"/>
          </a:p>
        </p:txBody>
      </p:sp>
      <p:sp>
        <p:nvSpPr>
          <p:cNvPr id="40" name="Text 38"/>
          <p:cNvSpPr/>
          <p:nvPr/>
        </p:nvSpPr>
        <p:spPr>
          <a:xfrm>
            <a:off x="2743200" y="4709160"/>
            <a:ext cx="640080" cy="3657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41" name="Text 39"/>
          <p:cNvSpPr/>
          <p:nvPr/>
        </p:nvSpPr>
        <p:spPr>
          <a:xfrm>
            <a:off x="8595360" y="4709160"/>
            <a:ext cx="640080" cy="3657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42" name="Shape 40"/>
          <p:cNvSpPr/>
          <p:nvPr/>
        </p:nvSpPr>
        <p:spPr>
          <a:xfrm>
            <a:off x="548640" y="5120640"/>
            <a:ext cx="2743200" cy="594360"/>
          </a:xfrm>
          <a:prstGeom prst="roundRect">
            <a:avLst>
              <a:gd name="adj" fmla="val 15385"/>
            </a:avLst>
          </a:prstGeom>
          <a:solidFill>
            <a:srgbClr val="1E3A5F"/>
          </a:solidFill>
          <a:ln/>
        </p:spPr>
      </p:sp>
      <p:sp>
        <p:nvSpPr>
          <p:cNvPr id="43" name="Text 41"/>
          <p:cNvSpPr/>
          <p:nvPr/>
        </p:nvSpPr>
        <p:spPr>
          <a:xfrm>
            <a:off x="548640" y="5120640"/>
            <a:ext cx="2743200" cy="594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React Frontend</a:t>
            </a:r>
            <a:endParaRPr lang="en-US" sz="1400" dirty="0"/>
          </a:p>
        </p:txBody>
      </p:sp>
      <p:sp>
        <p:nvSpPr>
          <p:cNvPr id="44" name="Text 42"/>
          <p:cNvSpPr/>
          <p:nvPr/>
        </p:nvSpPr>
        <p:spPr>
          <a:xfrm>
            <a:off x="3383280" y="5120640"/>
            <a:ext cx="914400" cy="594360"/>
          </a:xfrm>
          <a:prstGeom prst="rect">
            <a:avLst/>
          </a:prstGeom>
          <a:noFill/>
          <a:ln/>
        </p:spPr>
        <p:txBody>
          <a:bodyPr wrap="square" rtlCol="0" anchor="ctr"/>
          <a:lstStyle/>
          <a:p>
            <a:pPr algn="ctr" indent="0" marL="0">
              <a:buNone/>
            </a:pPr>
            <a:r>
              <a:rPr lang="en-US" sz="2200" dirty="0">
                <a:solidFill>
                  <a:srgbClr val="2563EB"/>
                </a:solidFill>
              </a:rPr>
              <a: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Demo — Happy Path</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5 of 8</a:t>
            </a:r>
            <a:endParaRPr lang="en-US" sz="1000" dirty="0"/>
          </a:p>
        </p:txBody>
      </p:sp>
      <p:sp>
        <p:nvSpPr>
          <p:cNvPr id="6" name="Shape 4"/>
          <p:cNvSpPr/>
          <p:nvPr/>
        </p:nvSpPr>
        <p:spPr>
          <a:xfrm>
            <a:off x="640080" y="1417320"/>
            <a:ext cx="411480" cy="411480"/>
          </a:xfrm>
          <a:prstGeom prst="ellipse">
            <a:avLst/>
          </a:prstGeom>
          <a:solidFill>
            <a:srgbClr val="2563EB"/>
          </a:solidFill>
          <a:ln/>
        </p:spPr>
      </p:sp>
      <p:sp>
        <p:nvSpPr>
          <p:cNvPr id="7" name="Text 5"/>
          <p:cNvSpPr/>
          <p:nvPr/>
        </p:nvSpPr>
        <p:spPr>
          <a:xfrm>
            <a:off x="640080" y="141732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234440" y="137160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Submit Idea</a:t>
            </a:r>
            <a:endParaRPr lang="en-US" sz="1600" dirty="0"/>
          </a:p>
        </p:txBody>
      </p:sp>
      <p:sp>
        <p:nvSpPr>
          <p:cNvPr id="9" name="Text 7"/>
          <p:cNvSpPr/>
          <p:nvPr/>
        </p:nvSpPr>
        <p:spPr>
          <a:xfrm>
            <a:off x="1234440" y="1645920"/>
            <a:ext cx="36576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"Remote work reshaping real estate"</a:t>
            </a:r>
            <a:endParaRPr lang="en-US" sz="1300" dirty="0"/>
          </a:p>
        </p:txBody>
      </p:sp>
      <p:sp>
        <p:nvSpPr>
          <p:cNvPr id="10" name="Shape 8"/>
          <p:cNvSpPr/>
          <p:nvPr/>
        </p:nvSpPr>
        <p:spPr>
          <a:xfrm>
            <a:off x="832104" y="1847088"/>
            <a:ext cx="27432" cy="475488"/>
          </a:xfrm>
          <a:prstGeom prst="rect">
            <a:avLst/>
          </a:prstGeom>
          <a:solidFill>
            <a:srgbClr val="2563EB"/>
          </a:solidFill>
          <a:ln/>
        </p:spPr>
      </p:sp>
      <p:sp>
        <p:nvSpPr>
          <p:cNvPr id="11" name="Shape 9"/>
          <p:cNvSpPr/>
          <p:nvPr/>
        </p:nvSpPr>
        <p:spPr>
          <a:xfrm>
            <a:off x="640080" y="2377440"/>
            <a:ext cx="411480" cy="411480"/>
          </a:xfrm>
          <a:prstGeom prst="ellipse">
            <a:avLst/>
          </a:prstGeom>
          <a:solidFill>
            <a:srgbClr val="2563EB"/>
          </a:solidFill>
          <a:ln/>
        </p:spPr>
      </p:sp>
      <p:sp>
        <p:nvSpPr>
          <p:cNvPr id="12" name="Text 10"/>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34440" y="233172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3 Drafts Generated</a:t>
            </a:r>
            <a:endParaRPr lang="en-US" sz="1600" dirty="0"/>
          </a:p>
        </p:txBody>
      </p:sp>
      <p:sp>
        <p:nvSpPr>
          <p:cNvPr id="14" name="Text 12"/>
          <p:cNvSpPr/>
          <p:nvPr/>
        </p:nvSpPr>
        <p:spPr>
          <a:xfrm>
            <a:off x="1234440" y="2606040"/>
            <a:ext cx="36576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Contrarian / How-To / Data &amp; Trends</a:t>
            </a:r>
            <a:endParaRPr lang="en-US" sz="1300" dirty="0"/>
          </a:p>
        </p:txBody>
      </p:sp>
      <p:sp>
        <p:nvSpPr>
          <p:cNvPr id="15" name="Shape 13"/>
          <p:cNvSpPr/>
          <p:nvPr/>
        </p:nvSpPr>
        <p:spPr>
          <a:xfrm>
            <a:off x="832104" y="2807208"/>
            <a:ext cx="27432" cy="475488"/>
          </a:xfrm>
          <a:prstGeom prst="rect">
            <a:avLst/>
          </a:prstGeom>
          <a:solidFill>
            <a:srgbClr val="2563EB"/>
          </a:solidFill>
          <a:ln/>
        </p:spPr>
      </p:sp>
      <p:sp>
        <p:nvSpPr>
          <p:cNvPr id="16" name="Shape 14"/>
          <p:cNvSpPr/>
          <p:nvPr/>
        </p:nvSpPr>
        <p:spPr>
          <a:xfrm>
            <a:off x="640080" y="3337560"/>
            <a:ext cx="411480" cy="411480"/>
          </a:xfrm>
          <a:prstGeom prst="ellipse">
            <a:avLst/>
          </a:prstGeom>
          <a:solidFill>
            <a:srgbClr val="2563EB"/>
          </a:solidFill>
          <a:ln/>
        </p:spPr>
      </p:sp>
      <p:sp>
        <p:nvSpPr>
          <p:cNvPr id="17" name="Text 15"/>
          <p:cNvSpPr/>
          <p:nvPr/>
        </p:nvSpPr>
        <p:spPr>
          <a:xfrm>
            <a:off x="640080" y="33375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234440" y="329184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Manager Selects</a:t>
            </a:r>
            <a:endParaRPr lang="en-US" sz="1600" dirty="0"/>
          </a:p>
        </p:txBody>
      </p:sp>
      <p:sp>
        <p:nvSpPr>
          <p:cNvPr id="19" name="Text 17"/>
          <p:cNvSpPr/>
          <p:nvPr/>
        </p:nvSpPr>
        <p:spPr>
          <a:xfrm>
            <a:off x="1234440" y="3566160"/>
            <a:ext cx="36576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Draft 2 — "How-To" angle chosen</a:t>
            </a:r>
            <a:endParaRPr lang="en-US" sz="1300" dirty="0"/>
          </a:p>
        </p:txBody>
      </p:sp>
      <p:sp>
        <p:nvSpPr>
          <p:cNvPr id="20" name="Shape 18"/>
          <p:cNvSpPr/>
          <p:nvPr/>
        </p:nvSpPr>
        <p:spPr>
          <a:xfrm>
            <a:off x="832104" y="3767328"/>
            <a:ext cx="27432" cy="475488"/>
          </a:xfrm>
          <a:prstGeom prst="rect">
            <a:avLst/>
          </a:prstGeom>
          <a:solidFill>
            <a:srgbClr val="2563EB"/>
          </a:solidFill>
          <a:ln/>
        </p:spPr>
      </p:sp>
      <p:sp>
        <p:nvSpPr>
          <p:cNvPr id="21" name="Shape 19"/>
          <p:cNvSpPr/>
          <p:nvPr/>
        </p:nvSpPr>
        <p:spPr>
          <a:xfrm>
            <a:off x="640080" y="4297680"/>
            <a:ext cx="411480" cy="411480"/>
          </a:xfrm>
          <a:prstGeom prst="ellipse">
            <a:avLst/>
          </a:prstGeom>
          <a:solidFill>
            <a:srgbClr val="2563EB"/>
          </a:solidFill>
          <a:ln/>
        </p:spPr>
      </p:sp>
      <p:sp>
        <p:nvSpPr>
          <p:cNvPr id="22" name="Text 20"/>
          <p:cNvSpPr/>
          <p:nvPr/>
        </p:nvSpPr>
        <p:spPr>
          <a:xfrm>
            <a:off x="640080" y="429768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234440" y="425196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Platform Adaptation</a:t>
            </a:r>
            <a:endParaRPr lang="en-US" sz="1600" dirty="0"/>
          </a:p>
        </p:txBody>
      </p:sp>
      <p:sp>
        <p:nvSpPr>
          <p:cNvPr id="24" name="Text 22"/>
          <p:cNvSpPr/>
          <p:nvPr/>
        </p:nvSpPr>
        <p:spPr>
          <a:xfrm>
            <a:off x="1234440" y="4526280"/>
            <a:ext cx="36576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LinkedIn (PAS) / X (280 ch) / Newsletter</a:t>
            </a:r>
            <a:endParaRPr lang="en-US" sz="1300" dirty="0"/>
          </a:p>
        </p:txBody>
      </p:sp>
      <p:sp>
        <p:nvSpPr>
          <p:cNvPr id="25" name="Shape 23"/>
          <p:cNvSpPr/>
          <p:nvPr/>
        </p:nvSpPr>
        <p:spPr>
          <a:xfrm>
            <a:off x="832104" y="4727448"/>
            <a:ext cx="27432" cy="475488"/>
          </a:xfrm>
          <a:prstGeom prst="rect">
            <a:avLst/>
          </a:prstGeom>
          <a:solidFill>
            <a:srgbClr val="2563EB"/>
          </a:solidFill>
          <a:ln/>
        </p:spPr>
      </p:sp>
      <p:sp>
        <p:nvSpPr>
          <p:cNvPr id="26" name="Shape 24"/>
          <p:cNvSpPr/>
          <p:nvPr/>
        </p:nvSpPr>
        <p:spPr>
          <a:xfrm>
            <a:off x="640080" y="5257800"/>
            <a:ext cx="411480" cy="411480"/>
          </a:xfrm>
          <a:prstGeom prst="ellipse">
            <a:avLst/>
          </a:prstGeom>
          <a:solidFill>
            <a:srgbClr val="2563EB"/>
          </a:solidFill>
          <a:ln/>
        </p:spPr>
      </p:sp>
      <p:sp>
        <p:nvSpPr>
          <p:cNvPr id="27" name="Text 25"/>
          <p:cNvSpPr/>
          <p:nvPr/>
        </p:nvSpPr>
        <p:spPr>
          <a:xfrm>
            <a:off x="640080" y="52578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234440" y="521208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Published</a:t>
            </a:r>
            <a:endParaRPr lang="en-US" sz="1600" dirty="0"/>
          </a:p>
        </p:txBody>
      </p:sp>
      <p:sp>
        <p:nvSpPr>
          <p:cNvPr id="29" name="Text 27"/>
          <p:cNvSpPr/>
          <p:nvPr/>
        </p:nvSpPr>
        <p:spPr>
          <a:xfrm>
            <a:off x="1234440" y="5486400"/>
            <a:ext cx="36576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Content live across all 3 platforms</a:t>
            </a:r>
            <a:endParaRPr lang="en-US" sz="1300" dirty="0"/>
          </a:p>
        </p:txBody>
      </p:sp>
      <p:sp>
        <p:nvSpPr>
          <p:cNvPr id="30" name="Text 28"/>
          <p:cNvSpPr/>
          <p:nvPr/>
        </p:nvSpPr>
        <p:spPr>
          <a:xfrm>
            <a:off x="5669280" y="1280160"/>
            <a:ext cx="59436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Sample Platform Outputs</a:t>
            </a:r>
            <a:endParaRPr lang="en-US" sz="1600" dirty="0"/>
          </a:p>
        </p:txBody>
      </p:sp>
      <p:sp>
        <p:nvSpPr>
          <p:cNvPr id="31" name="Shape 29"/>
          <p:cNvSpPr/>
          <p:nvPr/>
        </p:nvSpPr>
        <p:spPr>
          <a:xfrm>
            <a:off x="5669280" y="1737360"/>
            <a:ext cx="5943600" cy="1280160"/>
          </a:xfrm>
          <a:prstGeom prst="roundRect">
            <a:avLst>
              <a:gd name="adj" fmla="val 5714"/>
            </a:avLst>
          </a:prstGeom>
          <a:solidFill>
            <a:srgbClr val="F1F5F9"/>
          </a:solidFill>
          <a:ln/>
        </p:spPr>
      </p:sp>
      <p:sp>
        <p:nvSpPr>
          <p:cNvPr id="32" name="Text 30"/>
          <p:cNvSpPr/>
          <p:nvPr/>
        </p:nvSpPr>
        <p:spPr>
          <a:xfrm>
            <a:off x="5806440" y="178308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LinkedIn (PAS Format)</a:t>
            </a:r>
            <a:endParaRPr lang="en-US" sz="1200" dirty="0"/>
          </a:p>
        </p:txBody>
      </p:sp>
      <p:sp>
        <p:nvSpPr>
          <p:cNvPr id="33" name="Text 31"/>
          <p:cNvSpPr/>
          <p:nvPr/>
        </p:nvSpPr>
        <p:spPr>
          <a:xfrm>
            <a:off x="5806440" y="2057400"/>
            <a:ext cx="5669280" cy="914400"/>
          </a:xfrm>
          <a:prstGeom prst="rect">
            <a:avLst/>
          </a:prstGeom>
          <a:noFill/>
          <a:ln/>
        </p:spPr>
        <p:txBody>
          <a:bodyPr wrap="square"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Problem: Remote work is emptying offices — but filling suburbs.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Agitation: Commercial landlords face record vacancies...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Solution: Smart investors are converting office space to co-living...</a:t>
            </a:r>
            <a:endParaRPr lang="en-US" sz="1100" dirty="0"/>
          </a:p>
        </p:txBody>
      </p:sp>
      <p:sp>
        <p:nvSpPr>
          <p:cNvPr id="34" name="Shape 32"/>
          <p:cNvSpPr/>
          <p:nvPr/>
        </p:nvSpPr>
        <p:spPr>
          <a:xfrm>
            <a:off x="5669280" y="3200400"/>
            <a:ext cx="5943600" cy="868680"/>
          </a:xfrm>
          <a:prstGeom prst="roundRect">
            <a:avLst>
              <a:gd name="adj" fmla="val 8421"/>
            </a:avLst>
          </a:prstGeom>
          <a:solidFill>
            <a:srgbClr val="F1F5F9"/>
          </a:solidFill>
          <a:ln/>
        </p:spPr>
      </p:sp>
      <p:sp>
        <p:nvSpPr>
          <p:cNvPr id="35" name="Text 33"/>
          <p:cNvSpPr/>
          <p:nvPr/>
        </p:nvSpPr>
        <p:spPr>
          <a:xfrm>
            <a:off x="5806440" y="324612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X / Twitter (280 chars)</a:t>
            </a:r>
            <a:endParaRPr lang="en-US" sz="1200" dirty="0"/>
          </a:p>
        </p:txBody>
      </p:sp>
      <p:sp>
        <p:nvSpPr>
          <p:cNvPr id="36" name="Text 34"/>
          <p:cNvSpPr/>
          <p:nvPr/>
        </p:nvSpPr>
        <p:spPr>
          <a:xfrm>
            <a:off x="5806440" y="3520440"/>
            <a:ext cx="5669280" cy="502920"/>
          </a:xfrm>
          <a:prstGeom prst="rect">
            <a:avLst/>
          </a:prstGeom>
          <a:noFill/>
          <a:ln/>
        </p:spPr>
        <p:txBody>
          <a:bodyPr wrap="square"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Remote work isn’t killing real estate — it’s reshaping it. Suburbs are booming while downtown offices sit empty. The smartest move? Converting commercial to co-living. #RealEstate #RemoteWork</a:t>
            </a:r>
            <a:endParaRPr lang="en-US" sz="1100" dirty="0"/>
          </a:p>
        </p:txBody>
      </p:sp>
      <p:sp>
        <p:nvSpPr>
          <p:cNvPr id="37" name="Shape 35"/>
          <p:cNvSpPr/>
          <p:nvPr/>
        </p:nvSpPr>
        <p:spPr>
          <a:xfrm>
            <a:off x="5669280" y="4251960"/>
            <a:ext cx="5943600" cy="1143000"/>
          </a:xfrm>
          <a:prstGeom prst="roundRect">
            <a:avLst>
              <a:gd name="adj" fmla="val 6400"/>
            </a:avLst>
          </a:prstGeom>
          <a:solidFill>
            <a:srgbClr val="F1F5F9"/>
          </a:solidFill>
          <a:ln/>
        </p:spPr>
      </p:sp>
      <p:sp>
        <p:nvSpPr>
          <p:cNvPr id="38" name="Text 36"/>
          <p:cNvSpPr/>
          <p:nvPr/>
        </p:nvSpPr>
        <p:spPr>
          <a:xfrm>
            <a:off x="5806440" y="429768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Newsletter</a:t>
            </a:r>
            <a:endParaRPr lang="en-US" sz="1200" dirty="0"/>
          </a:p>
        </p:txBody>
      </p:sp>
      <p:sp>
        <p:nvSpPr>
          <p:cNvPr id="39" name="Text 37"/>
          <p:cNvSpPr/>
          <p:nvPr/>
        </p:nvSpPr>
        <p:spPr>
          <a:xfrm>
            <a:off x="5806440" y="4572000"/>
            <a:ext cx="5669280" cy="777240"/>
          </a:xfrm>
          <a:prstGeom prst="rect">
            <a:avLst/>
          </a:prstGeom>
          <a:noFill/>
          <a:ln/>
        </p:spPr>
        <p:txBody>
          <a:bodyPr wrap="square"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Subject: The Office Is Dead — Long Live the Co-Living Space</a:t>
            </a:r>
            <a:endParaRPr lang="en-US" sz="1100" dirty="0"/>
          </a:p>
          <a:p>
            <a:pPr indent="0" marL="0">
              <a:lnSpc>
                <a:spcPct val="115000"/>
              </a:lnSpc>
              <a:buNone/>
            </a:pP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Hi [First Name],</a:t>
            </a: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The shift to remote work has created an unexpected real-estate revolution. In this week’s deep-dive, we explore how...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Demo — Edge Case Handling</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6 of 8</a:t>
            </a:r>
            <a:endParaRPr lang="en-US" sz="1000" dirty="0"/>
          </a:p>
        </p:txBody>
      </p:sp>
      <p:sp>
        <p:nvSpPr>
          <p:cNvPr id="6" name="Shape 4"/>
          <p:cNvSpPr/>
          <p:nvPr/>
        </p:nvSpPr>
        <p:spPr>
          <a:xfrm>
            <a:off x="548640" y="1371600"/>
            <a:ext cx="4754880" cy="502920"/>
          </a:xfrm>
          <a:prstGeom prst="roundRect">
            <a:avLst>
              <a:gd name="adj" fmla="val 10909"/>
            </a:avLst>
          </a:prstGeom>
          <a:solidFill>
            <a:srgbClr val="1E3A5F"/>
          </a:solidFill>
          <a:ln/>
        </p:spPr>
      </p:sp>
      <p:sp>
        <p:nvSpPr>
          <p:cNvPr id="7" name="Text 5"/>
          <p:cNvSpPr/>
          <p:nvPr/>
        </p:nvSpPr>
        <p:spPr>
          <a:xfrm>
            <a:off x="548640" y="1371600"/>
            <a:ext cx="47548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Trigger / Input</a:t>
            </a:r>
            <a:endParaRPr lang="en-US" sz="1500" dirty="0"/>
          </a:p>
        </p:txBody>
      </p:sp>
      <p:sp>
        <p:nvSpPr>
          <p:cNvPr id="8" name="Shape 6"/>
          <p:cNvSpPr/>
          <p:nvPr/>
        </p:nvSpPr>
        <p:spPr>
          <a:xfrm>
            <a:off x="5486400" y="1371600"/>
            <a:ext cx="6126480" cy="502920"/>
          </a:xfrm>
          <a:prstGeom prst="roundRect">
            <a:avLst>
              <a:gd name="adj" fmla="val 10909"/>
            </a:avLst>
          </a:prstGeom>
          <a:solidFill>
            <a:srgbClr val="1E3A5F"/>
          </a:solidFill>
          <a:ln/>
        </p:spPr>
      </p:sp>
      <p:sp>
        <p:nvSpPr>
          <p:cNvPr id="9" name="Text 7"/>
          <p:cNvSpPr/>
          <p:nvPr/>
        </p:nvSpPr>
        <p:spPr>
          <a:xfrm>
            <a:off x="5486400" y="1371600"/>
            <a:ext cx="61264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System Response</a:t>
            </a:r>
            <a:endParaRPr lang="en-US" sz="1500" dirty="0"/>
          </a:p>
        </p:txBody>
      </p:sp>
      <p:sp>
        <p:nvSpPr>
          <p:cNvPr id="10" name="Shape 8"/>
          <p:cNvSpPr/>
          <p:nvPr/>
        </p:nvSpPr>
        <p:spPr>
          <a:xfrm>
            <a:off x="548640" y="2057400"/>
            <a:ext cx="4754880" cy="685800"/>
          </a:xfrm>
          <a:prstGeom prst="roundRect">
            <a:avLst>
              <a:gd name="adj" fmla="val 8000"/>
            </a:avLst>
          </a:prstGeom>
          <a:solidFill>
            <a:srgbClr val="F1F5F9"/>
          </a:solidFill>
          <a:ln/>
        </p:spPr>
      </p:sp>
      <p:sp>
        <p:nvSpPr>
          <p:cNvPr id="11" name="Shape 9"/>
          <p:cNvSpPr/>
          <p:nvPr/>
        </p:nvSpPr>
        <p:spPr>
          <a:xfrm>
            <a:off x="548640" y="2130552"/>
            <a:ext cx="91440" cy="530352"/>
          </a:xfrm>
          <a:prstGeom prst="rect">
            <a:avLst/>
          </a:prstGeom>
          <a:solidFill>
            <a:srgbClr val="DC2626"/>
          </a:solidFill>
          <a:ln/>
        </p:spPr>
      </p:sp>
      <p:sp>
        <p:nvSpPr>
          <p:cNvPr id="12" name="Text 10"/>
          <p:cNvSpPr/>
          <p:nvPr/>
        </p:nvSpPr>
        <p:spPr>
          <a:xfrm>
            <a:off x="822960" y="2057400"/>
            <a:ext cx="4389120" cy="6858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Empty input submitted</a:t>
            </a:r>
            <a:endParaRPr lang="en-US" sz="1400" dirty="0"/>
          </a:p>
        </p:txBody>
      </p:sp>
      <p:sp>
        <p:nvSpPr>
          <p:cNvPr id="13" name="Text 11"/>
          <p:cNvSpPr/>
          <p:nvPr/>
        </p:nvSpPr>
        <p:spPr>
          <a:xfrm>
            <a:off x="5029200" y="2057400"/>
            <a:ext cx="640080" cy="68580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14" name="Shape 12"/>
          <p:cNvSpPr/>
          <p:nvPr/>
        </p:nvSpPr>
        <p:spPr>
          <a:xfrm>
            <a:off x="5486400" y="2057400"/>
            <a:ext cx="6126480" cy="685800"/>
          </a:xfrm>
          <a:prstGeom prst="roundRect">
            <a:avLst>
              <a:gd name="adj" fmla="val 8000"/>
            </a:avLst>
          </a:prstGeom>
          <a:solidFill>
            <a:srgbClr val="F1F5F9"/>
          </a:solidFill>
          <a:ln/>
        </p:spPr>
      </p:sp>
      <p:sp>
        <p:nvSpPr>
          <p:cNvPr id="15" name="Text 13"/>
          <p:cNvSpPr/>
          <p:nvPr/>
        </p:nvSpPr>
        <p:spPr>
          <a:xfrm>
            <a:off x="5669280" y="2057400"/>
            <a:ext cx="576072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400 Bad Request — immediate rejection with validation message</a:t>
            </a:r>
            <a:endParaRPr lang="en-US" sz="1300" dirty="0"/>
          </a:p>
        </p:txBody>
      </p:sp>
      <p:sp>
        <p:nvSpPr>
          <p:cNvPr id="16" name="Shape 14"/>
          <p:cNvSpPr/>
          <p:nvPr/>
        </p:nvSpPr>
        <p:spPr>
          <a:xfrm>
            <a:off x="548640" y="2926080"/>
            <a:ext cx="4754880" cy="685800"/>
          </a:xfrm>
          <a:prstGeom prst="roundRect">
            <a:avLst>
              <a:gd name="adj" fmla="val 8000"/>
            </a:avLst>
          </a:prstGeom>
          <a:solidFill>
            <a:srgbClr val="F1F5F9"/>
          </a:solidFill>
          <a:ln/>
        </p:spPr>
      </p:sp>
      <p:sp>
        <p:nvSpPr>
          <p:cNvPr id="17" name="Shape 15"/>
          <p:cNvSpPr/>
          <p:nvPr/>
        </p:nvSpPr>
        <p:spPr>
          <a:xfrm>
            <a:off x="548640" y="2999232"/>
            <a:ext cx="91440" cy="530352"/>
          </a:xfrm>
          <a:prstGeom prst="rect">
            <a:avLst/>
          </a:prstGeom>
          <a:solidFill>
            <a:srgbClr val="EA580C"/>
          </a:solidFill>
          <a:ln/>
        </p:spPr>
      </p:sp>
      <p:sp>
        <p:nvSpPr>
          <p:cNvPr id="18" name="Text 16"/>
          <p:cNvSpPr/>
          <p:nvPr/>
        </p:nvSpPr>
        <p:spPr>
          <a:xfrm>
            <a:off x="822960" y="2926080"/>
            <a:ext cx="4389120" cy="6858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Duplicate submission</a:t>
            </a:r>
            <a:endParaRPr lang="en-US" sz="1400" dirty="0"/>
          </a:p>
        </p:txBody>
      </p:sp>
      <p:sp>
        <p:nvSpPr>
          <p:cNvPr id="19" name="Text 17"/>
          <p:cNvSpPr/>
          <p:nvPr/>
        </p:nvSpPr>
        <p:spPr>
          <a:xfrm>
            <a:off x="5029200" y="2926080"/>
            <a:ext cx="640080" cy="68580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20" name="Shape 18"/>
          <p:cNvSpPr/>
          <p:nvPr/>
        </p:nvSpPr>
        <p:spPr>
          <a:xfrm>
            <a:off x="5486400" y="2926080"/>
            <a:ext cx="6126480" cy="685800"/>
          </a:xfrm>
          <a:prstGeom prst="roundRect">
            <a:avLst>
              <a:gd name="adj" fmla="val 8000"/>
            </a:avLst>
          </a:prstGeom>
          <a:solidFill>
            <a:srgbClr val="F1F5F9"/>
          </a:solidFill>
          <a:ln/>
        </p:spPr>
      </p:sp>
      <p:sp>
        <p:nvSpPr>
          <p:cNvPr id="21" name="Text 19"/>
          <p:cNvSpPr/>
          <p:nvPr/>
        </p:nvSpPr>
        <p:spPr>
          <a:xfrm>
            <a:off x="5669280" y="2926080"/>
            <a:ext cx="576072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409 Conflict — "Content already submitted" with existing ID</a:t>
            </a:r>
            <a:endParaRPr lang="en-US" sz="1300" dirty="0"/>
          </a:p>
        </p:txBody>
      </p:sp>
      <p:sp>
        <p:nvSpPr>
          <p:cNvPr id="22" name="Shape 20"/>
          <p:cNvSpPr/>
          <p:nvPr/>
        </p:nvSpPr>
        <p:spPr>
          <a:xfrm>
            <a:off x="548640" y="3794760"/>
            <a:ext cx="4754880" cy="685800"/>
          </a:xfrm>
          <a:prstGeom prst="roundRect">
            <a:avLst>
              <a:gd name="adj" fmla="val 8000"/>
            </a:avLst>
          </a:prstGeom>
          <a:solidFill>
            <a:srgbClr val="F1F5F9"/>
          </a:solidFill>
          <a:ln/>
        </p:spPr>
      </p:sp>
      <p:sp>
        <p:nvSpPr>
          <p:cNvPr id="23" name="Shape 21"/>
          <p:cNvSpPr/>
          <p:nvPr/>
        </p:nvSpPr>
        <p:spPr>
          <a:xfrm>
            <a:off x="548640" y="3867912"/>
            <a:ext cx="91440" cy="530352"/>
          </a:xfrm>
          <a:prstGeom prst="rect">
            <a:avLst/>
          </a:prstGeom>
          <a:solidFill>
            <a:srgbClr val="CA8A04"/>
          </a:solidFill>
          <a:ln/>
        </p:spPr>
      </p:sp>
      <p:sp>
        <p:nvSpPr>
          <p:cNvPr id="24" name="Text 22"/>
          <p:cNvSpPr/>
          <p:nvPr/>
        </p:nvSpPr>
        <p:spPr>
          <a:xfrm>
            <a:off x="822960" y="3794760"/>
            <a:ext cx="4389120" cy="6858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AI generation failure</a:t>
            </a:r>
            <a:endParaRPr lang="en-US" sz="1400" dirty="0"/>
          </a:p>
        </p:txBody>
      </p:sp>
      <p:sp>
        <p:nvSpPr>
          <p:cNvPr id="25" name="Text 23"/>
          <p:cNvSpPr/>
          <p:nvPr/>
        </p:nvSpPr>
        <p:spPr>
          <a:xfrm>
            <a:off x="5029200" y="3794760"/>
            <a:ext cx="640080" cy="68580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26" name="Shape 24"/>
          <p:cNvSpPr/>
          <p:nvPr/>
        </p:nvSpPr>
        <p:spPr>
          <a:xfrm>
            <a:off x="5486400" y="3794760"/>
            <a:ext cx="6126480" cy="685800"/>
          </a:xfrm>
          <a:prstGeom prst="roundRect">
            <a:avLst>
              <a:gd name="adj" fmla="val 8000"/>
            </a:avLst>
          </a:prstGeom>
          <a:solidFill>
            <a:srgbClr val="F1F5F9"/>
          </a:solidFill>
          <a:ln/>
        </p:spPr>
      </p:sp>
      <p:sp>
        <p:nvSpPr>
          <p:cNvPr id="27" name="Text 25"/>
          <p:cNvSpPr/>
          <p:nvPr/>
        </p:nvSpPr>
        <p:spPr>
          <a:xfrm>
            <a:off x="5669280" y="3794760"/>
            <a:ext cx="576072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Retries with exponential backoff (1s → 2s → 4s), then graceful error</a:t>
            </a:r>
            <a:endParaRPr lang="en-US" sz="1300" dirty="0"/>
          </a:p>
        </p:txBody>
      </p:sp>
      <p:sp>
        <p:nvSpPr>
          <p:cNvPr id="28" name="Shape 26"/>
          <p:cNvSpPr/>
          <p:nvPr/>
        </p:nvSpPr>
        <p:spPr>
          <a:xfrm>
            <a:off x="548640" y="4663440"/>
            <a:ext cx="4754880" cy="685800"/>
          </a:xfrm>
          <a:prstGeom prst="roundRect">
            <a:avLst>
              <a:gd name="adj" fmla="val 8000"/>
            </a:avLst>
          </a:prstGeom>
          <a:solidFill>
            <a:srgbClr val="F1F5F9"/>
          </a:solidFill>
          <a:ln/>
        </p:spPr>
      </p:sp>
      <p:sp>
        <p:nvSpPr>
          <p:cNvPr id="29" name="Shape 27"/>
          <p:cNvSpPr/>
          <p:nvPr/>
        </p:nvSpPr>
        <p:spPr>
          <a:xfrm>
            <a:off x="548640" y="4736592"/>
            <a:ext cx="91440" cy="530352"/>
          </a:xfrm>
          <a:prstGeom prst="rect">
            <a:avLst/>
          </a:prstGeom>
          <a:solidFill>
            <a:srgbClr val="2563EB"/>
          </a:solidFill>
          <a:ln/>
        </p:spPr>
      </p:sp>
      <p:sp>
        <p:nvSpPr>
          <p:cNvPr id="30" name="Text 28"/>
          <p:cNvSpPr/>
          <p:nvPr/>
        </p:nvSpPr>
        <p:spPr>
          <a:xfrm>
            <a:off x="822960" y="4663440"/>
            <a:ext cx="4389120" cy="6858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X/Twitter &gt; 280 characters</a:t>
            </a:r>
            <a:endParaRPr lang="en-US" sz="1400" dirty="0"/>
          </a:p>
        </p:txBody>
      </p:sp>
      <p:sp>
        <p:nvSpPr>
          <p:cNvPr id="31" name="Text 29"/>
          <p:cNvSpPr/>
          <p:nvPr/>
        </p:nvSpPr>
        <p:spPr>
          <a:xfrm>
            <a:off x="5029200" y="4663440"/>
            <a:ext cx="640080" cy="68580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32" name="Shape 30"/>
          <p:cNvSpPr/>
          <p:nvPr/>
        </p:nvSpPr>
        <p:spPr>
          <a:xfrm>
            <a:off x="5486400" y="4663440"/>
            <a:ext cx="6126480" cy="685800"/>
          </a:xfrm>
          <a:prstGeom prst="roundRect">
            <a:avLst>
              <a:gd name="adj" fmla="val 8000"/>
            </a:avLst>
          </a:prstGeom>
          <a:solidFill>
            <a:srgbClr val="F1F5F9"/>
          </a:solidFill>
          <a:ln/>
        </p:spPr>
      </p:sp>
      <p:sp>
        <p:nvSpPr>
          <p:cNvPr id="33" name="Text 31"/>
          <p:cNvSpPr/>
          <p:nvPr/>
        </p:nvSpPr>
        <p:spPr>
          <a:xfrm>
            <a:off x="5669280" y="4663440"/>
            <a:ext cx="576072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Smart truncation at nearest sentence boundary + ellipsis</a:t>
            </a:r>
            <a:endParaRPr lang="en-US" sz="1300" dirty="0"/>
          </a:p>
        </p:txBody>
      </p:sp>
      <p:sp>
        <p:nvSpPr>
          <p:cNvPr id="34" name="Shape 32"/>
          <p:cNvSpPr/>
          <p:nvPr/>
        </p:nvSpPr>
        <p:spPr>
          <a:xfrm>
            <a:off x="548640" y="5532120"/>
            <a:ext cx="4754880" cy="685800"/>
          </a:xfrm>
          <a:prstGeom prst="roundRect">
            <a:avLst>
              <a:gd name="adj" fmla="val 8000"/>
            </a:avLst>
          </a:prstGeom>
          <a:solidFill>
            <a:srgbClr val="F1F5F9"/>
          </a:solidFill>
          <a:ln/>
        </p:spPr>
      </p:sp>
      <p:sp>
        <p:nvSpPr>
          <p:cNvPr id="35" name="Shape 33"/>
          <p:cNvSpPr/>
          <p:nvPr/>
        </p:nvSpPr>
        <p:spPr>
          <a:xfrm>
            <a:off x="548640" y="5605272"/>
            <a:ext cx="91440" cy="530352"/>
          </a:xfrm>
          <a:prstGeom prst="rect">
            <a:avLst/>
          </a:prstGeom>
          <a:solidFill>
            <a:srgbClr val="7C3AED"/>
          </a:solidFill>
          <a:ln/>
        </p:spPr>
      </p:sp>
      <p:sp>
        <p:nvSpPr>
          <p:cNvPr id="36" name="Text 34"/>
          <p:cNvSpPr/>
          <p:nvPr/>
        </p:nvSpPr>
        <p:spPr>
          <a:xfrm>
            <a:off x="822960" y="5532120"/>
            <a:ext cx="4389120" cy="6858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Expired submission (&gt;24h)</a:t>
            </a:r>
            <a:endParaRPr lang="en-US" sz="1400" dirty="0"/>
          </a:p>
        </p:txBody>
      </p:sp>
      <p:sp>
        <p:nvSpPr>
          <p:cNvPr id="37" name="Text 35"/>
          <p:cNvSpPr/>
          <p:nvPr/>
        </p:nvSpPr>
        <p:spPr>
          <a:xfrm>
            <a:off x="5029200" y="5532120"/>
            <a:ext cx="640080" cy="68580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38" name="Shape 36"/>
          <p:cNvSpPr/>
          <p:nvPr/>
        </p:nvSpPr>
        <p:spPr>
          <a:xfrm>
            <a:off x="5486400" y="5532120"/>
            <a:ext cx="6126480" cy="685800"/>
          </a:xfrm>
          <a:prstGeom prst="roundRect">
            <a:avLst>
              <a:gd name="adj" fmla="val 8000"/>
            </a:avLst>
          </a:prstGeom>
          <a:solidFill>
            <a:srgbClr val="F1F5F9"/>
          </a:solidFill>
          <a:ln/>
        </p:spPr>
      </p:sp>
      <p:sp>
        <p:nvSpPr>
          <p:cNvPr id="39" name="Text 37"/>
          <p:cNvSpPr/>
          <p:nvPr/>
        </p:nvSpPr>
        <p:spPr>
          <a:xfrm>
            <a:off x="5669280" y="5532120"/>
            <a:ext cx="576072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Clear "Submission expired — please resubmit" message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Production Readiness</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7 of 8</a:t>
            </a:r>
            <a:endParaRPr lang="en-US" sz="1000" dirty="0"/>
          </a:p>
        </p:txBody>
      </p:sp>
      <p:sp>
        <p:nvSpPr>
          <p:cNvPr id="6" name="Shape 4"/>
          <p:cNvSpPr/>
          <p:nvPr/>
        </p:nvSpPr>
        <p:spPr>
          <a:xfrm>
            <a:off x="548640" y="1463040"/>
            <a:ext cx="2743200" cy="658368"/>
          </a:xfrm>
          <a:prstGeom prst="roundRect">
            <a:avLst>
              <a:gd name="adj" fmla="val 8333"/>
            </a:avLst>
          </a:prstGeom>
          <a:solidFill>
            <a:srgbClr val="1E3A5F"/>
          </a:solidFill>
          <a:ln/>
        </p:spPr>
      </p:sp>
      <p:sp>
        <p:nvSpPr>
          <p:cNvPr id="7" name="Text 5"/>
          <p:cNvSpPr/>
          <p:nvPr/>
        </p:nvSpPr>
        <p:spPr>
          <a:xfrm>
            <a:off x="548640" y="1463040"/>
            <a:ext cx="2743200" cy="65836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Scoring Criteria</a:t>
            </a:r>
            <a:endParaRPr lang="en-US" sz="1500" dirty="0"/>
          </a:p>
        </p:txBody>
      </p:sp>
      <p:sp>
        <p:nvSpPr>
          <p:cNvPr id="8" name="Shape 6"/>
          <p:cNvSpPr/>
          <p:nvPr/>
        </p:nvSpPr>
        <p:spPr>
          <a:xfrm>
            <a:off x="3383280" y="1463040"/>
            <a:ext cx="8321040" cy="658368"/>
          </a:xfrm>
          <a:prstGeom prst="roundRect">
            <a:avLst>
              <a:gd name="adj" fmla="val 8333"/>
            </a:avLst>
          </a:prstGeom>
          <a:solidFill>
            <a:srgbClr val="1E3A5F"/>
          </a:solidFill>
          <a:ln/>
        </p:spPr>
      </p:sp>
      <p:sp>
        <p:nvSpPr>
          <p:cNvPr id="9" name="Text 7"/>
          <p:cNvSpPr/>
          <p:nvPr/>
        </p:nvSpPr>
        <p:spPr>
          <a:xfrm>
            <a:off x="3383280" y="1463040"/>
            <a:ext cx="8321040" cy="65836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Evidence</a:t>
            </a:r>
            <a:endParaRPr lang="en-US" sz="1500" dirty="0"/>
          </a:p>
        </p:txBody>
      </p:sp>
      <p:sp>
        <p:nvSpPr>
          <p:cNvPr id="10" name="Shape 8"/>
          <p:cNvSpPr/>
          <p:nvPr/>
        </p:nvSpPr>
        <p:spPr>
          <a:xfrm>
            <a:off x="548640" y="2212848"/>
            <a:ext cx="2743200" cy="658368"/>
          </a:xfrm>
          <a:prstGeom prst="roundRect">
            <a:avLst>
              <a:gd name="adj" fmla="val 8333"/>
            </a:avLst>
          </a:prstGeom>
          <a:solidFill>
            <a:srgbClr val="F1F5F9"/>
          </a:solidFill>
          <a:ln w="6350">
            <a:solidFill>
              <a:srgbClr val="CBD5E1"/>
            </a:solidFill>
            <a:prstDash val="solid"/>
          </a:ln>
        </p:spPr>
      </p:sp>
      <p:sp>
        <p:nvSpPr>
          <p:cNvPr id="11" name="Text 9"/>
          <p:cNvSpPr/>
          <p:nvPr/>
        </p:nvSpPr>
        <p:spPr>
          <a:xfrm>
            <a:off x="731520" y="2212848"/>
            <a:ext cx="2377440" cy="65836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Error Handling</a:t>
            </a:r>
            <a:endParaRPr lang="en-US" sz="1400" dirty="0"/>
          </a:p>
        </p:txBody>
      </p:sp>
      <p:sp>
        <p:nvSpPr>
          <p:cNvPr id="12" name="Shape 10"/>
          <p:cNvSpPr/>
          <p:nvPr/>
        </p:nvSpPr>
        <p:spPr>
          <a:xfrm>
            <a:off x="3383280" y="2212848"/>
            <a:ext cx="8321040" cy="658368"/>
          </a:xfrm>
          <a:prstGeom prst="roundRect">
            <a:avLst>
              <a:gd name="adj" fmla="val 8333"/>
            </a:avLst>
          </a:prstGeom>
          <a:solidFill>
            <a:srgbClr val="F1F5F9"/>
          </a:solidFill>
          <a:ln w="6350">
            <a:solidFill>
              <a:srgbClr val="CBD5E1"/>
            </a:solidFill>
            <a:prstDash val="solid"/>
          </a:ln>
        </p:spPr>
      </p:sp>
      <p:sp>
        <p:nvSpPr>
          <p:cNvPr id="13" name="Text 11"/>
          <p:cNvSpPr/>
          <p:nvPr/>
        </p:nvSpPr>
        <p:spPr>
          <a:xfrm>
            <a:off x="3566160" y="2212848"/>
            <a:ext cx="7955280" cy="65836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Retry logic with backoff, error-trigger workflow, status-based tracking</a:t>
            </a:r>
            <a:endParaRPr lang="en-US" sz="1300" dirty="0"/>
          </a:p>
        </p:txBody>
      </p:sp>
      <p:sp>
        <p:nvSpPr>
          <p:cNvPr id="14" name="Shape 12"/>
          <p:cNvSpPr/>
          <p:nvPr/>
        </p:nvSpPr>
        <p:spPr>
          <a:xfrm>
            <a:off x="548640" y="2944368"/>
            <a:ext cx="2743200" cy="658368"/>
          </a:xfrm>
          <a:prstGeom prst="roundRect">
            <a:avLst>
              <a:gd name="adj" fmla="val 8333"/>
            </a:avLst>
          </a:prstGeom>
          <a:solidFill>
            <a:srgbClr val="FFFFFF"/>
          </a:solidFill>
          <a:ln w="6350">
            <a:solidFill>
              <a:srgbClr val="CBD5E1"/>
            </a:solidFill>
            <a:prstDash val="solid"/>
          </a:ln>
        </p:spPr>
      </p:sp>
      <p:sp>
        <p:nvSpPr>
          <p:cNvPr id="15" name="Text 13"/>
          <p:cNvSpPr/>
          <p:nvPr/>
        </p:nvSpPr>
        <p:spPr>
          <a:xfrm>
            <a:off x="731520" y="2944368"/>
            <a:ext cx="2377440" cy="65836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Edge Cases</a:t>
            </a:r>
            <a:endParaRPr lang="en-US" sz="1400" dirty="0"/>
          </a:p>
        </p:txBody>
      </p:sp>
      <p:sp>
        <p:nvSpPr>
          <p:cNvPr id="16" name="Shape 14"/>
          <p:cNvSpPr/>
          <p:nvPr/>
        </p:nvSpPr>
        <p:spPr>
          <a:xfrm>
            <a:off x="3383280" y="2944368"/>
            <a:ext cx="8321040" cy="658368"/>
          </a:xfrm>
          <a:prstGeom prst="roundRect">
            <a:avLst>
              <a:gd name="adj" fmla="val 8333"/>
            </a:avLst>
          </a:prstGeom>
          <a:solidFill>
            <a:srgbClr val="FFFFFF"/>
          </a:solidFill>
          <a:ln w="6350">
            <a:solidFill>
              <a:srgbClr val="CBD5E1"/>
            </a:solidFill>
            <a:prstDash val="solid"/>
          </a:ln>
        </p:spPr>
      </p:sp>
      <p:sp>
        <p:nvSpPr>
          <p:cNvPr id="17" name="Text 15"/>
          <p:cNvSpPr/>
          <p:nvPr/>
        </p:nvSpPr>
        <p:spPr>
          <a:xfrm>
            <a:off x="3566160" y="2944368"/>
            <a:ext cx="7955280" cy="65836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27 test cases, input validation, type coercion guards</a:t>
            </a:r>
            <a:endParaRPr lang="en-US" sz="1300" dirty="0"/>
          </a:p>
        </p:txBody>
      </p:sp>
      <p:sp>
        <p:nvSpPr>
          <p:cNvPr id="18" name="Shape 16"/>
          <p:cNvSpPr/>
          <p:nvPr/>
        </p:nvSpPr>
        <p:spPr>
          <a:xfrm>
            <a:off x="548640" y="3675888"/>
            <a:ext cx="2743200" cy="658368"/>
          </a:xfrm>
          <a:prstGeom prst="roundRect">
            <a:avLst>
              <a:gd name="adj" fmla="val 8333"/>
            </a:avLst>
          </a:prstGeom>
          <a:solidFill>
            <a:srgbClr val="F1F5F9"/>
          </a:solidFill>
          <a:ln w="6350">
            <a:solidFill>
              <a:srgbClr val="CBD5E1"/>
            </a:solidFill>
            <a:prstDash val="solid"/>
          </a:ln>
        </p:spPr>
      </p:sp>
      <p:sp>
        <p:nvSpPr>
          <p:cNvPr id="19" name="Text 17"/>
          <p:cNvSpPr/>
          <p:nvPr/>
        </p:nvSpPr>
        <p:spPr>
          <a:xfrm>
            <a:off x="731520" y="3675888"/>
            <a:ext cx="2377440" cy="65836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Cost Awareness</a:t>
            </a:r>
            <a:endParaRPr lang="en-US" sz="1400" dirty="0"/>
          </a:p>
        </p:txBody>
      </p:sp>
      <p:sp>
        <p:nvSpPr>
          <p:cNvPr id="20" name="Shape 18"/>
          <p:cNvSpPr/>
          <p:nvPr/>
        </p:nvSpPr>
        <p:spPr>
          <a:xfrm>
            <a:off x="3383280" y="3675888"/>
            <a:ext cx="8321040" cy="658368"/>
          </a:xfrm>
          <a:prstGeom prst="roundRect">
            <a:avLst>
              <a:gd name="adj" fmla="val 8333"/>
            </a:avLst>
          </a:prstGeom>
          <a:solidFill>
            <a:srgbClr val="F1F5F9"/>
          </a:solidFill>
          <a:ln w="6350">
            <a:solidFill>
              <a:srgbClr val="CBD5E1"/>
            </a:solidFill>
            <a:prstDash val="solid"/>
          </a:ln>
        </p:spPr>
      </p:sp>
      <p:sp>
        <p:nvSpPr>
          <p:cNvPr id="21" name="Text 19"/>
          <p:cNvSpPr/>
          <p:nvPr/>
        </p:nvSpPr>
        <p:spPr>
          <a:xfrm>
            <a:off x="3566160" y="3675888"/>
            <a:ext cx="7955280" cy="65836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Sequential generation, duplicate detection, cached extraction</a:t>
            </a:r>
            <a:endParaRPr lang="en-US" sz="1300" dirty="0"/>
          </a:p>
        </p:txBody>
      </p:sp>
      <p:sp>
        <p:nvSpPr>
          <p:cNvPr id="22" name="Shape 20"/>
          <p:cNvSpPr/>
          <p:nvPr/>
        </p:nvSpPr>
        <p:spPr>
          <a:xfrm>
            <a:off x="548640" y="4407408"/>
            <a:ext cx="2743200" cy="658368"/>
          </a:xfrm>
          <a:prstGeom prst="roundRect">
            <a:avLst>
              <a:gd name="adj" fmla="val 8333"/>
            </a:avLst>
          </a:prstGeom>
          <a:solidFill>
            <a:srgbClr val="FFFFFF"/>
          </a:solidFill>
          <a:ln w="6350">
            <a:solidFill>
              <a:srgbClr val="CBD5E1"/>
            </a:solidFill>
            <a:prstDash val="solid"/>
          </a:ln>
        </p:spPr>
      </p:sp>
      <p:sp>
        <p:nvSpPr>
          <p:cNvPr id="23" name="Text 21"/>
          <p:cNvSpPr/>
          <p:nvPr/>
        </p:nvSpPr>
        <p:spPr>
          <a:xfrm>
            <a:off x="731520" y="4407408"/>
            <a:ext cx="2377440" cy="65836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Unbreakable Workflows</a:t>
            </a:r>
            <a:endParaRPr lang="en-US" sz="1400" dirty="0"/>
          </a:p>
        </p:txBody>
      </p:sp>
      <p:sp>
        <p:nvSpPr>
          <p:cNvPr id="24" name="Shape 22"/>
          <p:cNvSpPr/>
          <p:nvPr/>
        </p:nvSpPr>
        <p:spPr>
          <a:xfrm>
            <a:off x="3383280" y="4407408"/>
            <a:ext cx="8321040" cy="658368"/>
          </a:xfrm>
          <a:prstGeom prst="roundRect">
            <a:avLst>
              <a:gd name="adj" fmla="val 8333"/>
            </a:avLst>
          </a:prstGeom>
          <a:solidFill>
            <a:srgbClr val="FFFFFF"/>
          </a:solidFill>
          <a:ln w="6350">
            <a:solidFill>
              <a:srgbClr val="CBD5E1"/>
            </a:solidFill>
            <a:prstDash val="solid"/>
          </a:ln>
        </p:spPr>
      </p:sp>
      <p:sp>
        <p:nvSpPr>
          <p:cNvPr id="25" name="Text 23"/>
          <p:cNvSpPr/>
          <p:nvPr/>
        </p:nvSpPr>
        <p:spPr>
          <a:xfrm>
            <a:off x="3566160" y="4407408"/>
            <a:ext cx="7955280" cy="65836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Idempotency keys, optimistic locking, dedup hashing</a:t>
            </a:r>
            <a:endParaRPr lang="en-US" sz="1300" dirty="0"/>
          </a:p>
        </p:txBody>
      </p:sp>
      <p:sp>
        <p:nvSpPr>
          <p:cNvPr id="26" name="Shape 24"/>
          <p:cNvSpPr/>
          <p:nvPr/>
        </p:nvSpPr>
        <p:spPr>
          <a:xfrm>
            <a:off x="548640" y="5138928"/>
            <a:ext cx="2743200" cy="658368"/>
          </a:xfrm>
          <a:prstGeom prst="roundRect">
            <a:avLst>
              <a:gd name="adj" fmla="val 8333"/>
            </a:avLst>
          </a:prstGeom>
          <a:solidFill>
            <a:srgbClr val="F1F5F9"/>
          </a:solidFill>
          <a:ln w="6350">
            <a:solidFill>
              <a:srgbClr val="CBD5E1"/>
            </a:solidFill>
            <a:prstDash val="solid"/>
          </a:ln>
        </p:spPr>
      </p:sp>
      <p:sp>
        <p:nvSpPr>
          <p:cNvPr id="27" name="Text 25"/>
          <p:cNvSpPr/>
          <p:nvPr/>
        </p:nvSpPr>
        <p:spPr>
          <a:xfrm>
            <a:off x="731520" y="5138928"/>
            <a:ext cx="2377440" cy="65836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Security</a:t>
            </a:r>
            <a:endParaRPr lang="en-US" sz="1400" dirty="0"/>
          </a:p>
        </p:txBody>
      </p:sp>
      <p:sp>
        <p:nvSpPr>
          <p:cNvPr id="28" name="Shape 26"/>
          <p:cNvSpPr/>
          <p:nvPr/>
        </p:nvSpPr>
        <p:spPr>
          <a:xfrm>
            <a:off x="3383280" y="5138928"/>
            <a:ext cx="8321040" cy="658368"/>
          </a:xfrm>
          <a:prstGeom prst="roundRect">
            <a:avLst>
              <a:gd name="adj" fmla="val 8333"/>
            </a:avLst>
          </a:prstGeom>
          <a:solidFill>
            <a:srgbClr val="F1F5F9"/>
          </a:solidFill>
          <a:ln w="6350">
            <a:solidFill>
              <a:srgbClr val="CBD5E1"/>
            </a:solidFill>
            <a:prstDash val="solid"/>
          </a:ln>
        </p:spPr>
      </p:sp>
      <p:sp>
        <p:nvSpPr>
          <p:cNvPr id="29" name="Text 27"/>
          <p:cNvSpPr/>
          <p:nvPr/>
        </p:nvSpPr>
        <p:spPr>
          <a:xfrm>
            <a:off x="3566160" y="5138928"/>
            <a:ext cx="7955280" cy="65836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n8n credential store, Supabase RLS policies, input sanitization</a:t>
            </a:r>
            <a:endParaRPr lang="en-US" sz="1300" dirty="0"/>
          </a:p>
        </p:txBody>
      </p:sp>
      <p:sp>
        <p:nvSpPr>
          <p:cNvPr id="30" name="Shape 28"/>
          <p:cNvSpPr/>
          <p:nvPr/>
        </p:nvSpPr>
        <p:spPr>
          <a:xfrm>
            <a:off x="2286000" y="5623560"/>
            <a:ext cx="7589520" cy="502920"/>
          </a:xfrm>
          <a:prstGeom prst="roundRect">
            <a:avLst>
              <a:gd name="adj" fmla="val 18182"/>
            </a:avLst>
          </a:prstGeom>
          <a:solidFill>
            <a:srgbClr val="2563EB"/>
          </a:solidFill>
          <a:ln/>
        </p:spPr>
      </p:sp>
      <p:sp>
        <p:nvSpPr>
          <p:cNvPr id="31" name="Text 29"/>
          <p:cNvSpPr/>
          <p:nvPr/>
        </p:nvSpPr>
        <p:spPr>
          <a:xfrm>
            <a:off x="2286000" y="5623560"/>
            <a:ext cx="7589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Pressure Test Results: 93%+ success rate under sustained load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Trade-offs &amp; Future Improvements</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Fetemi Marketing Agency</a:t>
            </a:r>
            <a:pPr indent="0" marL="0">
              <a:buNone/>
            </a:pPr>
            <a:r>
              <a:rPr lang="en-US" sz="1000" dirty="0">
                <a:solidFill>
                  <a:srgbClr val="64748B"/>
                </a:solidFill>
                <a:latin typeface="Calibri" pitchFamily="34" charset="0"/>
                <a:ea typeface="Calibri" pitchFamily="34" charset="-122"/>
                <a:cs typeface="Calibri" pitchFamily="34" charset="-120"/>
              </a:rPr>
              <a:t>   |   Slide 8 of 8</a:t>
            </a:r>
            <a:endParaRPr lang="en-US" sz="1000" dirty="0"/>
          </a:p>
        </p:txBody>
      </p:sp>
      <p:sp>
        <p:nvSpPr>
          <p:cNvPr id="6" name="Shape 4"/>
          <p:cNvSpPr/>
          <p:nvPr/>
        </p:nvSpPr>
        <p:spPr>
          <a:xfrm>
            <a:off x="457200" y="1371600"/>
            <a:ext cx="5394960" cy="502920"/>
          </a:xfrm>
          <a:prstGeom prst="roundRect">
            <a:avLst>
              <a:gd name="adj" fmla="val 14545"/>
            </a:avLst>
          </a:prstGeom>
          <a:solidFill>
            <a:srgbClr val="1E3A5F"/>
          </a:solidFill>
          <a:ln/>
        </p:spPr>
      </p:sp>
      <p:sp>
        <p:nvSpPr>
          <p:cNvPr id="7" name="Text 5"/>
          <p:cNvSpPr/>
          <p:nvPr/>
        </p:nvSpPr>
        <p:spPr>
          <a:xfrm>
            <a:off x="45720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Trade-offs Made</a:t>
            </a:r>
            <a:endParaRPr lang="en-US" sz="1600" dirty="0"/>
          </a:p>
        </p:txBody>
      </p:sp>
      <p:sp>
        <p:nvSpPr>
          <p:cNvPr id="8" name="Shape 6"/>
          <p:cNvSpPr/>
          <p:nvPr/>
        </p:nvSpPr>
        <p:spPr>
          <a:xfrm>
            <a:off x="640080" y="2103120"/>
            <a:ext cx="5029200" cy="914400"/>
          </a:xfrm>
          <a:prstGeom prst="roundRect">
            <a:avLst>
              <a:gd name="adj" fmla="val 6000"/>
            </a:avLst>
          </a:prstGeom>
          <a:solidFill>
            <a:srgbClr val="F1F5F9"/>
          </a:solidFill>
          <a:ln/>
        </p:spPr>
      </p:sp>
      <p:sp>
        <p:nvSpPr>
          <p:cNvPr id="9" name="Text 7"/>
          <p:cNvSpPr/>
          <p:nvPr/>
        </p:nvSpPr>
        <p:spPr>
          <a:xfrm>
            <a:off x="822960" y="2148840"/>
            <a:ext cx="4663440" cy="2743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  Chose: Sequential generation</a:t>
            </a:r>
            <a:endParaRPr lang="en-US" sz="1300" dirty="0"/>
          </a:p>
        </p:txBody>
      </p:sp>
      <p:sp>
        <p:nvSpPr>
          <p:cNvPr id="10" name="Text 8"/>
          <p:cNvSpPr/>
          <p:nvPr/>
        </p:nvSpPr>
        <p:spPr>
          <a:xfrm>
            <a:off x="822960" y="2423160"/>
            <a:ext cx="4663440" cy="274320"/>
          </a:xfrm>
          <a:prstGeom prst="rect">
            <a:avLst/>
          </a:prstGeom>
          <a:noFill/>
          <a:ln/>
        </p:spPr>
        <p:txBody>
          <a:bodyPr wrap="square" rtlCol="0" anchor="ctr"/>
          <a:lstStyle/>
          <a:p>
            <a:pPr indent="0" marL="0">
              <a:buNone/>
            </a:pPr>
            <a:r>
              <a:rPr lang="en-US" sz="1300" dirty="0">
                <a:solidFill>
                  <a:srgbClr val="DC2626"/>
                </a:solidFill>
                <a:latin typeface="Calibri" pitchFamily="34" charset="0"/>
                <a:ea typeface="Calibri" pitchFamily="34" charset="-122"/>
                <a:cs typeface="Calibri" pitchFamily="34" charset="-120"/>
              </a:rPr>
              <a:t>✘  Over: Parallel</a:t>
            </a:r>
            <a:endParaRPr lang="en-US" sz="1300" dirty="0"/>
          </a:p>
        </p:txBody>
      </p:sp>
      <p:sp>
        <p:nvSpPr>
          <p:cNvPr id="11" name="Text 9"/>
          <p:cNvSpPr/>
          <p:nvPr/>
        </p:nvSpPr>
        <p:spPr>
          <a:xfrm>
            <a:off x="822960" y="2697480"/>
            <a:ext cx="4663440" cy="2743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Rationale: Reliability over speed</a:t>
            </a:r>
            <a:endParaRPr lang="en-US" sz="1200" dirty="0"/>
          </a:p>
        </p:txBody>
      </p:sp>
      <p:sp>
        <p:nvSpPr>
          <p:cNvPr id="12" name="Shape 10"/>
          <p:cNvSpPr/>
          <p:nvPr/>
        </p:nvSpPr>
        <p:spPr>
          <a:xfrm>
            <a:off x="640080" y="3200400"/>
            <a:ext cx="5029200" cy="914400"/>
          </a:xfrm>
          <a:prstGeom prst="roundRect">
            <a:avLst>
              <a:gd name="adj" fmla="val 6000"/>
            </a:avLst>
          </a:prstGeom>
          <a:solidFill>
            <a:srgbClr val="F1F5F9"/>
          </a:solidFill>
          <a:ln/>
        </p:spPr>
      </p:sp>
      <p:sp>
        <p:nvSpPr>
          <p:cNvPr id="13" name="Text 11"/>
          <p:cNvSpPr/>
          <p:nvPr/>
        </p:nvSpPr>
        <p:spPr>
          <a:xfrm>
            <a:off x="822960" y="3246120"/>
            <a:ext cx="4663440" cy="2743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  Chose: Hardcoded SEO rules</a:t>
            </a:r>
            <a:endParaRPr lang="en-US" sz="1300" dirty="0"/>
          </a:p>
        </p:txBody>
      </p:sp>
      <p:sp>
        <p:nvSpPr>
          <p:cNvPr id="14" name="Text 12"/>
          <p:cNvSpPr/>
          <p:nvPr/>
        </p:nvSpPr>
        <p:spPr>
          <a:xfrm>
            <a:off x="822960" y="3520440"/>
            <a:ext cx="4663440" cy="274320"/>
          </a:xfrm>
          <a:prstGeom prst="rect">
            <a:avLst/>
          </a:prstGeom>
          <a:noFill/>
          <a:ln/>
        </p:spPr>
        <p:txBody>
          <a:bodyPr wrap="square" rtlCol="0" anchor="ctr"/>
          <a:lstStyle/>
          <a:p>
            <a:pPr indent="0" marL="0">
              <a:buNone/>
            </a:pPr>
            <a:r>
              <a:rPr lang="en-US" sz="1300" dirty="0">
                <a:solidFill>
                  <a:srgbClr val="DC2626"/>
                </a:solidFill>
                <a:latin typeface="Calibri" pitchFamily="34" charset="0"/>
                <a:ea typeface="Calibri" pitchFamily="34" charset="-122"/>
                <a:cs typeface="Calibri" pitchFamily="34" charset="-120"/>
              </a:rPr>
              <a:t>✘  Over: Fetched from DB</a:t>
            </a:r>
            <a:endParaRPr lang="en-US" sz="1300" dirty="0"/>
          </a:p>
        </p:txBody>
      </p:sp>
      <p:sp>
        <p:nvSpPr>
          <p:cNvPr id="15" name="Text 13"/>
          <p:cNvSpPr/>
          <p:nvPr/>
        </p:nvSpPr>
        <p:spPr>
          <a:xfrm>
            <a:off x="822960" y="3794760"/>
            <a:ext cx="4663440" cy="2743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Rationale: Simplicity over flexibility</a:t>
            </a:r>
            <a:endParaRPr lang="en-US" sz="1200" dirty="0"/>
          </a:p>
        </p:txBody>
      </p:sp>
      <p:sp>
        <p:nvSpPr>
          <p:cNvPr id="16" name="Shape 14"/>
          <p:cNvSpPr/>
          <p:nvPr/>
        </p:nvSpPr>
        <p:spPr>
          <a:xfrm>
            <a:off x="640080" y="4297680"/>
            <a:ext cx="5029200" cy="914400"/>
          </a:xfrm>
          <a:prstGeom prst="roundRect">
            <a:avLst>
              <a:gd name="adj" fmla="val 6000"/>
            </a:avLst>
          </a:prstGeom>
          <a:solidFill>
            <a:srgbClr val="F1F5F9"/>
          </a:solidFill>
          <a:ln/>
        </p:spPr>
      </p:sp>
      <p:sp>
        <p:nvSpPr>
          <p:cNvPr id="17" name="Text 15"/>
          <p:cNvSpPr/>
          <p:nvPr/>
        </p:nvSpPr>
        <p:spPr>
          <a:xfrm>
            <a:off x="822960" y="4343400"/>
            <a:ext cx="4663440" cy="2743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  Chose: Simple polling</a:t>
            </a:r>
            <a:endParaRPr lang="en-US" sz="1300" dirty="0"/>
          </a:p>
        </p:txBody>
      </p:sp>
      <p:sp>
        <p:nvSpPr>
          <p:cNvPr id="18" name="Text 16"/>
          <p:cNvSpPr/>
          <p:nvPr/>
        </p:nvSpPr>
        <p:spPr>
          <a:xfrm>
            <a:off x="822960" y="4617720"/>
            <a:ext cx="4663440" cy="274320"/>
          </a:xfrm>
          <a:prstGeom prst="rect">
            <a:avLst/>
          </a:prstGeom>
          <a:noFill/>
          <a:ln/>
        </p:spPr>
        <p:txBody>
          <a:bodyPr wrap="square" rtlCol="0" anchor="ctr"/>
          <a:lstStyle/>
          <a:p>
            <a:pPr indent="0" marL="0">
              <a:buNone/>
            </a:pPr>
            <a:r>
              <a:rPr lang="en-US" sz="1300" dirty="0">
                <a:solidFill>
                  <a:srgbClr val="DC2626"/>
                </a:solidFill>
                <a:latin typeface="Calibri" pitchFamily="34" charset="0"/>
                <a:ea typeface="Calibri" pitchFamily="34" charset="-122"/>
                <a:cs typeface="Calibri" pitchFamily="34" charset="-120"/>
              </a:rPr>
              <a:t>✘  Over: WebSockets</a:t>
            </a:r>
            <a:endParaRPr lang="en-US" sz="1300" dirty="0"/>
          </a:p>
        </p:txBody>
      </p:sp>
      <p:sp>
        <p:nvSpPr>
          <p:cNvPr id="19" name="Text 17"/>
          <p:cNvSpPr/>
          <p:nvPr/>
        </p:nvSpPr>
        <p:spPr>
          <a:xfrm>
            <a:off x="822960" y="4892040"/>
            <a:ext cx="4663440" cy="2743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Rationale: Simplicity over real-time</a:t>
            </a:r>
            <a:endParaRPr lang="en-US" sz="1200" dirty="0"/>
          </a:p>
        </p:txBody>
      </p:sp>
      <p:sp>
        <p:nvSpPr>
          <p:cNvPr id="20" name="Shape 18"/>
          <p:cNvSpPr/>
          <p:nvPr/>
        </p:nvSpPr>
        <p:spPr>
          <a:xfrm>
            <a:off x="6309360" y="1371600"/>
            <a:ext cx="5394960" cy="502920"/>
          </a:xfrm>
          <a:prstGeom prst="roundRect">
            <a:avLst>
              <a:gd name="adj" fmla="val 14545"/>
            </a:avLst>
          </a:prstGeom>
          <a:solidFill>
            <a:srgbClr val="2563EB"/>
          </a:solidFill>
          <a:ln/>
        </p:spPr>
      </p:sp>
      <p:sp>
        <p:nvSpPr>
          <p:cNvPr id="21" name="Text 19"/>
          <p:cNvSpPr/>
          <p:nvPr/>
        </p:nvSpPr>
        <p:spPr>
          <a:xfrm>
            <a:off x="630936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Future Improvements</a:t>
            </a:r>
            <a:endParaRPr lang="en-US" sz="1600" dirty="0"/>
          </a:p>
        </p:txBody>
      </p:sp>
      <p:sp>
        <p:nvSpPr>
          <p:cNvPr id="22" name="Shape 20"/>
          <p:cNvSpPr/>
          <p:nvPr/>
        </p:nvSpPr>
        <p:spPr>
          <a:xfrm>
            <a:off x="6492240" y="2103120"/>
            <a:ext cx="5029200" cy="530352"/>
          </a:xfrm>
          <a:prstGeom prst="roundRect">
            <a:avLst>
              <a:gd name="adj" fmla="val 10345"/>
            </a:avLst>
          </a:prstGeom>
          <a:solidFill>
            <a:srgbClr val="F1F5F9"/>
          </a:solidFill>
          <a:ln/>
        </p:spPr>
      </p:sp>
      <p:sp>
        <p:nvSpPr>
          <p:cNvPr id="23" name="Text 21"/>
          <p:cNvSpPr/>
          <p:nvPr/>
        </p:nvSpPr>
        <p:spPr>
          <a:xfrm>
            <a:off x="6583680" y="2103120"/>
            <a:ext cx="36576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1.</a:t>
            </a:r>
            <a:endParaRPr lang="en-US" sz="1400" dirty="0"/>
          </a:p>
        </p:txBody>
      </p:sp>
      <p:sp>
        <p:nvSpPr>
          <p:cNvPr id="24" name="Text 22"/>
          <p:cNvSpPr/>
          <p:nvPr/>
        </p:nvSpPr>
        <p:spPr>
          <a:xfrm>
            <a:off x="6903720" y="2103120"/>
            <a:ext cx="4480560" cy="53035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Second approval gate after platform adaptation</a:t>
            </a:r>
            <a:endParaRPr lang="en-US" sz="1400" dirty="0"/>
          </a:p>
        </p:txBody>
      </p:sp>
      <p:sp>
        <p:nvSpPr>
          <p:cNvPr id="25" name="Shape 23"/>
          <p:cNvSpPr/>
          <p:nvPr/>
        </p:nvSpPr>
        <p:spPr>
          <a:xfrm>
            <a:off x="6492240" y="2788920"/>
            <a:ext cx="5029200" cy="530352"/>
          </a:xfrm>
          <a:prstGeom prst="roundRect">
            <a:avLst>
              <a:gd name="adj" fmla="val 10345"/>
            </a:avLst>
          </a:prstGeom>
          <a:solidFill>
            <a:srgbClr val="F1F5F9"/>
          </a:solidFill>
          <a:ln/>
        </p:spPr>
      </p:sp>
      <p:sp>
        <p:nvSpPr>
          <p:cNvPr id="26" name="Text 24"/>
          <p:cNvSpPr/>
          <p:nvPr/>
        </p:nvSpPr>
        <p:spPr>
          <a:xfrm>
            <a:off x="6583680" y="2788920"/>
            <a:ext cx="36576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2.</a:t>
            </a:r>
            <a:endParaRPr lang="en-US" sz="1400" dirty="0"/>
          </a:p>
        </p:txBody>
      </p:sp>
      <p:sp>
        <p:nvSpPr>
          <p:cNvPr id="27" name="Text 25"/>
          <p:cNvSpPr/>
          <p:nvPr/>
        </p:nvSpPr>
        <p:spPr>
          <a:xfrm>
            <a:off x="6903720" y="2788920"/>
            <a:ext cx="4480560" cy="53035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Queue depth indicator in the frontend</a:t>
            </a:r>
            <a:endParaRPr lang="en-US" sz="1400" dirty="0"/>
          </a:p>
        </p:txBody>
      </p:sp>
      <p:sp>
        <p:nvSpPr>
          <p:cNvPr id="28" name="Shape 26"/>
          <p:cNvSpPr/>
          <p:nvPr/>
        </p:nvSpPr>
        <p:spPr>
          <a:xfrm>
            <a:off x="6492240" y="3474720"/>
            <a:ext cx="5029200" cy="530352"/>
          </a:xfrm>
          <a:prstGeom prst="roundRect">
            <a:avLst>
              <a:gd name="adj" fmla="val 10345"/>
            </a:avLst>
          </a:prstGeom>
          <a:solidFill>
            <a:srgbClr val="F1F5F9"/>
          </a:solidFill>
          <a:ln/>
        </p:spPr>
      </p:sp>
      <p:sp>
        <p:nvSpPr>
          <p:cNvPr id="29" name="Text 27"/>
          <p:cNvSpPr/>
          <p:nvPr/>
        </p:nvSpPr>
        <p:spPr>
          <a:xfrm>
            <a:off x="6583680" y="3474720"/>
            <a:ext cx="36576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3.</a:t>
            </a:r>
            <a:endParaRPr lang="en-US" sz="1400" dirty="0"/>
          </a:p>
        </p:txBody>
      </p:sp>
      <p:sp>
        <p:nvSpPr>
          <p:cNvPr id="30" name="Text 28"/>
          <p:cNvSpPr/>
          <p:nvPr/>
        </p:nvSpPr>
        <p:spPr>
          <a:xfrm>
            <a:off x="6903720" y="3474720"/>
            <a:ext cx="4480560" cy="53035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Token cost tracking per submission</a:t>
            </a:r>
            <a:endParaRPr lang="en-US" sz="1400" dirty="0"/>
          </a:p>
        </p:txBody>
      </p:sp>
      <p:sp>
        <p:nvSpPr>
          <p:cNvPr id="31" name="Shape 29"/>
          <p:cNvSpPr/>
          <p:nvPr/>
        </p:nvSpPr>
        <p:spPr>
          <a:xfrm>
            <a:off x="6492240" y="4160520"/>
            <a:ext cx="5029200" cy="530352"/>
          </a:xfrm>
          <a:prstGeom prst="roundRect">
            <a:avLst>
              <a:gd name="adj" fmla="val 10345"/>
            </a:avLst>
          </a:prstGeom>
          <a:solidFill>
            <a:srgbClr val="F1F5F9"/>
          </a:solidFill>
          <a:ln/>
        </p:spPr>
      </p:sp>
      <p:sp>
        <p:nvSpPr>
          <p:cNvPr id="32" name="Text 30"/>
          <p:cNvSpPr/>
          <p:nvPr/>
        </p:nvSpPr>
        <p:spPr>
          <a:xfrm>
            <a:off x="6583680" y="4160520"/>
            <a:ext cx="36576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4.</a:t>
            </a:r>
            <a:endParaRPr lang="en-US" sz="1400" dirty="0"/>
          </a:p>
        </p:txBody>
      </p:sp>
      <p:sp>
        <p:nvSpPr>
          <p:cNvPr id="33" name="Text 31"/>
          <p:cNvSpPr/>
          <p:nvPr/>
        </p:nvSpPr>
        <p:spPr>
          <a:xfrm>
            <a:off x="6903720" y="4160520"/>
            <a:ext cx="4480560" cy="53035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Stale submission cleanup workflow</a:t>
            </a:r>
            <a:endParaRPr lang="en-US" sz="1400" dirty="0"/>
          </a:p>
        </p:txBody>
      </p:sp>
      <p:sp>
        <p:nvSpPr>
          <p:cNvPr id="34" name="Shape 32"/>
          <p:cNvSpPr/>
          <p:nvPr/>
        </p:nvSpPr>
        <p:spPr>
          <a:xfrm>
            <a:off x="6492240" y="4846320"/>
            <a:ext cx="5029200" cy="530352"/>
          </a:xfrm>
          <a:prstGeom prst="roundRect">
            <a:avLst>
              <a:gd name="adj" fmla="val 10345"/>
            </a:avLst>
          </a:prstGeom>
          <a:solidFill>
            <a:srgbClr val="F1F5F9"/>
          </a:solidFill>
          <a:ln/>
        </p:spPr>
      </p:sp>
      <p:sp>
        <p:nvSpPr>
          <p:cNvPr id="35" name="Text 33"/>
          <p:cNvSpPr/>
          <p:nvPr/>
        </p:nvSpPr>
        <p:spPr>
          <a:xfrm>
            <a:off x="6583680" y="4846320"/>
            <a:ext cx="36576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5.</a:t>
            </a:r>
            <a:endParaRPr lang="en-US" sz="1400" dirty="0"/>
          </a:p>
        </p:txBody>
      </p:sp>
      <p:sp>
        <p:nvSpPr>
          <p:cNvPr id="36" name="Text 34"/>
          <p:cNvSpPr/>
          <p:nvPr/>
        </p:nvSpPr>
        <p:spPr>
          <a:xfrm>
            <a:off x="6903720" y="4846320"/>
            <a:ext cx="4480560" cy="53035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Content versioning and history</a:t>
            </a:r>
            <a:endParaRPr lang="en-US" sz="1400" dirty="0"/>
          </a:p>
        </p:txBody>
      </p:sp>
      <p:sp>
        <p:nvSpPr>
          <p:cNvPr id="37" name="Shape 35"/>
          <p:cNvSpPr/>
          <p:nvPr/>
        </p:nvSpPr>
        <p:spPr>
          <a:xfrm>
            <a:off x="2286000" y="5669280"/>
            <a:ext cx="7589520" cy="502920"/>
          </a:xfrm>
          <a:prstGeom prst="roundRect">
            <a:avLst>
              <a:gd name="adj" fmla="val 18182"/>
            </a:avLst>
          </a:prstGeom>
          <a:solidFill>
            <a:srgbClr val="1E3A5F"/>
          </a:solidFill>
          <a:ln/>
        </p:spPr>
      </p:sp>
      <p:sp>
        <p:nvSpPr>
          <p:cNvPr id="38" name="Text 36"/>
          <p:cNvSpPr/>
          <p:nvPr/>
        </p:nvSpPr>
        <p:spPr>
          <a:xfrm>
            <a:off x="2286000" y="5669280"/>
            <a:ext cx="75895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Fetemi Marketing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Generation &amp; Publishing Automation — Project Demo</dc:title>
  <dc:subject>Content Generation &amp; Publishing Automation</dc:subject>
  <dc:creator>Oluwademilade Bickersteth</dc:creator>
  <cp:lastModifiedBy>Oluwademilade Bickersteth</cp:lastModifiedBy>
  <cp:revision>1</cp:revision>
  <dcterms:created xsi:type="dcterms:W3CDTF">2026-03-25T16:52:44Z</dcterms:created>
  <dcterms:modified xsi:type="dcterms:W3CDTF">2026-03-25T16:52:44Z</dcterms:modified>
</cp:coreProperties>
</file>